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45"/>
  </p:notesMasterIdLst>
  <p:sldIdLst>
    <p:sldId id="260" r:id="rId3"/>
    <p:sldId id="301" r:id="rId4"/>
    <p:sldId id="300" r:id="rId5"/>
    <p:sldId id="299" r:id="rId6"/>
    <p:sldId id="298" r:id="rId7"/>
    <p:sldId id="297" r:id="rId8"/>
    <p:sldId id="296" r:id="rId9"/>
    <p:sldId id="295" r:id="rId10"/>
    <p:sldId id="294" r:id="rId11"/>
    <p:sldId id="293" r:id="rId12"/>
    <p:sldId id="292" r:id="rId13"/>
    <p:sldId id="291" r:id="rId14"/>
    <p:sldId id="290" r:id="rId15"/>
    <p:sldId id="289" r:id="rId16"/>
    <p:sldId id="288" r:id="rId17"/>
    <p:sldId id="287" r:id="rId18"/>
    <p:sldId id="286" r:id="rId19"/>
    <p:sldId id="285" r:id="rId20"/>
    <p:sldId id="284" r:id="rId21"/>
    <p:sldId id="283" r:id="rId22"/>
    <p:sldId id="282" r:id="rId23"/>
    <p:sldId id="281" r:id="rId24"/>
    <p:sldId id="280" r:id="rId25"/>
    <p:sldId id="279" r:id="rId26"/>
    <p:sldId id="278" r:id="rId27"/>
    <p:sldId id="277" r:id="rId28"/>
    <p:sldId id="276" r:id="rId29"/>
    <p:sldId id="275" r:id="rId30"/>
    <p:sldId id="274" r:id="rId31"/>
    <p:sldId id="273" r:id="rId32"/>
    <p:sldId id="272" r:id="rId33"/>
    <p:sldId id="271" r:id="rId34"/>
    <p:sldId id="270" r:id="rId35"/>
    <p:sldId id="269" r:id="rId36"/>
    <p:sldId id="268" r:id="rId37"/>
    <p:sldId id="267" r:id="rId38"/>
    <p:sldId id="266" r:id="rId39"/>
    <p:sldId id="265" r:id="rId40"/>
    <p:sldId id="264" r:id="rId41"/>
    <p:sldId id="263" r:id="rId42"/>
    <p:sldId id="262" r:id="rId43"/>
    <p:sldId id="261" r:id="rId44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9DF9B3-6412-4E31-8552-484B002CBD8A}" type="datetimeFigureOut">
              <a:rPr lang="ru-KZ" smtClean="0"/>
              <a:t>19.09.2026</a:t>
            </a:fld>
            <a:endParaRPr lang="ru-K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K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4039AB-0A4E-4B05-9804-873271B735C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91300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039AB-0A4E-4B05-9804-873271B735C2}" type="slidenum">
              <a:rPr lang="ru-KZ" smtClean="0"/>
              <a:t>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2283508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039AB-0A4E-4B05-9804-873271B735C2}" type="slidenum">
              <a:rPr lang="ru-KZ" smtClean="0"/>
              <a:t>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4752394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Сварщик.ppt</a:t>
            </a:r>
          </a:p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039AB-0A4E-4B05-9804-873271B735C2}" type="slidenum">
              <a:rPr lang="ru-KZ" smtClean="0"/>
              <a:t>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7084113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039AB-0A4E-4B05-9804-873271B735C2}" type="slidenum">
              <a:rPr lang="ru-KZ" smtClean="0"/>
              <a:t>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0568596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039AB-0A4E-4B05-9804-873271B735C2}" type="slidenum">
              <a:rPr lang="ru-KZ" smtClean="0"/>
              <a:t>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3898538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039AB-0A4E-4B05-9804-873271B735C2}" type="slidenum">
              <a:rPr lang="ru-KZ" smtClean="0"/>
              <a:t>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4135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039AB-0A4E-4B05-9804-873271B735C2}" type="slidenum">
              <a:rPr lang="ru-KZ" smtClean="0"/>
              <a:t>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8367861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039AB-0A4E-4B05-9804-873271B735C2}" type="slidenum">
              <a:rPr lang="ru-KZ" smtClean="0"/>
              <a:t>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6131970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039AB-0A4E-4B05-9804-873271B735C2}" type="slidenum">
              <a:rPr lang="ru-KZ" smtClean="0"/>
              <a:t>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5737993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Сварщик.ppt</a:t>
            </a:r>
          </a:p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039AB-0A4E-4B05-9804-873271B735C2}" type="slidenum">
              <a:rPr lang="ru-KZ" smtClean="0"/>
              <a:t>10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8084439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039AB-0A4E-4B05-9804-873271B735C2}" type="slidenum">
              <a:rPr lang="ru-KZ" smtClean="0"/>
              <a:t>11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8637222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039AB-0A4E-4B05-9804-873271B735C2}" type="slidenum">
              <a:rPr lang="ru-KZ" smtClean="0"/>
              <a:t>12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2091622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</a:p>
          <a:p>
            <a:r>
              <a:rPr lang="en-US"/>
              <a:t>https://old.adilet.zan.kz/rus/docs/V2200026867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039AB-0A4E-4B05-9804-873271B735C2}" type="slidenum">
              <a:rPr lang="ru-KZ" smtClean="0"/>
              <a:t>13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8038767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</a:p>
          <a:p>
            <a:r>
              <a:rPr lang="en-US"/>
              <a:t>https://old.adilet.zan.kz/rus/docs/V2200026867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039AB-0A4E-4B05-9804-873271B735C2}" type="slidenum">
              <a:rPr lang="ru-KZ" smtClean="0"/>
              <a:t>14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8498403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039AB-0A4E-4B05-9804-873271B735C2}" type="slidenum">
              <a:rPr lang="ru-KZ" smtClean="0"/>
              <a:t>15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6575149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039AB-0A4E-4B05-9804-873271B735C2}" type="slidenum">
              <a:rPr lang="ru-KZ" smtClean="0"/>
              <a:t>16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1186795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039AB-0A4E-4B05-9804-873271B735C2}" type="slidenum">
              <a:rPr lang="ru-KZ" smtClean="0"/>
              <a:t>17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2848211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039AB-0A4E-4B05-9804-873271B735C2}" type="slidenum">
              <a:rPr lang="ru-KZ" smtClean="0"/>
              <a:t>18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7467736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039AB-0A4E-4B05-9804-873271B735C2}" type="slidenum">
              <a:rPr lang="ru-KZ" smtClean="0"/>
              <a:t>19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0276079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039AB-0A4E-4B05-9804-873271B735C2}" type="slidenum">
              <a:rPr lang="ru-KZ" smtClean="0"/>
              <a:t>20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0828481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</a:p>
          <a:p>
            <a:r>
              <a:rPr lang="en-US"/>
              <a:t>https://old.adilet.zan.kz/rus/docs/V1500010889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039AB-0A4E-4B05-9804-873271B735C2}" type="slidenum">
              <a:rPr lang="ru-KZ" smtClean="0"/>
              <a:t>21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0578229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039AB-0A4E-4B05-9804-873271B735C2}" type="slidenum">
              <a:rPr lang="ru-KZ" smtClean="0"/>
              <a:t>22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0707850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</a:p>
          <a:p>
            <a:r>
              <a:rPr lang="en-US"/>
              <a:t>https://old.adilet.zan.kz/rus/docs/V2200026867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039AB-0A4E-4B05-9804-873271B735C2}" type="slidenum">
              <a:rPr lang="ru-KZ" smtClean="0"/>
              <a:t>23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9909360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039AB-0A4E-4B05-9804-873271B735C2}" type="slidenum">
              <a:rPr lang="ru-KZ" smtClean="0"/>
              <a:t>24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7130530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Сварщик.ppt</a:t>
            </a:r>
          </a:p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039AB-0A4E-4B05-9804-873271B735C2}" type="slidenum">
              <a:rPr lang="ru-KZ" smtClean="0"/>
              <a:t>25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26644872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Сварщик.ppt</a:t>
            </a:r>
          </a:p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039AB-0A4E-4B05-9804-873271B735C2}" type="slidenum">
              <a:rPr lang="ru-KZ" smtClean="0"/>
              <a:t>26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483939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039AB-0A4E-4B05-9804-873271B735C2}" type="slidenum">
              <a:rPr lang="ru-KZ" smtClean="0"/>
              <a:t>27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59386458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039AB-0A4E-4B05-9804-873271B735C2}" type="slidenum">
              <a:rPr lang="ru-KZ" smtClean="0"/>
              <a:t>28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7023358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039AB-0A4E-4B05-9804-873271B735C2}" type="slidenum">
              <a:rPr lang="ru-KZ" smtClean="0"/>
              <a:t>29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5395588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</a:p>
          <a:p>
            <a:r>
              <a:rPr lang="en-US"/>
              <a:t>https://old.adilet.zan.kz/rus/docs/V2200026867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039AB-0A4E-4B05-9804-873271B735C2}" type="slidenum">
              <a:rPr lang="ru-KZ" smtClean="0"/>
              <a:t>30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7856052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039AB-0A4E-4B05-9804-873271B735C2}" type="slidenum">
              <a:rPr lang="ru-KZ" smtClean="0"/>
              <a:t>31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8619258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039AB-0A4E-4B05-9804-873271B735C2}" type="slidenum">
              <a:rPr lang="ru-KZ" smtClean="0"/>
              <a:t>32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84655563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Сварщик.ppt</a:t>
            </a:r>
          </a:p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039AB-0A4E-4B05-9804-873271B735C2}" type="slidenum">
              <a:rPr lang="ru-KZ" smtClean="0"/>
              <a:t>33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83714934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039AB-0A4E-4B05-9804-873271B735C2}" type="slidenum">
              <a:rPr lang="ru-KZ" smtClean="0"/>
              <a:t>34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48096681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Сварщик.ppt</a:t>
            </a:r>
          </a:p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039AB-0A4E-4B05-9804-873271B735C2}" type="slidenum">
              <a:rPr lang="ru-KZ" smtClean="0"/>
              <a:t>35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17553962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Сварщик.ppt</a:t>
            </a:r>
          </a:p>
          <a:p>
            <a:r>
              <a:rPr lang="ru-RU"/>
              <a:t>Презентация вебинара Грузоподъемные механизмы Ким.pptx</a:t>
            </a:r>
          </a:p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039AB-0A4E-4B05-9804-873271B735C2}" type="slidenum">
              <a:rPr lang="ru-KZ" smtClean="0"/>
              <a:t>36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16405965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</a:p>
          <a:p>
            <a:r>
              <a:rPr lang="en-US"/>
              <a:t>https://old.adilet.zan.kz/rus/docs/V2200026867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039AB-0A4E-4B05-9804-873271B735C2}" type="slidenum">
              <a:rPr lang="ru-KZ" smtClean="0"/>
              <a:t>37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58569939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039AB-0A4E-4B05-9804-873271B735C2}" type="slidenum">
              <a:rPr lang="ru-KZ" smtClean="0"/>
              <a:t>38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07903878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</a:p>
          <a:p>
            <a:r>
              <a:rPr lang="en-US"/>
              <a:t>https://old.adilet.zan.kz/rus/docs/V2200026867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039AB-0A4E-4B05-9804-873271B735C2}" type="slidenum">
              <a:rPr lang="ru-KZ" smtClean="0"/>
              <a:t>39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16282013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Сварщик.ppt</a:t>
            </a:r>
          </a:p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039AB-0A4E-4B05-9804-873271B735C2}" type="slidenum">
              <a:rPr lang="ru-KZ" smtClean="0"/>
              <a:t>40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96419556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039AB-0A4E-4B05-9804-873271B735C2}" type="slidenum">
              <a:rPr lang="ru-KZ" smtClean="0"/>
              <a:t>41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56327222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039AB-0A4E-4B05-9804-873271B735C2}" type="slidenum">
              <a:rPr lang="ru-KZ" smtClean="0"/>
              <a:t>42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589291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Work Safety — базов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Work Safety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Дәнекерлеуші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 процестері және қауіпсіз жұмыс орнын ұйымдастыру.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Қосылысты дайындау, жабдық, қорғаныс және нәтижені бақылау.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Қазақстан Республикасында жұмыс істеуге арналған бағдарлама.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Курс біліктілік разрядын автоматты түрде бермейді.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Дәнекерлеуші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282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Оқу мазмұны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Доғалық дәнекерлеу, газжалынмен өңдеу және жабдық қаралады.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Электр, газ және өрт қауіптеріне жеке бөлімдер арналған.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Практикалық жағдайлар дайындықты, жұмысты және аяқтауды байланыстырады.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Нақты параметрлерді технологиялық құжаттама белгілейді.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Дәнекерлеуші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120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Дәнекерленген қосылыстың мақсаты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 материалдардың ажырамайтын қосылысын жасайды.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Қажетті қасиеттер материалға, құрылымға және пайдалану жағдайына байланысты.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Жіктің сыртқы көрінісі барлық ішкі қасиетті растамайды.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Қабылдау нақты бұйым талаптарына сәйкес жүргізіледі.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Құрылым қауіпсіздігі қосылыс сапасына байланысты.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Дәнекерлеуші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2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Негізгі процестер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Доғалық дәнекерлеуде жылуды электр доғасы береді.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Газбен дәнекерлеуде жанғыш газ бен оттегі жалыны қолданылады.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 ваннасын қорғау процеске байланысты.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Тәсіл материал, қалыңдық және технология бойынша таңдалады.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Бір режим барлық процеске жарамайды.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Дәнекерлеуші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749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Қолмен доғалық дәнекерлеу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Балқитын электрод жік металын қалыптастыруға қатысады.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Электрод қаптамасы процестің қорғанысын қамтамасыз етеді.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Марка, диаметр және режим технология бойынша таңдалады.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Электрод күйі қосылыс сапасына әсер етеді.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Ылғал не сәйкес емес материал ауыстырылуы тиіс.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Дәнекерлеуші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331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Қорғаныш газдағы дәнекерлеу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Процеске қарай сым немесе балқымайтын электрод қолданылады.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Газ ваннаны қоршаған атмосферадан қорғайды.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Газ берудің бұзылуы сапаны нашарлатуы мүмкін.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Газ бен шығын технология және жабдық бойынша таңдалады.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Қорғаныш газ жұмыс аймағынан оттегіні ығыстыруы мүмкін.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Дәнекерлеуші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06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92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Газбен дәнекерлеу және кесу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Жанарғы не кескіш қолданылатын газға сәйкес болуы тиіс.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Газбен дәнекерлеу мен оттегімен кесудің міндеттері әртүрлі.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Режим мен жиынтық материал және өндіруші нұсқаулығымен анықталады.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Жағу мен тоқтату ретін нақты жабдық нұсқаулығынан алады.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Барлық жанарғыға ортақ қысым жоқ.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Дәнекерлеуші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07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856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Тапсырма құжаттамасы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Жұмысқа дейін сызба және қосылыс талаптары қаралады.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Материал, жиек дайындау және жік қалпы нақтыланады.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Технология, режим және бақылау тәртібі тексеріледі.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Түсініксіз талап дәнекерлеуге дейін анықталады.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Ауызша болжам технологияны алмастырмайды.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Дәнекерлеуші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08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979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Бөлшектерді дайындау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Беттер технология талаптарына сай тазартылады.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Сапаны төмендететін немесе зиянды бөлінді тудыратын ластану жойылады.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Жиек пішіні мен саңылау тексеріледі.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Бөлшектер орнықты, қауіпсіз қолжетімді күйде бекітіледі.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Белгісіз жабын қыздыруға дейін бағаланады.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Дәнекерлеуші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09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105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Жинау және ұстатпа жіктер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Бөлшектердің өзара орны сызбамен тексеріледі.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Ұстатпа жіктер материал мен технология талаптарына сай орындалады.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Құрылғылар бөлшектердің қауіпті жылжуына жол бермейді.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Жол берілмейтін ұстатпа ақауы белгіленген тәсілмен жойылады.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Ұстатпа жік те қосылыс сапасына әсер етеді.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Дәнекерлеуші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10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090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Режим және реттілік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Ток, кернеу және жылдамдық технология бойынша таңдалады.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Бөлшек қалпы, қалыңдығы және жылулық күйі ескеріледі.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Режим өзгерісі негізделуі тиіс.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Өту реттілігі пішін мен деформацияны басқаруға көмектеседі.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Жауапты құрылым үшін кездейсоқ режим қауіпті.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Дәнекерлеуші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11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755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 тогының көздері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Трансформатор, түзеткіш және инвертор сипаттамалары әртүрлі.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Қорек пен рұқсат етілген жүктеме паспортпен салыстырылады.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Салқындату мен жұмыс циклі нұсқаулыққа сай сақталады.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Қызып кету немесе ақау кезінде жұмыс тоқтайды.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Шағын аппарат та дұрыс қосылуы тиіс.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Дәнекерлеуші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12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949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Кабель және электрод ұстағыш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Оқшаулау, қосылыстар және электрод бекітуі тексеріледі.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Кабель қызудан, кесілу мен көлік әсерінен қорғалады.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Ұстағыш кездейсоқ тұйықталмайтындай орналастырылады.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Ақаулы бөлшектер қолданыстан алынады.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Зақымданған оқшаулау қосуға дейін жөнделеді.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Дәнекерлеуші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13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51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Кері өткізгіш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Ток көзделген дәнекерлеу тізбегімен қайтуы тиіс.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Бұйыммен сенімді электр байланысы қамтамасыз етіледі.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Кездейсоқ құбыр мен құрылымды өткізгіш орнына қолданбайды.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Жарылыс-өрт қаупінде оқшаулауға арнайы талаптар ескеріледі.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 тізбегі мен жерге тұйықтаудың міндеттері бөлек.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Дәнекерлеуші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14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336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Тұрақты және уақытша пост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Тұрақты пост қайталанатын операцияларға жабдықталады.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Уақытша постта нақты орын жағдайы бағаланады.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Өтпелер, жарық және жабдық орналасуы қауіпсіз болуы тиіс.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Іргелес жұмыстар басталғанға дейін келісіледі.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Аппаратты көшіру жаңа жұмыс орнын жасайды.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Дәнекерлеуші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15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801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Дәнекерлеудің негізгі қауіптері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Доға сәуле шығарады және ток соғу қаупін тудырады.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Ұшқын мен ыстық металл күйікке және өртке әкеледі.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Түтін мен газ тыныс алуға әсер етеді.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Бөлшек қозғалысы, шу және қолайсыз қалып қосымша тәуекел тудырады.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Қорғаныс барлық қауіпке қарай таңдалады.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Дәнекерлеуші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16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206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Көз бен бетті қорғау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Қалқан не маска процесс пен режимге сай таңдалады.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Жарық сүзгісі қажетті қорғанысты қамтамасыз етуі тиіс.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Бүтіндігі, бекітілуі және жұмысы тексеріледі.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Тазалау кезінде ұшатын бөлшектерден қорғаныс қолданылады.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Жай көзілдірік дәнекерлеу сүзгісін алмастырмайды.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Дәнекерлеуші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17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6987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Киім және қолды қорғау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Киім ұшқын мен ыстық бөлшектерден қорғауы тиіс.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Дәнекерлеуге арналған қолғап құрғақ сақталады.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Ашық тері мен ұшқын жиналатын қалталарға жол берілмейді.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Аяқкиім мен киім ыстық металдың ішке түсуін тежейді.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Жанғыш затпен ластанған киім жарамсыз.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Дәнекерлеуші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18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9429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Айналадағы адамдарды қорғау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 аймағы көзделген экрандармен бөлінеді.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Қорғаныссыз адамдардың доғаға тікелей қарауына жол берілмейді.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Ұшқын мен бөлшектердің түсу бағыты тексеріледі.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Өтетін жолдар бос әрі түсінікті сақталады.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Доға қаупі пост шегінен тыс таралады.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Дәнекерлеуші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19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0964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Түтін және желдету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Ластануды көзге барынша жақын жерден әкетеді.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Жалпы алмасу желдетуі жергілікті соруды толықтырады.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Бөлінді құрамы металлға, жабынға және материалдарға байланысты.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Респиратор тәуекелге сай таңдалады және желдетуді алмастырмайды.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Қатты иістің жоқтығы ауаның тазалығын дәлелдемейді.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Дәнекерлеуші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20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9272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Дәнекерлеушінің электр қауіпсіздігі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Аппаратты уәкілетті персонал белгіленген тәсілмен қосады.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Жұмысқа дейін қорғаныс қосылыстары мен кабельдер тексеріледі.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Зақымданған жабдықпен және қауіпті ылғалда жұмыс істемейді.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Жөндеу мен ауыстырып қосу жеке рұқсат шегінде орындалады.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Нақты операцияға өкілеттік қажет.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Дәнекерлеуші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21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115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Ауысым алдындағы тексеру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Тапсырма, құжат және рұқсат нақтыланады.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Аппарат, кабельдер, жабдықтау және қорғаныс қаралады.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Желдету, экрандар және өрт шаралары тексеріледі.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Кемшілік дәнекерлеуге дейін жойылады.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Тексеру бүгінгі орын мен тапсырмаға қатысты.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Дәнекерлеуші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22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1423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От жұмыстарына дайындық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Уақытша от жұмыстарына көзделген рұқсат рәсімделеді.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Жанғыш материалдар алынады не қорғалады.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Ойықтар мен іргелес кеңістіктер тексеріледі.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Сөндіру құралдары мен бақылау қамтамасыз етіледі.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Ұшқын көрінбейтін жерде бықсу тудыруы мүмкін.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Дәнекерлеуші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23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2288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Оттегі және жанғыш газдар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Оттегі жануды қолдап, өрт қаупін күшейтеді.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Жанғыш газ ауамен қауіпті қоспа түзуі мүмкін.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Оттегі арматурасы майдан қорғалады.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Киімді үрлеуге не желдетуге оттегі қолданылмайды.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Әр газға үйлесімді жабдық қажет.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Дәнекерлеуші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24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2336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Баллонды сәйкестендіру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Газ таңбалау мен құжат бойынша анықталады.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Корпус, вентиль және куәландыру мәліметтері тексеріледі.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Тиесілігі күмәнді немесе ақаулы баллон қолданылмайды.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Тек түсіне қарап қосуға болмайды.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Газға күмән болса, қосуға тыйым салынады.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Дәнекерлеуші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25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1056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Баллонды орналастыру және тасу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Баллон құлаудан бекітіліп, қызудан қорғалады.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Арнайы тасымалдау құралдары қолданылады.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Вентильден көтеруге және соғуға болмайды.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Арақашықтық пен бірге орналастыру талаптармен анықталады.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Вентиль зақымы күрт шығарындыларға әкелуі мүмкін.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Дәнекерлеуші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26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8870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Редуктор және манометр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Редуктор газ бен қысым ауқымына сай таңдалады.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Қосылыстар қолдан жасалған ауыстырғышсыз сәйкес болуы тиіс.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Манометр жарамдылығы және зақымдардың жоқтығы тексеріледі.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Жұмыс қысымы жанарғы не кескіш нұсқаулығымен белгіленеді.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Өзге мысалдағы сан баптау мәні емес.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Дәнекерлеуші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27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3270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Шлангілер және қосылыстар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Шлангілер газ бен жұмыс жағдайына сай болады.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Оларды бүгілу, ұшқын және зақымнан қорғайды.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Қосылыстар көзделген бекіткішпен орындалады.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Ағу ашық отсыз рұқсат етілген тәсілмен тексеріледі.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Иіс не ағуға күмән жұмысты тоқтатуды талап етеді.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Дәнекерлеуші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28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5759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Кері жалын соққысы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Кері соққы жалынды газ жүйесіне қарай таратады.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Көзделген клапандар мен жалын бөгегіштер тәуекелді азайтады.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Тарсыл, қызу не тұрақсыздық кезінде нұсқаулықпен тоқтатады.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Себеп анықталып, жойылғаннан кейін қайта іске қосады.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Қорғаныс бүкіл жиынтықтың жарамдылығын алмастырмайды.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Дәнекерлеуші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29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2641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Ыдысты дәнекерлеу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Қыздыруға дейін ыдыста не болғанын анықтайды.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Қалдықтарды жойып, коммуникацияларды рәсіммен оқшаулайды.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Атмосфераны тексеріп, жұмысқа жіберу шараларын орындайды.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Жабық не белгісіз ыдысты өз бетінше дәнекерлемейді.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Бос көрінген ыдыста жанғыш бу болуы мүмкін.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Дәнекерлеуші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30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056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Тұйық кеңістік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Кіруге орынды арнайы дайындау және рұқсат қажет.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Атмосфера бақылауы, желдету, байланыс және бақылаушы ұйымдастырылады.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Алдын ала құтқару мүмкіндігі көзделеді.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Жағдай өзгерсе, жұмыс тоқтатылып, сыртқа шығады.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Қорғаныш газ оттегі тапшылығын тудыруы мүмкін.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Дәнекерлеуші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31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0378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Биіктіктегі жұмыс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Қауіпсіз алаң мен құлаудан қорғаныс қолданылады.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Бекіту нүктесі белгіленген жүйеге сай таңдалады.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Сақтандыру элементтері ұшқын мен ыстық металдан қорғалады.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Төменгі аймақ құлайтын заттардан қоршалады.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Құрылыс мінбесінің кез келген элементі бекіту нүктесі болып саналмайды.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Дәнекерлеуші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32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9878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Бөлшектермен жұмыс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Масса мен жылжыту тәсілі алдын ала анықталады.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Сәйкес көтеру құралдары және орнықты тіректер қолданылады.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Қол ықтимал қысылу аймағына қойылмайды.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Ыстық бөлшектер белгіленіп, қауіпсіз қойылады.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Металл көрінісі температурасын әрдайым көрсетпейді.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Дәнекерлеуші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33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5459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Жікті орындау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Режим мен реттілік технологияға сай сақталады.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Процесс тұрақтылығы мен жабдық күйі бақыланады.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Өтулер арасында көзделген тазалау орындалады.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Ақау не қорғаныс жоғалса, дәнекерлеу жалғаспайды.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Жағдай ақауын жік ақауына дейін тоқтату керек.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Дәнекерлеуші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34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1732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Қосылыстың сыртқы ақаулары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Жарық, ойық, металдың артық қабаттасуы және толмаған кратер бағаланады.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Жік өлшемі мен пішіні құжатқа сәйкес болуы тиіс.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Кеуектілік пен толық балқымаудың себептері әртүрлі.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Жарамдылық жеке әсермен емес, талаппен анықталады.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Тазалау ішкі ақаудың жойылғанын дәлелдемейді.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Дәнекерлеуші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35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4784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Бақылау және түзету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Көзбен бақылау көзделген әдістермен толықтырылады.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Нәтиже нақты қосылысқа тіркеледі.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Түзету келісілген технологиямен орындалады.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Қайта бақылау жөндеу нәтижесін растайды.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Өз бетінше түзету себепті жасыруы мүмкін.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Дәнекерлеуші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36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3219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Үзіліс және аяқтау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Жабдық пен газ жүйесі нұсқаулықпен тоқтатылады.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Кездейсоқ қосылу және ағу болдырылмайды.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Орын мен іргелес аймақтар бықсуға тексеріледі.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Аяқтау рәсімделіп, көзделген өрт бақылауы жалғасады.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Салқындау мен жасырын бықсу кейін де назар талап етеді.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Дәнекерлеуші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37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9184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Ақау немесе ағу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Жұмыс тоқтатылып, қауіпсіз тоқтату орындалады.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Адамдар ескертіліп, жауаптыға хабарланады.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Ағу отпен ізделмейді және қысымда жөнделмейді.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Себеп жойылғаны расталған соң жұмыс жалғасады.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Қайталанатын тарсыл қалыпты режим емес.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Дәнекерлеуші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38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5782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Өрт және авариялық хабарлау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Нақты орын мен қауіп сипаты хабарланады.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Көмек белгіленген тәртіппен, қажет болса 112 не 101 арқылы шақырылады.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Қауіпсіз шығу жолы сақталады.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Сөндіру қауіпсіз жағдайда және даярлық болғанда ғана орындалады.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Өрт таралу қаупінде эвакуация басым.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Дәнекерлеуші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39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3418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Алғашқы көмек және қауіпсіздік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Алдымен өзіне қауіп төндірмей қауіпті әсер тоқтатылады.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Жедел көмек шақырылып, даярлық шегінде әрекет етіледі.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Ток әсері қауіпсіз жойылмайынша адамға тимейді.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Құтқару үшін қауіпті атмосфераға қорғаныссыз кірмейді.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Көмек көрсету жағдайы қауіпсіз болуы тиіс.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Дәнекерлеуші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40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258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Жағдай: белгісіз ыдыс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Қолданылған ыдысқа бекіткіш дәнекерлеу тапсырылды.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Бұрынғы құрамы туралы мәлімет жоқ.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Сәйкестендіру, дайындық және рұқсатқа дейін жұмыс тоқтайды.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Сыртқы тазалық қауіпті қалдықтың жоқтығын растамайды.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Қыздыру қауіпсіздік расталған соң басталады.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Дәнекерлеуші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41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4919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Қорытынды білім тексеру</a:t>
            </a:r>
            <a:endParaRPr sz="3600" b="1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Технология материалды, дайындықты және режимді анықтайды.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Жабдық пен қорғаныс жұмысқа дейін тексеріледі.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Ақау, ағу және жағдай өзгерісі тоқтатуды талап етеді.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/>
              </a:rPr>
              <a:t>«Тестті бастау» түймесін басыңыз.</a:t>
            </a:r>
            <a:endParaRPr sz="2025">
              <a:solidFill>
                <a:srgbClr val="202020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 panose="020B0604020202020204" pitchFamily="34" charset="0"/>
                <a:ea typeface="Arial"/>
                <a:cs typeface="Arial"/>
              </a:rPr>
              <a:t>Қауіпсіз аяқтау әр тапсырмаға кіреді.</a:t>
            </a:r>
            <a:endParaRPr sz="1950" b="1">
              <a:solidFill>
                <a:srgbClr val="009846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 panose="020B0604020202020204" pitchFamily="34" charset="0"/>
                <a:ea typeface="Arial"/>
                <a:cs typeface="Arial"/>
              </a:rPr>
              <a:t>Дәнекерлеуші</a:t>
            </a:r>
            <a:endParaRPr sz="1050">
              <a:solidFill>
                <a:srgbClr val="5D625F"/>
              </a:solidFill>
              <a:latin typeface="Arial" panose="020B0604020202020204" pitchFamily="34" charset="0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42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86561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2090</Words>
  <Application>Microsoft Office PowerPoint</Application>
  <DocSecurity>0</DocSecurity>
  <PresentationFormat>Широкоэкранный</PresentationFormat>
  <Paragraphs>434</Paragraphs>
  <Slides>42</Slides>
  <Notes>42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42</vt:i4>
      </vt:variant>
    </vt:vector>
  </HeadingPairs>
  <TitlesOfParts>
    <vt:vector size="46" baseType="lpstr">
      <vt:lpstr>Aptos</vt:lpstr>
      <vt:lpstr>Arial</vt:lpstr>
      <vt:lpstr>ChatGPT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sick ness</cp:lastModifiedBy>
  <cp:revision>1</cp:revision>
  <dcterms:created xsi:type="dcterms:W3CDTF">2026-08-25T14:17:56Z</dcterms:created>
  <dcterms:modified xsi:type="dcterms:W3CDTF">2026-09-19T10:51:34Z</dcterms:modified>
</cp:coreProperties>
</file>