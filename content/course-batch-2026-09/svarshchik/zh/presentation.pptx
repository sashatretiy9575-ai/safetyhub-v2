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45"/>
  </p:notesMasterIdLst>
  <p:sldIdLst>
    <p:sldId id="260" r:id="rId3"/>
    <p:sldId id="301" r:id="rId4"/>
    <p:sldId id="300" r:id="rId5"/>
    <p:sldId id="299" r:id="rId6"/>
    <p:sldId id="298" r:id="rId7"/>
    <p:sldId id="297" r:id="rId8"/>
    <p:sldId id="296" r:id="rId9"/>
    <p:sldId id="295" r:id="rId10"/>
    <p:sldId id="294" r:id="rId11"/>
    <p:sldId id="293" r:id="rId12"/>
    <p:sldId id="292" r:id="rId13"/>
    <p:sldId id="291" r:id="rId14"/>
    <p:sldId id="290" r:id="rId15"/>
    <p:sldId id="289" r:id="rId16"/>
    <p:sldId id="288" r:id="rId17"/>
    <p:sldId id="287" r:id="rId18"/>
    <p:sldId id="286" r:id="rId19"/>
    <p:sldId id="285" r:id="rId20"/>
    <p:sldId id="284" r:id="rId21"/>
    <p:sldId id="283" r:id="rId22"/>
    <p:sldId id="282" r:id="rId23"/>
    <p:sldId id="281" r:id="rId24"/>
    <p:sldId id="280" r:id="rId25"/>
    <p:sldId id="279" r:id="rId26"/>
    <p:sldId id="278" r:id="rId27"/>
    <p:sldId id="277" r:id="rId28"/>
    <p:sldId id="276" r:id="rId29"/>
    <p:sldId id="275" r:id="rId30"/>
    <p:sldId id="274" r:id="rId31"/>
    <p:sldId id="273" r:id="rId32"/>
    <p:sldId id="272" r:id="rId33"/>
    <p:sldId id="271" r:id="rId34"/>
    <p:sldId id="270" r:id="rId35"/>
    <p:sldId id="269" r:id="rId36"/>
    <p:sldId id="268" r:id="rId37"/>
    <p:sldId id="267" r:id="rId38"/>
    <p:sldId id="266" r:id="rId39"/>
    <p:sldId id="265" r:id="rId40"/>
    <p:sldId id="264" r:id="rId41"/>
    <p:sldId id="263" r:id="rId42"/>
    <p:sldId id="262" r:id="rId43"/>
    <p:sldId id="261" r:id="rId4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52E9C-810F-4AC0-947B-A6C44B556E13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FD178-FAA3-4A5C-AC75-BC989959122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6918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48987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7576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93603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723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40616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58715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08870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41462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33186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23001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890319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41477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341650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3006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84509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34913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29211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62132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47228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5606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6730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29772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46953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42504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156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79269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6704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148307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154912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09950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238029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565253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211227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914376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138603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398175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399472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593936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</a:p>
          <a:p>
            <a:r>
              <a:rPr lang="en-US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856356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358306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104688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Сварщик.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D178-FAA3-4A5C-AC75-BC9899591228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98770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焊接工艺基础与安全工作场所组织。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接头准备、设备、防护和质量检查。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适用于哈萨克斯坦共和国的培训。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本课程不会自动授予技能等级。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培训内容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介绍电弧焊、气焰加工和设备。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分别学习电气、气体和火灾危险。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案例贯穿准备、作业和完工阶段。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具体焊接参数由工艺文件规定。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53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焊接接头的作用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焊接形成材料间的永久连接。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所需性能取决于材料、结构和使用条件。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焊缝外观不能证明全部内部性能。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按具体产品要求验收。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结构安全依赖接头质量。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0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主要工艺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电弧焊使用电弧产生热量。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气焊使用可燃气体与氧气火焰的热量。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熔池保护方式取决于工艺。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根据材料、厚度和技术要求选择方法。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不能把一种参数用于所有工艺。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手工电弧焊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熔化焊条参与形成焊缝金属。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焊条药皮提供规定的工艺保护。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按工艺文件选择牌号、直径和参数。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焊条状态影响接头质量。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受潮或不适用材料应更换。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5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气体保护焊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根据工艺使用焊丝或不熔化电极。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保护气隔离熔池与周围空气。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供气异常可能降低质量。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气体种类及流量按工艺和设备要求选择。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保护气可能排挤作业区氧气。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9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气焊与切割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焊炬或割炬应与所用气体相容。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气焊与氧气切割目的不同。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按材料和制造商说明选择参数及配套件。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按具体设备说明点火和停机。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不存在适合所有焊炬的统一压力。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42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作业文件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开工前阅读图纸及接头要求。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明确材料、坡口准备和焊接位置。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核查工艺、参数及检验程序。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要求不清时先澄清再焊接。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口头猜测不能替代工艺要求。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83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工件准备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按工艺要求清理表面。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清除影响质量或产生有害排放的污染物。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检查坡口形状和间隙。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稳固固定工件并保证安全操作空间。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未知涂层应在加热前评估。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05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装配与定位焊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按图纸检查工件相对位置。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定位焊遵守材料和工艺要求。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夹具防止工件危险位移。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按规定处理不允许的定位焊缺陷。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定位焊也影响接头质量。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6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参数与焊接顺序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按工艺选择电流、电压和速度。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考虑位置、厚度及工件温度状态。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参数调整必须有依据。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焊道顺序有助于控制形状和变形。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关键结构尤其不能随意试调。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4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焊接电源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变压器、整流器和逆变器特性不同。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供电及允许负载应核对设备文件。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按说明书保持冷却和工作周期。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过热或故障时停止使用。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小型焊机同样需要正确接线。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0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电缆与焊钳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检查绝缘、接头和焊条夹持。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保护电缆免受热、割伤和车辆损坏。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放置焊钳时防止意外短路。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故障部件停止使用。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绝缘损坏必须在通电前处理。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5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回流导体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电流应沿规定的焊接回路返回。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与工件保持可靠连接。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不得用任意管道或结构代替回流导体。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爆炸和火灾危险场所还需满足专门绝缘要求。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焊接回路与保护接地功能不同。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30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固定与临时焊接工位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固定工位为重复作业配置设施。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临时工位需要评估本次现场条件。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通道、照明和设备布置应安全。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事先协调邻近作业。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搬移焊机会形成新的工作场所。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43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焊接主要危险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电弧产生辐射和触电风险。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火花及热金属造成灼伤和火灾。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烟尘与气体影响呼吸。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工件移动、噪声和不良姿势带来额外风险。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防护应覆盖本次任务的全部危险。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51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眼面部防护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按工艺和参数选择面罩或头盔。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滤光片应提供足够防护。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检查完整性、固定和功能。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清理时防止飞溅颗粒伤害。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普通眼镜不能代替焊接滤光片。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99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服装与手部防护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服装应防护火花和热颗粒。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使用焊接手套并保持干燥。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避免皮肤裸露及易收集火花的口袋。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鞋靴和服装穿戴应防止热金属进入。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沾染可燃物的服装不适合作业。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6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周围人员防护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使用规定屏障隔离焊接区。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禁止无防护人员直视电弧。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检查火花和颗粒飞落方向。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保持通道畅通、清晰。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电弧危害可能超出工位范围。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41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烟尘与通风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尽可能靠近污染源进行抽排。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全面通风补充局部排风。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排放成分与金属、涂层和耗材有关。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按风险选择呼吸防护，不能代替必要通风。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没有强烈气味不代表空气清洁。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57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焊工电气安全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由授权人员按规定接入焊机。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作业前检查保护连接和电缆。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不使用损坏设备，不在危险潮湿条件下作业。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维修和倒闸必须符合单独授权范围。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需要针对具体操作的权限。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16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班前检查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明确任务、文件和许可。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检查焊机、电缆、工装和防护用品。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检查通风、屏障及防火措施。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在焊接前消除缺陷。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检查针对今天的地点和任务。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54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动火准备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为临时动火办理规定许可。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移除或保护可燃物。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检查孔洞和相邻空间。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准备灭火器材并安排监护。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火花可在视线外造成阴燃。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75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氧气与可燃气体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氧气支持燃烧并增大火灾危险。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可燃气体可与空气形成危险混合物。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氧气阀件不得受油脂污染。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不得用氧气吹扫衣物或通风。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每种气体都需要相容设备。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8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气瓶识别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通过标识和文件确认气体。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检查瓶体、阀门及检验信息。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身份存疑或有缺陷的气瓶不得使用。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不能仅凭颜色决定连接。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内容物存疑时不得连接。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27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气瓶布置与搬运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固定气瓶，防止倒落和受热。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使用专用搬运工具。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不得抓住阀门吊运或撞击气瓶。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间距和共同存放按现行要求确定。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阀门受损可能导致猛烈喷出。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7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减压器与压力表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按气体和压力范围选择减压器。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接头应匹配，禁止自制转换件。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检查压力表完好及无损坏。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按焊炬或割炬说明设置工作压力。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别的示例数值不是本机设定值。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41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软管与接头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软管应适合气体和使用条件。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防止折弯、火花及机械损伤。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使用规定紧固方式连接。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采用获准的无明火方法检漏。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闻到气味或怀疑泄漏时应停工。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68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回火与保护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回火会使火焰向供气系统传播。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规定的止回阀和阻火器降低风险。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出现爆鸣、过热或不稳定时按规程停止。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查明并消除原因后才能重新启动。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保护装置不能替代整套设备的完好状态。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60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容器焊接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加热前查明容器以前盛装何物。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按程序清除残留并隔离连接管线。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检测内部环境，落实许可措施。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不得擅自焊接封闭或情况不明的容器。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看似空的容器可能含可燃蒸气。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62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受限空间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进入前需专门准备现场并获得许可。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安排环境检测、通风、通信和监护。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预先建立可实施的救援方案。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条件改变时停止工作并撤出。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保护气可能造成缺氧。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91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高处作业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使用安全平台和规定的防坠措施。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按批准系统选择锚点，不得随意选取。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保护安全带等部件免受火花及热金属损坏。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隔离下方区域，防止坠物伤人。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任意脚手架杆件不等于合格锚点。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03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工件搬运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预先确认质量和移动方法。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使用适当起重工具及稳固支承。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手不得放在可能夹挤的区域。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标识热工件并安全放置。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金属外观不一定显示其温度。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88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焊缝施焊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按工艺保持参数和顺序。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观察过程稳定性及设备状态。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焊道间执行规定清理。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故障或失去防护时不得继续。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应在条件异常造成缺陷前停工。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02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接头外部缺陷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裂纹、咬边、焊瘤和未填满弧坑需评估。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焊缝尺寸及形状应符合文件。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气孔和未焊透可能有不同原因。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按要求判断可接受性，不能凭个人印象。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打磨不能证明内部缺陷已经消除。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047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检验与返修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目视检查之外还应实施规定检测。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结果须对应具体接头。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按认可工艺返修。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复检确认维修结果。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擅自修补可能掩盖缺陷原因。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66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间断与完工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按说明停止设备和供气系统。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防止意外启动及泄漏。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检查现场和邻近区域是否阴燃。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办理完工并继续规定的防火监护。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冷却及隐蔽阴燃在焊后仍需关注。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42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故障或泄漏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停止作业并安全停机。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警告人员并通知责任人。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不得明火检漏或带压维修。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确认原因已消除后才能恢复。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反复爆鸣不能视为正常现象。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0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火灾与报警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报告准确地点和危险性质。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按程序呼救，必要时拨打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112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或</a:t>
            </a:r>
            <a:r>
              <a:rPr lang="en-US" altLang="zh-CN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101</a:t>
            </a: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保持安全逃生路线。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仅在条件安全且受过训练时灭火。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有蔓延危险时优先疏散。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18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急救与现场安全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先在不危及自身的情况下停止危险作用。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呼叫急救并在培训范围内行动。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触电时，未安全解除电源前不得接触伤员。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不得为救人而无防护进入危险气氛。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救助条件必须安全。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43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案例：情况不明的容器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任务是在旧容器上焊接支架。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没有先前内容物资料。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停止作业，先识别、准备并办理许可。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外部清洁不能证明没有危险残留。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确认安全条件后才能加热。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313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3600" b="1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知识考核准备</a:t>
            </a:r>
            <a:endParaRPr sz="3600" b="1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工艺确定材料、准备和参数。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开工前检查设备及防护措施。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故障、泄漏和条件变化要求停止。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025">
                <a:solidFill>
                  <a:srgbClr val="202020"/>
                </a:solidFill>
                <a:latin typeface="Microsoft YaHei" panose="020B0503020204020204" pitchFamily="34" charset="-122"/>
                <a:ea typeface="Arial"/>
                <a:cs typeface="Arial"/>
              </a:rPr>
              <a:t>点击“开始测试”。</a:t>
            </a:r>
            <a:endParaRPr sz="2025">
              <a:solidFill>
                <a:srgbClr val="202020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950" b="1">
                <a:solidFill>
                  <a:srgbClr val="009846"/>
                </a:solidFill>
                <a:latin typeface="Microsoft YaHei" panose="020B0503020204020204" pitchFamily="34" charset="-122"/>
                <a:ea typeface="Arial"/>
                <a:cs typeface="Arial"/>
              </a:rPr>
              <a:t>安全收工是每项焊接任务的一部分。</a:t>
            </a:r>
            <a:endParaRPr sz="1950" b="1">
              <a:solidFill>
                <a:srgbClr val="009846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ja-JP" altLang="en-US" sz="1050">
                <a:solidFill>
                  <a:srgbClr val="5D625F"/>
                </a:solidFill>
                <a:latin typeface="Microsoft YaHei" panose="020B0503020204020204" pitchFamily="34" charset="-122"/>
                <a:ea typeface="Arial"/>
                <a:cs typeface="Arial"/>
              </a:rPr>
              <a:t>焊工</a:t>
            </a:r>
            <a:endParaRPr sz="1050">
              <a:solidFill>
                <a:srgbClr val="5D625F"/>
              </a:solidFill>
              <a:latin typeface="Microsoft YaHei" panose="020B0503020204020204" pitchFamily="34" charset="-122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148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3497</Words>
  <Application>Microsoft Office PowerPoint</Application>
  <DocSecurity>0</DocSecurity>
  <PresentationFormat>Широкоэкранный</PresentationFormat>
  <Paragraphs>434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42</vt:i4>
      </vt:variant>
    </vt:vector>
  </HeadingPairs>
  <TitlesOfParts>
    <vt:vector size="47" baseType="lpstr">
      <vt:lpstr>Microsoft YaHei</vt:lpstr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2026-09-19T10:49:31Z</dcterms:modified>
</cp:coreProperties>
</file>