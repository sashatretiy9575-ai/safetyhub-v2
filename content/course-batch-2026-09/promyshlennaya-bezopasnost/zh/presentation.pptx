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58"/>
  </p:notesMasterIdLst>
  <p:sldIdLst>
    <p:sldId id="260" r:id="rId3"/>
    <p:sldId id="314" r:id="rId4"/>
    <p:sldId id="313" r:id="rId5"/>
    <p:sldId id="312" r:id="rId6"/>
    <p:sldId id="311" r:id="rId7"/>
    <p:sldId id="310" r:id="rId8"/>
    <p:sldId id="309" r:id="rId9"/>
    <p:sldId id="308" r:id="rId10"/>
    <p:sldId id="307" r:id="rId11"/>
    <p:sldId id="306" r:id="rId12"/>
    <p:sldId id="305" r:id="rId13"/>
    <p:sldId id="304" r:id="rId14"/>
    <p:sldId id="303" r:id="rId15"/>
    <p:sldId id="302" r:id="rId16"/>
    <p:sldId id="301" r:id="rId17"/>
    <p:sldId id="300" r:id="rId18"/>
    <p:sldId id="299" r:id="rId19"/>
    <p:sldId id="298" r:id="rId20"/>
    <p:sldId id="297" r:id="rId21"/>
    <p:sldId id="296" r:id="rId22"/>
    <p:sldId id="295" r:id="rId23"/>
    <p:sldId id="294" r:id="rId24"/>
    <p:sldId id="293" r:id="rId25"/>
    <p:sldId id="292" r:id="rId26"/>
    <p:sldId id="291" r:id="rId27"/>
    <p:sldId id="290" r:id="rId28"/>
    <p:sldId id="289" r:id="rId29"/>
    <p:sldId id="288" r:id="rId30"/>
    <p:sldId id="287" r:id="rId31"/>
    <p:sldId id="286" r:id="rId32"/>
    <p:sldId id="285" r:id="rId33"/>
    <p:sldId id="284" r:id="rId34"/>
    <p:sldId id="283" r:id="rId35"/>
    <p:sldId id="282" r:id="rId36"/>
    <p:sldId id="281" r:id="rId37"/>
    <p:sldId id="280" r:id="rId38"/>
    <p:sldId id="279" r:id="rId39"/>
    <p:sldId id="278" r:id="rId40"/>
    <p:sldId id="277" r:id="rId41"/>
    <p:sldId id="276" r:id="rId42"/>
    <p:sldId id="275" r:id="rId43"/>
    <p:sldId id="274" r:id="rId44"/>
    <p:sldId id="273" r:id="rId45"/>
    <p:sldId id="272" r:id="rId46"/>
    <p:sldId id="271" r:id="rId47"/>
    <p:sldId id="270" r:id="rId48"/>
    <p:sldId id="269" r:id="rId49"/>
    <p:sldId id="268" r:id="rId50"/>
    <p:sldId id="267" r:id="rId51"/>
    <p:sldId id="266" r:id="rId52"/>
    <p:sldId id="265" r:id="rId53"/>
    <p:sldId id="264" r:id="rId54"/>
    <p:sldId id="263" r:id="rId55"/>
    <p:sldId id="262" r:id="rId56"/>
    <p:sldId id="261" r:id="rId57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B83CB-6C9A-44D8-8F42-FACF21032FE2}" type="datetimeFigureOut">
              <a:rPr lang="ru-KZ" smtClean="0"/>
              <a:t>19.09.2026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AC0D2-1EA9-4625-AFEA-9B11E2BBB996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479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38685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96629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32752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</a:p>
          <a:p>
            <a:r>
              <a:rPr lang="ru-RU"/>
              <a:t>https://adilet.zan.kz/rus/docs/V1400010332</a:t>
            </a:r>
          </a:p>
          <a:p>
            <a:r>
              <a:rPr lang="ru-RU"/>
              <a:t>https://old.adilet.zan.kz/rus/docs/V1400010303</a:t>
            </a:r>
          </a:p>
          <a:p>
            <a:r>
              <a:rPr lang="ru-RU"/>
              <a:t>https://old.adilet.zan.kz/rus/docs/V1500010889</a:t>
            </a:r>
          </a:p>
          <a:p>
            <a:r>
              <a:rPr lang="ru-RU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73673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08865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56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00109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98454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93705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20362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13947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35327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57029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017215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526690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16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394572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88363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605972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https://adilet.zan.kz/rus/docs/V1400010332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78920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20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610095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21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053372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22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799674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23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47817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24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658349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25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237091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26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731659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27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856483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28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721316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29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438907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https://old.adilet.zan.kz/rus/docs/V1400010303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30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202214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https://old.adilet.zan.kz/rus/docs/V1400010303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31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498754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32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74584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33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040885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34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487857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35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674995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36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594593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37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621623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Сварщик.ppt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38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969339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Сварщик.ppt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39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078150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40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496530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41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89830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42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737217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43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698034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44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091606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45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032609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46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008937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47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874295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48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89197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49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06367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50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054749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51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4132285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52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5169854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53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5859362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54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098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AC0D2-1EA9-4625-AFEA-9B11E2BBB996}" type="slidenum">
              <a:rPr lang="ru-KZ" smtClean="0"/>
              <a:t>55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92005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ork Safety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生产危险与安全作业组织。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起重机械、承压设备和电气装置。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事故预防、员工行动和生产监督。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适用于哈萨克斯坦共和国的培训课程。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课程内容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通用要求贯穿各类生产作业。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按设备类型讲解文件、作业许可和防护措施。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案例帮助识别必须停止作业的情况。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设备专项作业授权需另行办理。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9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工业安全的目的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工业安全保护人员、财产和环境免受危险生产因素影响。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事故预防在设备启动前开始。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应急准备包括通信、疏散和经过训练的人员行动。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安全管理覆盖设备整个使用期。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17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法规依据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哈萨克斯坦</a:t>
            </a:r>
            <a:r>
              <a:rPr lang="en-US" altLang="zh-CN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《</a:t>
            </a: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民事保护法</a:t>
            </a:r>
            <a:r>
              <a:rPr lang="en-US" altLang="zh-CN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》</a:t>
            </a: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规定通用要求。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起重机械适用第</a:t>
            </a:r>
            <a:r>
              <a:rPr lang="en-US" altLang="zh-CN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359</a:t>
            </a: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号令相关规则，承压设备适用第</a:t>
            </a:r>
            <a:r>
              <a:rPr lang="en-US" altLang="zh-CN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358</a:t>
            </a: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号令相关规则。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电气安全和动火作业受专项规则约束。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岗位规程应结合具体设备和现场条件。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通用规程范本不能替代具体作业要求。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65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危险生产设施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存在危险物质和工艺时，应核查危险设施判定条件。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按法律规定开展识别，不能仅凭企业名称判断。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危险技术装置按类型和参数进行管理。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员工应了解本区域危险和授权范围。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名称中没有“危险”二字并不消除风险。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97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危险物质与工艺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可燃物可能燃烧，氧化剂会助燃。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有毒物质可通过吸入或接触造成危害。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压力、温度和机械能可能造成严重伤害。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作业前应掌握物质、工艺和防护措施信息。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危险取决于物质特性和使用条件。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77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事故与异常事件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结构破坏、失控爆炸或危险物质释放属于事故征兆。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设备故障或工艺偏离可能构成异常事件。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即使没有人员受伤，也应报告并分析。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隐瞒偏差会失去预防事故的机会。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应在偏差再次发生前记录并处理。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9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组织的职责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运营组织保证设备完好并落实强制要求。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指定责任人，建立监督程序。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组织培训、知识考核和人员作业准入。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保持控制事故及消除后果的准备状态。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指定责任人不免除组织本身的职责。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59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员工的行动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员工仅在培训和授权范围内完成任务。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检查工作场所，使用规定的防护用品。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报告故障、偏差和对人员的威胁。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存在直接危险时，停止工作并撤至安全地点。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不得擅自处理危险故障。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65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培训与作业准入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培训说明危险及安全方法。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知识考核确认对要求的理解。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作业交底介绍具体任务和工作场所。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规则要求时，还需实际操作训练及作业授权。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观看课件不等于获得所有操作权限。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239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生产监督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监督应在事故前发现违规情况。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检查设备、文件、人员和工作条件。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每项问题明确措施、责任人和期限。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问题关闭须通过现场核实。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“已整改”记录必须有实际依据。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62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开工前检查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明确任务、作业区边界和责任人。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检查设备、防护装置及通道。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评估邻近作业和可能变化的环境。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条件不符合要求时，消除原因后再开工。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昨天正常不能代替今天的检查。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69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工作场所风险评估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识别可能造成伤害的因素及暴露人员。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优先消除危险并采用工程防护。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组织措施和个人防护作为补充。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设备、任务或环境变化后重新评估。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条件改变就应重新评估风险。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4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作业许可与协调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按规则和程序对要求许可的作业办理作业票。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明确地点、内容、人员及防护措施。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现场实际条件必须符合许可要求。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任务变化后应重新审核条件，不能只靠口头约定。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票上的签字不能代替已落实的措施。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00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能源隔离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检修前识别电能、机械能和储存能量。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停止设备并防止意外启动。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按程序泄压并固定运动部件。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由授权人员确认危险能量已消除。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按下停止按钮本身不等于能源隔离。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14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动火作业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焊接、切割和加热会产生火花及高温表面。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移除可燃物或按规定保护。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检查相邻房间、孔洞和隐蔽空间。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配备灭火器材并安排完工后检查。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火花可能进入可见作业区之外。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33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设备文件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设备护照用于确认设备身份和允许参数。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制造商说明书规定运行及维护条件。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日志记录检查、维修和缺陷。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未知参数必须在运行前查明。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邻近设备的参数不能代替本机文件。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39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起重机械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起重机、葫芦等装置用途不同。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吊索、吊梁和容器共同构成吊运系统。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选型需考虑载荷质量、作业范围和支承条件。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按设备文件及工艺方案组织作业。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安全吊运依赖整个系统。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27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起重设备护照与标识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核对设备类型及识别编号。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检查起重量、安装条件和制造商限制。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核查检验及投入使用文件。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标识不清或相互矛盾时，先核实信息。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起重量应符合实际工况。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3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起重设备登记与维护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国家登记或内部登记要求取决于设备类型。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无需国家登记不等于无需管理。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按规定计划维护和检修。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保存检查及缺陷处理记录。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内部登记同样需要明确责任。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09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起重作业责任分工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监督人员检查安全运行情况。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设备完好责任人组织维护和维修。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安全吊运责任人组织具体作业。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司机和司索人员履行各自职责并使用约定信号。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起吊前必须明确各自职责。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67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起吊准备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确认质量、重心和吊点。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选择性能适合的机械及吊具。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检查路线、落点及人员撤离情况。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约定参与人员的通信方式。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质量不明时不得开始起吊。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56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吊索与取物装置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检查标识及与吊装方案的适配性。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检查钢丝绳、链条、索腿、吊钩和连接件。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损坏或无法识别的吊具退出使用。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按规定保护载荷棱边。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打结不能修复吊索。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54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吊运危险区域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人员撤离载荷可能坠落或移动的范围。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禁止停留在悬吊载荷下方。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不得站在载荷与障碍物之间用手导向。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整个操作过程中保持区域边界。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短距离起吊同样有危险。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38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信号与停止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事先约定清晰信号和通信方式。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失去通信时停止运动。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出现人员危险时，立即响应停止信号。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原因消除并重新协调后方可恢复。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不得猜测不明信号。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66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检查与技术检验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班前检查、维护及技术检验目的不同。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检查结构、机构、制动器和安全装置。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周期和范围按规则及设备文件确定。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不得为完成班次而绕过故障限位装置。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安全装置是准许运行的条件之一。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664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起重设备试验与维修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由合格人员按规定方案试验。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试验载荷不代表日常允许超载。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特定维修或改动后需追加检查。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试验结果和继续使用许可应形成文件。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维修后的检查不能用随意试吊替代。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04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起重结构焊接接头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关键部件维修应执行规定工艺。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按结构要求确定焊工、材料和检验条件。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裂纹、变形和不允许缺陷交由专业人员评估。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擅自焊接附件可能改变结构受力。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承载结构维修需要专门决定。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70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案例：损坏的吊索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发现吊索缺陷，但任务非常紧急。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不开始起吊，向责任人报告。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在作出规定处理决定前停止发放该吊具。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改用完好且适合的吊具后再作业。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紧急程度不改变完好标准。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24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承压设备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锅炉、容器、管道和气瓶储存能量。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失去密封可能造成喷出、烫伤或介质伤害。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危险与压力、温度和介质有关。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设备必须在规定参数内运行。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容器体积小不代表危险小。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2661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运行与设计参数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工作、设计、允许和试验压力用途不同。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试验压力仅用于规定试验程序。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运行限值来自设备文件及批准参数。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同时考虑温度限制和介质相容性。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不能把试验参数当作运行参数。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68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容器分类与规则适用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分类取决于参数和介质性质。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仅凭压力无法完成通用分类。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专业人员确定适用要求和检验范围。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操作人员遵守本设备已确定的限值。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分类影响检验和文件要求。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18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保护装置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安全装置限制参数危险超限。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按规定检查其完好状态和整定。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禁止擅自旁路、堵塞或改变整定。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保护动作后必须查明原因。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保护装置不能长期代替正常调节。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21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压力和温度监测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操作人员将读数与允许工况比较。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检查明显损坏及不可靠指示。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故障仪表按规定更换。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泄漏、振动或异常声响应按规程处理。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其他征兆异常时，单个正常读数不能证明安全。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30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启动与运行监视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启动前确认设备准备状态及许可。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检查阀件、保护和规定仪表。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按规程顺序改变参数。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出现偏差时按规程处理，不盲目试调。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维修后启动必须确认准备完毕。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88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停车与检修准备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隔离压力和危险介质来源。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释放压力并确认安全状态。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必要时清洗、吹扫和检测环境。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完成措施并获得许可后开始检修。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故障压力表的零读数不能证明安全。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188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容器技术检验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检查和试验用于评估技术状态。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周期由设备及适用要求决定。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检验逾期时不开工，通知责任人安排检查和准入。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结果写入设备文件。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不能套用其他容器的周期。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630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压缩气体气瓶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通过标识和文件确认气体。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防止气瓶倒落、受热和阀门损坏。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使用相容的减压器及完好连接件。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不得用明火检查泄漏。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标识存疑的气瓶不得连接。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86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容器维修与焊接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安全停用后才能维修。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工艺、人员和检验应符合容器用途。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残留介质不明时不得焊接。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恢复使用前须有检验结果文件。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空容器仍可能含有爆炸性残留物。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2838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案例：压力上升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读数持续上升，正常调节不能恢复工况。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操作人员执行紧急停车规程。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撤离危险区域人员并报告责任人。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不得擅自停用保护或带压维修。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确保安全后再查明原因。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144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电气危险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电流、电弧和高温部件可造成严重伤害。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潮湿、绝缘损坏及导电表面会增大危险。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没有火花或声音不能证明没有电压。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按规定限制电气装置的接近权限。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无法预先感觉到的电压仍然危险。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658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人员类别与权限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职责及电气安全等级决定允许操作。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等级不代表无需任务和许可即可开展所有工作。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接线、维修和倒闸由授权人员完成。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学员应遵守自身培训范围。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知道术语不等于拥有操作权限。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848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电气作业组织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为具体工作确定规定的管理方式。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指定责任人和班组成员。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许可人员核查现场准备并开展交底。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间断、转移地点和完工按程序记录。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实际作业必须与任务一致。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5541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停电作业准备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授权人员完成必要断开。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防止误送电并悬挂禁止标志。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验明确无电压，再执行规定接地。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设置所需围栏及其他标志。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断开电源与确认无电压是不同步骤。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791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接地与保护导体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保护导体属于防触电系统。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连接损坏必须在作业前消除。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不得用任意金属连接替代保护导体。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由专业人员检查和维修。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外壳完整不能证明保护有效。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665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移动式电气设备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使用前检查外壳、电缆、插头和接头。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按环境条件和说明书选用。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电缆损坏或出现过热迹象时停止使用。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自制接头不能代替完好配套部件。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接通前应检查完好状态。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79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电气防护用品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按电压和任务选择用品。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使用前检查完整性及试验标记。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过期或损坏用品不得使用。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个人防护不能取代组织措施。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试验有效期不明时应先核实。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534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带电部分附近作业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按具体装置确定边界和安全距离。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人员、工具、载荷及机械部件均须保持距离。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不得擅自移动围栏。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条件改变时停止工作并重新评估措施。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未直接接触也可能发生危险。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027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电气设备恢复运行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确认完工并清退危险区域人员。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按规定顺序撤除临时防护。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办理完工及送电许可。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由授权人员执行送电。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试运行同样需要安全控制。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807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案例：电缆破损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发现移动设备电缆导体裸露。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停止使用并防止再次通电。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通知责任人安排维修或更换。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不触摸破损处，不带电修理。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简单缠胶带不能作为继续使用的许可。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521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事故报告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说明位置、危险性质和已知伤员情况。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使用现场通信方式，必要时拨打</a:t>
            </a:r>
            <a:r>
              <a:rPr lang="en-US" altLang="zh-CN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112</a:t>
            </a: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或</a:t>
            </a:r>
            <a:r>
              <a:rPr lang="en-US" altLang="zh-CN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101</a:t>
            </a: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不要为自行调查原因而延迟报告。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以安全方式警告附近人员。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报告应帮助救援者迅速定位危险区。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068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疏散与集合点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根据危险源选择安全撤离路线。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不为取物返回，也不进入封锁区域。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到集合点后报告自身及已知失联人员情况。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责任人评估后才能准许返回。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有人位置不明时立即报告。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267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救助时的安全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先排除对救助者的危险。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呼叫急救并说明现场情况。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按培训范围及调度员指示行动。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无防护不得进入危险气氛或接触仍带电的伤员。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新增伤员会使救援更加困难。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603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事件分析与恢复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保留迹象、时间和经过等信息。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根据事实查明原因，包括组织因素。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恢复作业前核实纠正措施。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向人员说明规程和设备变化。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恢复前应消除原因，而不仅是后果。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477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知识考核准备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作业需要明确任务、完好设备和有效授权。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起重故障、压力泄漏及电气损坏要求及时停止。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应急行动从人员安全和报警开始。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点击“开始测试”。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条件存疑时先检查再作业。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工业安全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613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5477</Words>
  <Application>Microsoft Office PowerPoint</Application>
  <DocSecurity>0</DocSecurity>
  <PresentationFormat>Широкоэкранный</PresentationFormat>
  <Paragraphs>584</Paragraphs>
  <Slides>55</Slides>
  <Notes>55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55</vt:i4>
      </vt:variant>
    </vt:vector>
  </HeadingPairs>
  <TitlesOfParts>
    <vt:vector size="60" baseType="lpstr">
      <vt:lpstr>Microsoft YaHei</vt:lpstr>
      <vt:lpstr>Aptos</vt:lpstr>
      <vt:lpstr>Arial</vt:lpstr>
      <vt:lpstr>ChatGPT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sick ness</cp:lastModifiedBy>
  <cp:revision>1</cp:revision>
  <dcterms:created xsi:type="dcterms:W3CDTF">2026-08-25T14:17:56Z</dcterms:created>
  <dcterms:modified xsi:type="dcterms:W3CDTF">2026-09-19T10:49:16Z</dcterms:modified>
</cp:coreProperties>
</file>