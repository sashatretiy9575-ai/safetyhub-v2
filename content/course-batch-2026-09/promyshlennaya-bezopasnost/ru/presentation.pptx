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58"/>
  </p:notesMasterIdLst>
  <p:sldIdLst>
    <p:sldId id="260" r:id="rId3"/>
    <p:sldId id="314" r:id="rId4"/>
    <p:sldId id="313" r:id="rId5"/>
    <p:sldId id="312" r:id="rId6"/>
    <p:sldId id="311" r:id="rId7"/>
    <p:sldId id="310" r:id="rId8"/>
    <p:sldId id="309" r:id="rId9"/>
    <p:sldId id="308" r:id="rId10"/>
    <p:sldId id="307" r:id="rId11"/>
    <p:sldId id="306" r:id="rId12"/>
    <p:sldId id="305" r:id="rId13"/>
    <p:sldId id="304" r:id="rId14"/>
    <p:sldId id="303" r:id="rId15"/>
    <p:sldId id="302" r:id="rId16"/>
    <p:sldId id="301" r:id="rId17"/>
    <p:sldId id="300" r:id="rId18"/>
    <p:sldId id="299" r:id="rId19"/>
    <p:sldId id="298" r:id="rId20"/>
    <p:sldId id="297" r:id="rId21"/>
    <p:sldId id="296" r:id="rId22"/>
    <p:sldId id="295" r:id="rId23"/>
    <p:sldId id="294" r:id="rId24"/>
    <p:sldId id="293" r:id="rId25"/>
    <p:sldId id="292" r:id="rId26"/>
    <p:sldId id="291" r:id="rId27"/>
    <p:sldId id="290" r:id="rId28"/>
    <p:sldId id="289" r:id="rId29"/>
    <p:sldId id="288" r:id="rId30"/>
    <p:sldId id="287" r:id="rId31"/>
    <p:sldId id="286" r:id="rId32"/>
    <p:sldId id="285" r:id="rId33"/>
    <p:sldId id="284" r:id="rId34"/>
    <p:sldId id="283" r:id="rId35"/>
    <p:sldId id="282" r:id="rId36"/>
    <p:sldId id="281" r:id="rId37"/>
    <p:sldId id="280" r:id="rId38"/>
    <p:sldId id="279" r:id="rId39"/>
    <p:sldId id="278" r:id="rId40"/>
    <p:sldId id="277" r:id="rId41"/>
    <p:sldId id="276" r:id="rId42"/>
    <p:sldId id="275" r:id="rId43"/>
    <p:sldId id="274" r:id="rId44"/>
    <p:sldId id="273" r:id="rId45"/>
    <p:sldId id="272" r:id="rId46"/>
    <p:sldId id="271" r:id="rId47"/>
    <p:sldId id="270" r:id="rId48"/>
    <p:sldId id="269" r:id="rId49"/>
    <p:sldId id="268" r:id="rId50"/>
    <p:sldId id="267" r:id="rId51"/>
    <p:sldId id="266" r:id="rId52"/>
    <p:sldId id="265" r:id="rId53"/>
    <p:sldId id="264" r:id="rId54"/>
    <p:sldId id="263" r:id="rId55"/>
    <p:sldId id="262" r:id="rId56"/>
    <p:sldId id="261" r:id="rId57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61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6FD62D-FA32-48F8-BEA2-791091E54F94}" type="datetimeFigureOut">
              <a:rPr lang="ru-KZ" smtClean="0"/>
              <a:t>19.09.2026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5006F5-CFFC-417D-A4B1-B08194DA3347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266756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промышленная безопасность.docx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8663263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Презентация вебинара Грузоподъемные механизмы Ким.pptx</a:t>
            </a:r>
          </a:p>
          <a:p>
            <a:r>
              <a:rPr lang="ru-RU"/>
              <a:t>Презентация вебинара Сосуды под давлением.pptx</a:t>
            </a:r>
          </a:p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8223543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https://old.adilet.zan.kz/rus/docs/Z1400000188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7898364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промышленная безопасность.docx</a:t>
            </a:r>
          </a:p>
          <a:p>
            <a:r>
              <a:rPr lang="ru-RU"/>
              <a:t>https://adilet.zan.kz/rus/docs/V1400010332</a:t>
            </a:r>
          </a:p>
          <a:p>
            <a:r>
              <a:rPr lang="ru-RU"/>
              <a:t>https://old.adilet.zan.kz/rus/docs/V1400010303</a:t>
            </a:r>
          </a:p>
          <a:p>
            <a:r>
              <a:rPr lang="ru-RU"/>
              <a:t>https://old.adilet.zan.kz/rus/docs/V1500010889</a:t>
            </a:r>
          </a:p>
          <a:p>
            <a:r>
              <a:rPr lang="ru-RU"/>
              <a:t>https://old.adilet.zan.kz/rus/docs/V2200026867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4243099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https://old.adilet.zan.kz/rus/docs/Z1400000188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0266164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промышленная безопасность.docx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5136276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https://old.adilet.zan.kz/rus/docs/Z1400000188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2293572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https://old.adilet.zan.kz/rus/docs/Z1400000188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2190398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промышленная безопасность.docx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052294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10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8294850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11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6137465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промышленная безопасность.docx</a:t>
            </a:r>
          </a:p>
          <a:p>
            <a:r>
              <a:rPr lang="ru-RU"/>
              <a:t>Презентация вебинара Грузоподъемные механизмы Ким.pptx</a:t>
            </a:r>
          </a:p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12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5789224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промышленная безопасность.docx</a:t>
            </a:r>
          </a:p>
          <a:p>
            <a:r>
              <a:rPr lang="ru-RU"/>
              <a:t>Обучение Промбезу Общий.ppt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13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8718197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</a:p>
          <a:p>
            <a:r>
              <a:rPr lang="ru-RU"/>
              <a:t>промышленная безопасность.docx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14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5163346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</a:p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15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668056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промышленная безопасность.docx</a:t>
            </a:r>
          </a:p>
          <a:p>
            <a:r>
              <a:rPr lang="ru-RU"/>
              <a:t>https://old.adilet.zan.kz/rus/docs/V2200026867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16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2465672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</a:p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17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7143543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18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6102449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</a:p>
          <a:p>
            <a:r>
              <a:rPr lang="ru-RU"/>
              <a:t>https://adilet.zan.kz/rus/docs/V1400010332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19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146839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20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9616907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21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4601045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22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8068586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23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7596465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24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0270344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25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9283155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26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163471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27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36279994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28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9934605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Грузоподъемные механизмы Ким.pptx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29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8624244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</a:p>
          <a:p>
            <a:r>
              <a:rPr lang="ru-RU"/>
              <a:t>https://old.adilet.zan.kz/rus/docs/V1400010303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30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7312466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</a:p>
          <a:p>
            <a:r>
              <a:rPr lang="ru-RU"/>
              <a:t>https://old.adilet.zan.kz/rus/docs/V1400010303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31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75926989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32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0015208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33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56403504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34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58575473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35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53449027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36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08182662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37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62084236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</a:p>
          <a:p>
            <a:r>
              <a:rPr lang="ru-RU"/>
              <a:t>Сварщик.ppt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38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0342739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</a:p>
          <a:p>
            <a:r>
              <a:rPr lang="ru-RU"/>
              <a:t>Сварщик.ppt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39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7590303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Сосуды под давлением.pptx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40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98997565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41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6916794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</a:p>
          <a:p>
            <a:r>
              <a:rPr lang="ru-RU"/>
              <a:t>https://old.adilet.zan.kz/rus/docs/V1500010889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42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78210881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</a:p>
          <a:p>
            <a:r>
              <a:rPr lang="ru-RU"/>
              <a:t>https://old.adilet.zan.kz/rus/docs/V1500010889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43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19501102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44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5654245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45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3985953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46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49015339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47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71562042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48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85326635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49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58846447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50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6980351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промышленная безопасность.docx</a:t>
            </a:r>
          </a:p>
          <a:p>
            <a:r>
              <a:rPr lang="ru-RU"/>
              <a:t>Обучение Промбезу Общий.ppt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51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06404710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промышленная безопасность.docx</a:t>
            </a:r>
          </a:p>
          <a:p>
            <a:r>
              <a:rPr lang="ru-RU"/>
              <a:t>Обучение Промбезу Общий.ppt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52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70397277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промышленная безопасность.docx</a:t>
            </a:r>
          </a:p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53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60770362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</a:t>
            </a:r>
            <a:r>
              <a:rPr lang="en-US"/>
              <a:t>ppt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54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58764682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Обучение Промбезу Общий.ppt</a:t>
            </a:r>
          </a:p>
          <a:p>
            <a:r>
              <a:rPr lang="ru-RU"/>
              <a:t>Презентация вебинара Грузоподъемные механизмы Ким.pptx</a:t>
            </a:r>
          </a:p>
          <a:p>
            <a:r>
              <a:rPr lang="ru-RU"/>
              <a:t>Презентация вебинара Сосуды под давлением.pptx</a:t>
            </a:r>
          </a:p>
          <a:p>
            <a:r>
              <a:rPr lang="ru-RU"/>
              <a:t>Презентация вебинара Электробезопасность - Ким - ноябрь 2025 года.pptx</a:t>
            </a:r>
            <a:endParaRPr lang="ru-KZ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006F5-CFFC-417D-A4B1-B08194DA3347}" type="slidenum">
              <a:rPr lang="ru-KZ" smtClean="0"/>
              <a:t>55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462404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Work Safety — базов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Work Safety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Опасности производства и организация безопасной работы.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Грузоподъёмные механизмы, оборудование под давлением и электрические установки.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Предупреждение аварий, действия работника и производственный контроль.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Учебный курс для работы в Республике Казахстан.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282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Что изучается в курсе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Общие требования связывают все производственные операции.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Для каждого вида оборудования рассматриваются документы, допуск и защитные меры.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Практические ситуации помогают распознать условия, при которых работу необходимо остановить.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Специальный допуск к оборудованию оформляют отдельно.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505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Назначение промышленной безопасности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Промышленная безопасность защищает людей, имущество и окружающую среду от опасных производственных факторов.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Предупреждение аварии начинается до пуска оборудования.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Готовность к аварии включает связь, эвакуацию и подготовленные действия персонала.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Безопасность обеспечивают на всём сроке эксплуатации.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320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Нормативная основа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Закон РК «О гражданской защите» устанавливает общие требования.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Для ГПМ применяют правила по приказу № 359, для оборудования под давлением — № 358.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Электробезопасность и огневые работы регулируют профильные правила.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Рабочая инструкция учитывает конкретное оборудование и условия объекта.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Образец инструкции не заменяет требования к конкретной работе.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778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Опасный производственный объект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Наличие опасных веществ и процессов требует проверки признаков опасного объекта.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Идентификацию проводят по законодательству, а не по бытовому названию предприятия.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Опасные технические устройства учитывают с учётом их вида и параметров.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Работник должен знать опасности своего участка и границы допуска.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Отсутствие слова «опасный» в названии не устраняет риск.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589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Опасные вещества и процессы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Горючие вещества могут воспламеняться, окислители усиливают горение.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Токсичные вещества опасны при вдыхании и контакте.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Давление, температура и механическая энергия способны вызвать тяжёлые повреждения.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Для работы нужны сведения о веществе, процессе и мерах защиты.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Опасность определяется свойствами и условиями обращения.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06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567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Авария и инцидент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Разрушение, неконтролируемый взрыв или выброс опасных веществ относятся к признакам аварии.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Отказ оборудования или отклонение технологического режима может быть инцидентом.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Даже без пострадавших событие требует сообщения и разбора.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Скрытие отклонения лишает организацию возможности предотвратить аварию.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Отклонение фиксируют до того, как оно повторится.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07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079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Обязанности организации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Организация обеспечивает исправность оборудования и выполнение обязательных требований.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Назначает ответственных лиц и устанавливает порядок контроля.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Организует обучение, проверку знаний и допуск персонала.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Поддерживает готовность к локализации и ликвидации последствий аварий.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Назначение ответственного не отменяет обязанностей организации.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08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738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Действия работника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Работник выполняет порученную работу в пределах подготовки и допуска.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Проверяет рабочее место и применяет предусмотренные средства защиты.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Сообщает о неисправностях, отклонениях и угрозе людям.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При непосредственной опасности прекращает работу и выходит в безопасное место.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Самовольное устранение опасной неисправности недопустимо.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09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126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Обучение и допуск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Обучение объясняет опасности и безопасные методы работы.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Проверка знаний подтверждает понимание требований.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Инструктаж знакомит с конкретным заданием и рабочим местом.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Практическая подготовка и допуск нужны там, где их предусматривают правила и работа.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Просмотр презентации не даёт права на любую операцию.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10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579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Производственный контроль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Контроль выявляет нарушения до возникновения аварии.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Проверки охватывают оборудование, документы, персонал и рабочие условия.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 замечанию назначают действие, ответственного и срок.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Закрытие замечания подтверждают фактической проверкой.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Запись «устранено» требует подтверждения на месте.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23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Проверка перед началом работы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Уточняют задание, границы рабочей зоны и ответственных.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Проверяют оборудование, защитные устройства и доступность проходов.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Оценивают соседние работы и возможные изменения обстановки.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При несоответствии условий работу не начинают до устранения причины.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Вчерашняя исправность не заменяет сегодняшнюю проверку.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38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Оценка риска на рабочем месте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Определяют, что может причинить вред и кто окажется в опасной зоне.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Предпочитают устранение опасности и технические меры защиты.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Организационные меры и СИЗ дополняют защиту.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После изменения оборудования, задания или среды оценку повторяют.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Изменились условия — требуется новая оценка.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978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Наряд и согласование работ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Наряд-допуск оформляют для работ, где он предусмотрен правилами и установленным порядком.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В нём определяют место, содержание, состав исполнителей и меры защиты.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Фактическое рабочее место должно соответствовать условиям допуска.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Изменение задания требует пересмотра условий, а не устной договорённости.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Подпись в наряде не заменяет выполненные меры.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359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Изоляция источников энергии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Перед ремонтом выявляют электрическую, механическую и накопленную энергию.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Оборудование останавливают и исключают непреднамеренный пуск.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Давление снимают, движущиеся части фиксируют по установленной процедуре.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Отсутствие опасной энергии проверяет уполномоченный персонал.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Кнопка «Стоп» сама по себе не обеспечивает изоляцию.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25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Огневые работы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Сварка, резка и нагрев создают искры и горячие поверхности.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Удаляют горючие материалы или защищают их предусмотренным способом.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Проверяют смежные помещения, проёмы и скрытые полости.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Организуют средства тушения и контроль места после завершения работ.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Искра может попасть за пределы видимой рабочей зоны.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16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9186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Документация оборудования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Паспорт позволяет определить устройство и его допустимые параметры.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Руководство изготовителя устанавливает условия эксплуатации и обслуживания.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Журналы сохраняют сведения об осмотрах, ремонтах и выявленных дефектах.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Неизвестные параметры уточняют до эксплуатации.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Параметры соседнего устройства не заменяют паспорт.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17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8424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Грузоподъёмные механизмы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Краны, тали и другие подъёмные устройства имеют разные области применения.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Стропы, траверсы и тара участвуют в общей системе безопасного подъёма.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Для выбора механизма важны масса груза, рабочая зона и условия установки.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Работу организуют с учётом паспорта и технологической схемы.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Безопасность подъёма зависит от всей системы.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18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8577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Паспорт и маркировка ГПМ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Сверяют тип и идентификационный номер механизма.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Проверяют грузоподъёмность, условия установки и ограничения изготовителя.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Учитывают документы об освидетельствованиях и допуске к работе.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Нечитаемая или противоречивая маркировка требует уточнения.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Грузоподъёмность проверяют для фактических условий.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19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6408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Учёт и обслуживание ГПМ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Порядок государственного или внутреннего учёта зависит от вида устройства.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Отсутствие требования государственной регистрации не отменяет контроля.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Обслуживание и ремонт выполняют по установленному графику.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Результаты осмотров и устранения дефектов сохраняют в документации.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Внутренний учёт также требует ответственности.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20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0027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Ответственные при работе с кранами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Надзор контролирует безопасную эксплуатацию.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Ответственный за исправное состояние организует содержание и ремонт.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Ответственный за перемещение грузов организует безопасное выполнение операции.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Крановщик и стропальщик выполняют свои обязанности и согласованные сигналы.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Обязанности должны быть известны до подъёма.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9998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Подготовка подъёма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Определяют массу, центр тяжести и места строповки.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Выбирают механизм и приспособления с подходящими характеристиками.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Проверяют маршрут, место установки груза и отсутствие людей.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Согласуют связь между участниками операции.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Неизвестная масса требует уточнения до подъёма.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2458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Стропы и грузозахватные приспособления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Проверяют маркировку и соответствие выбранной схеме.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Осматривают канаты, цепи, ветви, крюки и соединения.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Повреждённое или неидентифицируемое приспособление выводят из работы.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Кромки груза защищают предусмотренными подкладками.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Узел на стропе не является способом ремонта.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809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Опасная зона подъёма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Людей выводят из зоны возможного падения и перемещения груза.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 допускают нахождения под подвешенным грузом.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 направляют груз руками из положения между грузом и препятствием.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Границы зоны поддерживают на всём протяжении операции.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Короткий подъём сохраняет ту же опасность.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0054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Сигналы и остановка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Участники заранее согласуют понятные сигналы и способ связи.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При потере связи движение прекращают.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При угрозе людям сигнал остановки требует немедленной реакции.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Работу возобновляют после устранения причины и согласования действий.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Непонятный сигнал нельзя угадывать.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6538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Осмотр и освидетельствование ГПМ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Ежесменный осмотр, обслуживание и освидетельствование решают разные задачи.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Проверяют конструкцию, механизмы, тормоза и защитные устройства.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Сроки и объём определяют по правилам и документации устройства.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Неисправный ограничитель не разрешается обходить ради завершения смены.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Защитное устройство является частью допуска к работе.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26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7325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Испытания и ремонт ГПМ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Испытания проводят подготовленные специалисты по установленной программе.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Испытательная нагрузка не является разрешением на перегруз в работе.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После определённых ремонтов и изменений требуется дополнительная проверка.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Результаты и разрешение на дальнейшую эксплуатацию оформляют документально.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Проверку после ремонта нельзя заменить пробным подъёмом.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27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0063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Сварные соединения ГПМ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Ремонт ответственных элементов выполняют по установленной технологии.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Требования к сварщику, материалам и контролю определяют для конструкции.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Трещины, деформации и недопустимые дефекты требуют оценки специалиста.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Самовольная приварка детали может изменить работу конструкции.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Ремонт несущей конструкции требует отдельного решения.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28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5275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Ситуация: повреждённый строп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На стропе обнаружен дефект, но груз нужно переместить срочно.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Подъём не начинают и сообщают ответственному.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Приспособление исключают из выдачи до установленного решения.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Операцию продолжают с исправным подходящим комплектом.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Срочность не меняет критерии исправности.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29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5417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Оборудование под давлением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Котлы, сосуды, трубопроводы и баллоны содержат накопленную энергию.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Разгерметизация может сопровождаться выбросом, ожогом или поражением веществом.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Опасность зависит от давления, температуры и рабочей среды.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Каждое устройство эксплуатируют в пределах установленных параметров.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Небольшой размер сосуда не означает малую опасность.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30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7140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Рабочие и расчётные параметры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Рабочее, расчётное, разрешённое и пробное давление имеют разное назначение.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Пробное давление относится к испытанию по установленной процедуре.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Допустимый режим берут из документации и разрешённых параметров.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Учитывают ограничения температуры и совместимость рабочей среды.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Испытательный параметр нельзя применять как рабочий.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9487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Группа сосуда и область правил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Классификация зависит от параметров и характера среды.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Универсальной оценки по одному только давлению недостаточно.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Специалист определяет применимые требования и объём контроля.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Оператор использует уже установленные ограничения своего оборудования.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Классификация влияет на контроль и документацию.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6858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Защитные устройства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Предохранительные устройства ограничивают опасное превышение параметров.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Их исправность и настройка подлежат установленному контролю.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Запрещено самовольно блокировать, заглушать или менять настройку защиты.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Срабатывание требует выяснения причины.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Защита не предназначена для постоянного исправления режима.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1985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Контроль давления и температуры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Оператор наблюдает показания приборов и сопоставляет их с допустимым режимом.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Проверяет отсутствие видимых повреждений и недостоверных показаний.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Неисправный прибор заменяют в установленном порядке.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Утечка, вибрация или необычный шум требуют реакции по инструкции.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Одного нормального показания недостаточно при других признаках опасности.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7421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Пуск и наблюдение за режимом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Перед пуском подтверждают готовность оборудования и разрешение.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Проверяют арматуру, защиту и предусмотренные приборы.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Параметры изменяют в последовательности, установленной инструкцией.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При отклонении действуют по инструкции, не подбирая режим наугад.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Пуск после ремонта требует подтверждённой готовности.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017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Остановка и подготовка к ремонту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Оборудование отключают от источников давления и опасных сред.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Давление снимают и подтверждают безопасное состояние.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При необходимости выполняют очистку, продувку и контроль атмосферы.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Работы начинают после выполнения мер и допуска.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Нулевое показание неисправного манометра не доказывает безопасность.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36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9957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Освидетельствование сосудов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Осмотр и испытания позволяют оценить техническое состояние.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Периодичность зависит от устройства и применимых требований.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При просроченном освидетельствовании работу не начинают и сообщают ответственному для проверки и оформления допуска.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Результаты отражают в документации оборудования.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Срок нельзя назначать по чужому сосуду.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37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8214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Баллоны со сжатыми газами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Газ определяют по маркировке и документации.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Баллон защищают от падения, нагрева и повреждения вентиля.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Используют совместимые редукторы и исправные соединения.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 проверяют утечки открытым пламенем.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Баллон с сомнительной маркировкой не подключают.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38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8315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Ремонт и сварка сосудов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Ремонт проводят после безопасного вывода из эксплуатации.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Технология, исполнители и контроль соответствуют назначению сосуда.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Сварка ёмкости с неизвестными остатками среды недопустима.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Возврат в работу требует оформленного результата контроля.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Пустая ёмкость может сохранять взрывоопасные остатки.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39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0622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Ситуация: рост давления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Показание растёт, а штатное регулирование не возвращает режим.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Оператор действует по инструкции аварийной остановки.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Людей выводят из опасной зоны и сообщают ответственному.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Самовольное отключение защиты или ремонт под давлением исключены.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Причину выясняют после обеспечения безопасности.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40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6115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Электрические опасности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Ток, электрическая дуга и горячие части могут причинить тяжёлый вред.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Опасность усиливают влага, повреждение изоляции и проводящие поверхности.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Напряжение нельзя определять по отсутствию искр или шума.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Доступ к электроустановке ограничивают установленным порядком.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Неощутимое заранее напряжение остаётся опасным.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4933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Категория персонала и полномочия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Обязанности и группа по электробезопасности определяют допустимые действия.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Группа не даёт права выполнять любую работу без задания и допуска.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Подключение, ремонт и переключения выполняет уполномоченный персонал.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Слушатель соблюдает границы своей подготовки.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Знание термина не заменяет право на операцию.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1678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Организация работ в электроустановке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Для конкретной работы определяют установленный способ оформления.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Назначают ответственных и состав бригады.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Допускающий проверяет подготовку рабочего места и проводит инструктаж.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Перерывы, изменение места и окончание оформляют установленным порядком.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Фактическая работа должна соответствовать заданию.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4365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Работа со снятием напряжения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Уполномоченный персонал выполняет необходимые отключения.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Принимает меры против ошибочной подачи напряжения и вывешивает запрещающие плакаты.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Проверяет его отсутствие и выполняет предусмотренное заземление.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Устанавливает ограждения и плакаты в необходимом объёме.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Отключение и проверка отсутствия напряжения — разные действия.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0585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Заземление и защитные проводники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Защитный проводник является частью системы защиты от поражения током.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Повреждение соединения требует устранения до работы.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Нельзя самовольно заменять защитный проводник случайной металлической связью.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Проверку и ремонт выполняют специалисты.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Внешне целый корпус не подтверждает исправность защиты.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3179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Переносное оборудование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До использования осматривают корпус, кабель, вилку и соединения.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Оборудование выбирают по условиям среды и инструкции.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Повреждённый кабель или признаки перегрева требуют прекращения работы.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Самодельное соединение не заменяет исправный комплект.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Исправность проверяют до включения.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46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577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Электрозащитные средства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Средства подбирают для напряжения и характера работы.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Перед применением проверяют целостность и предусмотренные отметки испытаний.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Просроченное или повреждённое средство не используют.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СИЗ не разрешают обходить организационные меры.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Неизвестный срок испытания требует проверки.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47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4517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Работы возле токоведущих частей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Границы и безопасные расстояния определяют для конкретной установки.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Их соблюдают также инструментом, грузом и частью механизма.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Ограждения не переставляют самостоятельно.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При изменении условий работу прекращают до пересмотра мер.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Опасное приближение возможно без прямого касания.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48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7159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Возврат электрооборудования в работу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Проверяют завершение работ и удаление людей из опасной зоны.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Снимают временные меры защиты в установленной последовательности.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Оформляют окончание и разрешение на включение.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Включение выполняет уполномоченный персонал.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Пробный пуск требует такого же управления безопасностью.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49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5524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Ситуация: повреждённый кабель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У переносного оборудования обнаружена оголённая жила.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Использование прекращают и исключают повторное включение.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Сообщают ответственному для ремонта или замены.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 касаются повреждения и не выполняют ремонт под напряжением.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Изолента на месте повреждения не является допуском к работе.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50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8592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Оповещение об аварии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Сообщают место, характер опасности и известные сведения о пострадавших.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Используют установленную связь объекта, при необходимости 112 или 101.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 задерживают сообщение ради самостоятельного поиска причины.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Предупреждают находящихся рядом людей безопасным способом.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Сообщение должно позволять быстро найти опасную зону.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51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6250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Эвакуация и место сбора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Выходят по безопасному маршруту с учётом источника опасности.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 возвращаются за вещами и не входят в перекрытую зону.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На месте сбора передают сведения о себе и отсутствующих.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Возврат разрешают ответственные после оценки обстановки.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Неизвестное местонахождение человека сразу сообщают.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52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2519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Безопасность при оказании помощи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Сначала исключают опасность для оказывающего помощь.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Вызывают экстренную помощь и сообщают обстановку.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Действуют в пределах подготовки и указаний диспетчера.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Вход в опасную атмосферу или касание человека под напряжением без защиты недопустимы.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Второй пострадавший осложняет спасение.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53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003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Разбор события и возобновление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Сохраняют сведения о признаках, времени и обстоятельствах.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Причины устанавливают по фактам, включая организационные условия.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Корректирующие меры проверяют до возобновления работы.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Персонал знакомят с изменениями инструкций и оборудования.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Повторный пуск требует устранения причины, а не только последствий.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54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1431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noGrp="1"/>
          </p:cNvSpPr>
          <p:nvPr/>
        </p:nvSpPr>
        <p:spPr>
          <a:xfrm>
            <a:off x="533400" y="923925"/>
            <a:ext cx="76200" cy="51435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2" name="SLIDE_TITLE">
            <a:extLst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noGrp="1"/>
          </p:cNvSpPr>
          <p:nvPr/>
        </p:nvSpPr>
        <p:spPr>
          <a:xfrm>
            <a:off x="781050" y="876300"/>
            <a:ext cx="108394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9206"/>
          </a:bodyPr>
          <a:lstStyle/>
          <a:p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Итоговая проверка знаний</a:t>
            </a:r>
            <a:endParaRPr sz="3600" b="1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7572375" cy="409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Перед работой нужны понятное задание, исправное оборудование и действующий допуск.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Неисправности ГПМ, утечка давления и электрические повреждения требуют своевременной остановки.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Аварийные действия начинаются с безопасности людей и оповещения.</a:t>
            </a:r>
          </a:p>
          <a:p>
            <a:pPr marL="342900" indent="-342900">
              <a:lnSpc>
                <a:spcPct val="114000"/>
              </a:lnSpc>
              <a:spcAft>
                <a:spcPts val="1000"/>
              </a:spcAft>
              <a:buChar char="•"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ru-RU"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Нажмите «Начать тест».</a:t>
            </a:r>
            <a:endParaRPr sz="2025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2905125" cy="2857500"/>
          </a:xfrm>
          <a:prstGeom prst="roundRect">
            <a:avLst>
              <a:gd name="adj" fmla="val 6000"/>
            </a:avLst>
          </a:prstGeom>
          <a:solidFill>
            <a:srgbClr val="E8F5EE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noGrp="1"/>
          </p:cNvSpPr>
          <p:nvPr/>
        </p:nvSpPr>
        <p:spPr>
          <a:xfrm>
            <a:off x="8715375" y="2114550"/>
            <a:ext cx="76200" cy="2857500"/>
          </a:xfrm>
          <a:prstGeom prst="rect">
            <a:avLst/>
          </a:prstGeom>
          <a:solidFill>
            <a:srgbClr val="009846"/>
          </a:solidFill>
          <a:ln w="0">
            <a:noFill/>
            <a:prstDash val="solid"/>
          </a:ln>
        </p:spPr>
      </p:sp>
      <p:sp>
        <p:nvSpPr>
          <p:cNvPr id="6" name="KEY_TAKEAWAY">
            <a:extLst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noGrp="1"/>
          </p:cNvSpPr>
          <p:nvPr/>
        </p:nvSpPr>
        <p:spPr>
          <a:xfrm>
            <a:off x="8982075" y="2247900"/>
            <a:ext cx="2447925" cy="259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RU"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При сомнении в условиях работа ожидает проверки.</a:t>
            </a:r>
            <a:endParaRPr sz="195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noGrp="1"/>
          </p:cNvSpPr>
          <p:nvPr/>
        </p:nvSpPr>
        <p:spPr>
          <a:xfrm>
            <a:off x="533400" y="6391275"/>
            <a:ext cx="11125200" cy="0"/>
          </a:xfrm>
          <a:prstGeom prst="line">
            <a:avLst/>
          </a:prstGeom>
          <a:noFill/>
          <a:ln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lang="ru-RU"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Промышленная безопасность</a:t>
            </a:r>
            <a:endParaRPr sz="1050">
              <a:solidFill>
                <a:srgbClr val="5D625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LIDE_NUMBER">
            <a:extLst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noGrp="1"/>
          </p:cNvSpPr>
          <p:nvPr/>
        </p:nvSpPr>
        <p:spPr>
          <a:xfrm>
            <a:off x="11087100" y="64579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/>
          <a:lstStyle/>
          <a:p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lang="ru-KZ"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55</a:t>
            </a:r>
            <a:endParaRPr sz="1200" b="1">
              <a:solidFill>
                <a:srgbClr val="00984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3" name="SAFETYHUB_LOGO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1678" y="158401"/>
            <a:ext cx="2371344" cy="68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34730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3523</Words>
  <Application>Microsoft Office PowerPoint</Application>
  <DocSecurity>0</DocSecurity>
  <PresentationFormat>Широкоэкранный</PresentationFormat>
  <Paragraphs>584</Paragraphs>
  <Slides>55</Slides>
  <Notes>55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55</vt:i4>
      </vt:variant>
    </vt:vector>
  </HeadingPairs>
  <TitlesOfParts>
    <vt:vector size="59" baseType="lpstr">
      <vt:lpstr>Aptos</vt:lpstr>
      <vt:lpstr>Arial</vt:lpstr>
      <vt:lpstr>ChatGPT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sick ness</cp:lastModifiedBy>
  <cp:revision>1</cp:revision>
  <dcterms:created xsi:type="dcterms:W3CDTF">2026-08-25T14:17:56Z</dcterms:created>
  <dcterms:modified xsi:type="dcterms:W3CDTF">2026-09-19T10:47:33Z</dcterms:modified>
</cp:coreProperties>
</file>