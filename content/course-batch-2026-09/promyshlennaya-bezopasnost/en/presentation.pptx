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58"/>
  </p:notesMasterIdLst>
  <p:sldIdLst>
    <p:sldId id="260" r:id="rId3"/>
    <p:sldId id="314" r:id="rId4"/>
    <p:sldId id="313" r:id="rId5"/>
    <p:sldId id="312" r:id="rId6"/>
    <p:sldId id="311" r:id="rId7"/>
    <p:sldId id="310" r:id="rId8"/>
    <p:sldId id="309" r:id="rId9"/>
    <p:sldId id="308" r:id="rId10"/>
    <p:sldId id="307" r:id="rId11"/>
    <p:sldId id="306" r:id="rId12"/>
    <p:sldId id="305" r:id="rId13"/>
    <p:sldId id="304" r:id="rId14"/>
    <p:sldId id="303" r:id="rId15"/>
    <p:sldId id="302" r:id="rId16"/>
    <p:sldId id="301" r:id="rId17"/>
    <p:sldId id="300" r:id="rId18"/>
    <p:sldId id="299" r:id="rId19"/>
    <p:sldId id="298" r:id="rId20"/>
    <p:sldId id="297" r:id="rId21"/>
    <p:sldId id="296" r:id="rId22"/>
    <p:sldId id="295" r:id="rId23"/>
    <p:sldId id="294" r:id="rId24"/>
    <p:sldId id="293" r:id="rId25"/>
    <p:sldId id="292" r:id="rId26"/>
    <p:sldId id="291" r:id="rId27"/>
    <p:sldId id="290" r:id="rId28"/>
    <p:sldId id="289" r:id="rId29"/>
    <p:sldId id="288" r:id="rId30"/>
    <p:sldId id="287" r:id="rId31"/>
    <p:sldId id="286" r:id="rId32"/>
    <p:sldId id="285" r:id="rId33"/>
    <p:sldId id="284" r:id="rId34"/>
    <p:sldId id="283" r:id="rId35"/>
    <p:sldId id="282" r:id="rId36"/>
    <p:sldId id="281" r:id="rId37"/>
    <p:sldId id="280" r:id="rId38"/>
    <p:sldId id="279" r:id="rId39"/>
    <p:sldId id="278" r:id="rId40"/>
    <p:sldId id="277" r:id="rId41"/>
    <p:sldId id="276" r:id="rId42"/>
    <p:sldId id="275" r:id="rId43"/>
    <p:sldId id="274" r:id="rId44"/>
    <p:sldId id="273" r:id="rId45"/>
    <p:sldId id="272" r:id="rId46"/>
    <p:sldId id="271" r:id="rId47"/>
    <p:sldId id="270" r:id="rId48"/>
    <p:sldId id="269" r:id="rId49"/>
    <p:sldId id="268" r:id="rId50"/>
    <p:sldId id="267" r:id="rId51"/>
    <p:sldId id="266" r:id="rId52"/>
    <p:sldId id="265" r:id="rId53"/>
    <p:sldId id="264" r:id="rId54"/>
    <p:sldId id="263" r:id="rId55"/>
    <p:sldId id="262" r:id="rId56"/>
    <p:sldId id="261" r:id="rId57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51CDD-4351-4BE2-B691-2C04CEFB76C3}" type="datetimeFigureOut">
              <a:rPr lang="ru-KZ" smtClean="0"/>
              <a:t>19.09.2026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27CC6-80E6-4AB4-B056-D61502BAD43C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92978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50306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55332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60778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</a:p>
          <a:p>
            <a:r>
              <a:rPr lang="ru-RU"/>
              <a:t>https://adilet.zan.kz/rus/docs/V1400010332</a:t>
            </a:r>
          </a:p>
          <a:p>
            <a:r>
              <a:rPr lang="ru-RU"/>
              <a:t>https://old.adilet.zan.kz/rus/docs/V1400010303</a:t>
            </a:r>
          </a:p>
          <a:p>
            <a:r>
              <a:rPr lang="ru-RU"/>
              <a:t>https://old.adilet.zan.kz/rus/docs/V1500010889</a:t>
            </a:r>
          </a:p>
          <a:p>
            <a:r>
              <a:rPr lang="ru-RU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76808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70123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63899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41881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11184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15818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79577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82039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251603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4128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7435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462154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371958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26974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902336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https://adilet.zan.kz/rus/docs/V1400010332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61437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392172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206805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543745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813628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920966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998920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326920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838615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450995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194634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https://old.adilet.zan.kz/rus/docs/V1400010303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759662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https://old.adilet.zan.kz/rus/docs/V1400010303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315810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4589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595637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025514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628216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364122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227173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Сварщик.ppt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432208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Сварщик.ppt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39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010056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251950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362747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8779537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195249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343347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70126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213523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750405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832336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49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575378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50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32371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51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8419776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52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67014146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53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760917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54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5887977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027CC6-80E6-4AB4-B056-D61502BAD43C}" type="slidenum">
              <a:rPr lang="ru-KZ" smtClean="0"/>
              <a:t>55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92319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ork Safety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Industrial Safety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Industrial hazards and the organisation of safe work.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Lifting equipment, pressure equipment and electrical installations.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Accident prevention, worker actions and production control.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training course for work in the Republic of Kazakhstan.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What the course covers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General requirements apply across production operations.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Each equipment section covers documentation, authorisation and protective measures.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Practical scenarios help identify conditions that require work to stop.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Equipment-specific authorisation is arranged separately.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1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Purpose of industrial safety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Industrial safety protects people, property and the environment from hazardous production factors.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Accident prevention begins before equipment starts.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Emergency preparedness includes communication, evacuation and rehearsed personnel actions.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Safety must be maintained throughout the equipment life cycle.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65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Regulatory framework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Kazakhstan Law on Civil Protection establishes general requirements.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Order No. 359 covers lifting equipment; Order No. 358 covers pressure equipment.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Electrical safety and hot work are governed by their specific rules.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instructions account for the equipment and site conditions.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sample instruction cannot replace requirements for the actual task.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26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Hazardous production facilities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Hazardous substances and processes require checking the criteria for a hazardous facility.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Identification follows legislation rather than the everyday name of a business.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Hazardous technical devices are assessed according to their type and parameters.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Workers must know their area's hazards and the limits of their authorisation.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facility name without the word hazardous does not remove the risk.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7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Hazardous substances and processes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Combustible substances can ignite; oxidisers intensify combustion.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Toxic substances are hazardous through inhalation and contact.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Pressure, temperature and mechanical energy can cause severe injury.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requires information about the substance, process and protective measures.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Hazards depend on properties and handling conditions.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5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Accidents and incidents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Destruction, an uncontrolled explosion or a hazardous release can indicate an accident.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Equipment failure or a process deviation can constitute an incident.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An event must be reported and examined even if nobody is injured.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Concealing a deviation prevents the organisation from averting a later accident.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Record deviations before they recur.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15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Duties of the organisation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organisation maintains equipment and meets mandatory requirements.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It appoints responsible persons and establishes control procedures.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It arranges training, knowledge assessment and personnel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It maintains readiness to contain accidents and deal with their consequences.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Appointing a responsible person does not remove the organisation's duties.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2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Worker actions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Workers perform assigned tasks within their training and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They check the workplace and use the specified protective equipment.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They report defects, deviations and threats to people.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 immediate danger, they stop work and move to safety.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Do not attempt an unauthorised repair of a dangerous fault.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75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Training and authorisation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Training explains hazards and safe work methods.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Knowledge assessment verifies understanding of requirements.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briefing addresses the actual task and workplace.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Practical preparation and authorisation are required where stipulated by the rules and task.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Viewing a presentation does not authorise every operation.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23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Production control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Control identifies breaches before an accident occurs.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Checks cover equipment, documentation, personnel and working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Each finding receives an action, an owner and a deadline.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Closure requires verification that the issue has actually been corrected.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closed finding needs confirmation on site.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21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Checks before starting work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Clarify the task, work-zone boundaries and responsible persons.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equipment, protective devices and clear access routes.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Assess neighbouring activities and possible changes in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begin until unsuitable conditions have been corrected.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Yesterday's good condition does not replace today's check.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28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Workplace risk assessment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Identify what could cause harm and who could enter the danger zone.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Prefer hazard elimination and engineering protection.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Organisational measures and PPE provide additional protection.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Repeat the assessment when equipment, tasks or surroundings change.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Changed conditions require a new assessment.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52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permits and coordination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a work permit where required by the rules and established procedures.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Specify the location, task, personnel and protective measures.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Actual workplace conditions must match the conditions of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changed task requires review of the permit conditions, not an informal agreement.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signature on a permit does not replace completed protective measures.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1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Isolation of energy sources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Before maintenance, identify electrical, mechanical and stored energy.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equipment and prevent unintended starting.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Release pressure and secure moving parts under the established procedure.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Authorised personnel verify the absence of hazardous energy.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Stop button alone does not isolate energy.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666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Hot work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Welding, cutting and heating produce sparks and hot surfaces.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combustible materials or protect them using the specified method.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adjacent rooms, openings and concealed spaces.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Provide firefighting equipment and post-work monitoring.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Sparks can travel beyond the visible work area.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16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Equipment documentation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equipment passport identifies the device and its permitted parameters.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manufacturer's manual defines operating and maintenance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Logs preserve inspection, repair and defect records.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Establish unknown parameters before operating equipment.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nearby device's parameters cannot replace the equipment passport.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561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Lifting equipment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Cranes, hoists and other lifting devices have different applications.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Slings, lifting beams and containers form part of the lifting system.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Equipment selection depends on load mass, the work zone and installation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Plan the operation using the equipment passport and lifting procedure.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Safe lifting depends on the entire system.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71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Lifting equipment passport and markings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the equipment type and identification number.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lifting capacity, installation conditions and manufacturer restrictions.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inspection records and authorisation for use.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Clarify illegible or contradictory markings.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Verify lifting capacity for the actual operating conditions.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84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Recording and maintaining lifting equipment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State registration or internal recording requirements depend on the device type.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Exemption from state registration does not remove control obligations.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Maintain and repair equipment according to the established schedule.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Document inspections and the correction of defects.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Internal records also require clear responsibility.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96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Responsibilities during crane operations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Supervision oversees safe operation.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person responsible for serviceable condition organises maintenance and repair.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person responsible for load handling organises the safe lifting operation.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crane operator and slinger fulfil their duties and use agreed signals.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Responsibilities must be understood before lifting begins.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55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Preparing a lift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Determine the load mass, centre of gravity and attachment points.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equipment and accessories with suitable characteristics.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the route, landing area and absence of people.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Agree on communication between participants.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Establish an unknown load mass before lifting.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05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Slings and lifting accessories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identification and suitability for the chosen lifting arrangement.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 ropes, chains, sling legs, hooks and connections.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damaged or unidentifiable accessories from service.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Protect load edges using the specified padding.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knot in a sling is not a repair.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25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Lifting danger zone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Keep people out of the area where a load could fall or move.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allow anyone beneath a suspended load.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guide a load by hand while positioned between it and an obstacle.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Maintain the zone boundaries throughout the operation.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short lift presents the same hazard.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09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Signals and stopping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Agree on clear signals and the communication method in advance.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movement if communication is lost.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stop signal concerning danger to people requires an immediate response.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Resume only after the cause is resolved and actions are coordinated.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Do not guess the meaning of an unclear signal.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33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Inspection of lifting equipment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Shift inspections, maintenance and technical examinations serve different purposes.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the structure, mechanisms, brakes and protective devices.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Determine intervals and scope from the applicable rules and equipment documentation.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bypass a defective limiter to finish a shift.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Protective devices are part of the conditions for safe operation.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17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Testing and repairing lifting equipment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Qualified specialists conduct tests under the established programme.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test load does not authorise overloads during normal operation.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Certain repairs or modifications require additional examination.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Record the results and authorisation for continued operation.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trial lift cannot replace the required post-repair examination.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57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Welded joints in lifting equipment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Repair safety-critical components using an established procedure.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Determine welder, material and inspection requirements for the structure.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Cracks, deformation and unacceptable defects require specialist assessment.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Unauthorised welding can alter structural behaviour.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Repair of a load-bearing structure requires a specific decision.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77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Scenario: a damaged sling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sling is defective, but the load must be moved urgently.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begin the lift; notify the responsible person.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Prevent further issue of the accessory pending the required decision.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Continue with suitable, serviceable equipment.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Urgency does not change acceptance criteria.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29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Pressure equipment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Boilers, vessels, pipelines and cylinders contain stored energy.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Loss of containment can cause a release, burns or harmful exposure.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Risk depends on pressure, temperature and the working medium.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Operate each device within its established limits.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small vessel is not necessarily a low-hazard vessel.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804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Operating and design parameters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Operating, design, permitted and test pressures serve different purposes.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Test pressure applies to an established test procedure.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the documented and authorised operating limits.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Observe temperature restrictions and medium compatibility.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test parameter is not an operating parameter.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741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Vessel classification and applicable rules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Classification depends on parameters and the nature of the medium.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Pressure alone is insufficient for a universal assessment.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specialist determines applicable requirements and inspection scope.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Operators use the established restrictions for their own equipment.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Classification affects inspection and documentation.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84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Protective devices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Safety devices limit dangerous parameter exceedances.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Their condition and settings require established checks.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bypass, blank off or alter protection without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Investigate the cause of a protective trip.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Protection is not intended to compensate continually for an incorrect operating mode.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91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Monitoring pressure and temperature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Compare instrument readings with the permitted operating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for visible damage and unreliable readings.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Replace a faulty instrument under the established procedure.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Respond to leakage, vibration or unusual noise as instructed.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One normal reading is insufficient when other danger signs are present.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14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Starting and monitoring operation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Confirm equipment readiness and authorisation before starting.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Check valves, protection and the required instruments.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Change parameters in the sequence specified by the instructions.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Respond to deviations as instructed; do not guess settings.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Starting after repair requires confirmed readiness.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9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Stopping and preparing for maintenance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Isolate equipment from pressure sources and hazardous media.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Release pressure and verify a safe condition.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Clean, purge and test the atmosphere where required.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Begin work after completing protective measures and authorisation.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faulty gauge reading zero does not prove safety.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13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Technical examination of vessels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Inspection and testing assess technical condition.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Intervals depend on the device and applicable requirements.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start work when an examination is overdue; notify the responsible person to arrange the examination and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Record the results in the equipment documentation.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Do not copy an inspection interval from a different vessel.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16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Compressed gas cylinders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Identify the gas using markings and documentation.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Protect cylinders against falling, heat and valve damage.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compatible regulators and serviceable connections.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Never check leaks with an open flame.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Do not connect a cylinder with uncertain identification.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Repairing and welding vessels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Repair only after safe removal from service.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procedure, personnel and inspection must suit the vessel's purpose.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weld a container with unidentified residual contents.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Return to service requires documented inspection results.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An apparently empty container may retain explosive residues.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45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Scenario: rising pressure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Pressure rises and normal control fails to restore the operating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operator follows the emergency shutdown instructions.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Move people out of danger and notify the responsible person.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bypass protection or repair equipment under pressure.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Investigate the cause after making the situation safe.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743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Electrical hazards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Current, electrical arcs and hot components can cause severe harm.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Moisture, damaged insulation and conductive surfaces increase danger.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absence of sparks or noise does not establish absence of voltage.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Restrict access to electrical installations under the established procedure.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Voltage can remain dangerous without any advance sensation.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7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Personnel categories and authority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Duties and electrical safety qualification groups determine permitted actions.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group does not authorise every task without an assignment and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Only authorised personnel connect, repair and switch equipment.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Learners must remain within the limits of their preparation.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Knowing a term does not authorise an operation.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195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Organising work in electrical installations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Determine the required form of authorisation for the specific task.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Appoint responsible persons and the work team.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person admitting the team checks workplace preparation and gives a briefing.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Record breaks, relocation and completion under the established procedure.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actual work must match the assigned task.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79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with voltage removed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Authorised personnel carry out the necessary disconnections.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They prevent unintended energisation and display prohibition notices.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They verify absence of voltage and install the required earthing.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They install the necessary barriers and other notices.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Disconnecting and verifying absence of voltage are different actions.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48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Earthing and protective conductors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protective conductor is part of the shock-protection system.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Repair damaged connections before work.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replace a protective conductor with an improvised metal connection.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Specialists carry out checks and repairs.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An intact-looking enclosure does not prove effective protection.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059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Portable equipment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Inspect the enclosure, cable, plug and connections before use.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equipment for the environment and follow its instructions.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using equipment with a damaged cable or signs of overheating.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An improvised connection does not replace a serviceable assembly.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Check condition before switching 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74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Electrical protective equipment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protection for the voltage and nature of the work.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Before use, check integrity and required test markings.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use damaged equipment or equipment with overdue tests.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PPE does not permit bypassing organisational measures.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An unknown test date requires verification.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37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near live parts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Determine boundaries and safe distances for the actual installation.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Maintain them for tools, loads and equipment parts as well as people.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move barriers without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If conditions change, stop work until protective measures are reviewed.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Dangerous approach does not require direct contact.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419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Returning electrical equipment to service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completion and removal of people from the danger zone.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Remove temporary protective measures in the established sequence.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Record completion and authorisation to energise.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Authorised personnel carry out energisation.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trial start requires the same safety controls.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873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Scenario: a damaged cable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 portable tool has an exposed conductor.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using it and prevent further energisation.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Notify the responsible person to arrange repair or replacement.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touch the damage or repair the cable while energised.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Applying tape alone does not authorise continued use.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105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Emergency notification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Report the location, hazard and known information about casualties.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the site's established communication channels; call 112 or 101 where needed.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delay reporting while independently searching for the cause.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Warn nearby people without exposing yourself to danger.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report must enable responders to locate the danger quickly.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404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Evacuation and assembly point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a safe escape route appropriate to the hazard.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return for belongings or enter a closed-off zone.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At the assembly point, report your presence and known missing persons.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Return only when authorised after conditions have been assessed.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Report immediately if a person's whereabouts are unknown.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080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Safety when giving assistance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First make sure the rescuer is not exposed to danger.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Call emergency services and describe the situation.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Act within your training and follow the dispatcher's instructions.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Do not enter a hazardous atmosphere or touch an energised casualty without appropriate protection.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second casualty makes rescue more difficult.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55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Reviewing an event and restarting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Preserve information about signs, timing and circumstances.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Establish causes from facts, including organisational conditions.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Verify corrective measures before resuming work.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Inform personnel about changes to instructions and equipment.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Restart requires correction of the cause, not just the consequences.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067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Final knowledge assessment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requires a clear task, serviceable equipment and valid authorisation.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Lifting defects, pressure leaks and electrical damage require timely stopping.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Emergency actions begin with protecting people and raising the alarm.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Select Start test.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If conditions are uncertain, wait for verification before working.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en-US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Industrial Safety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966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3875</Words>
  <Application>Microsoft Office PowerPoint</Application>
  <DocSecurity>0</DocSecurity>
  <PresentationFormat>Широкоэкранный</PresentationFormat>
  <Paragraphs>584</Paragraphs>
  <Slides>55</Slides>
  <Notes>55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55</vt:i4>
      </vt:variant>
    </vt:vector>
  </HeadingPairs>
  <TitlesOfParts>
    <vt:vector size="59" baseType="lpstr">
      <vt:lpstr>Aptos</vt:lpstr>
      <vt:lpstr>Arial</vt:lpstr>
      <vt:lpstr>ChatGPT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sick ness</cp:lastModifiedBy>
  <cp:revision>1</cp:revision>
  <dcterms:created xsi:type="dcterms:W3CDTF">2026-08-25T14:17:56Z</dcterms:created>
  <dcterms:modified xsi:type="dcterms:W3CDTF">2026-09-19T10:48:07Z</dcterms:modified>
</cp:coreProperties>
</file>