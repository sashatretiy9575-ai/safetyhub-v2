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33dcf9e6c944ab" /><Relationship Type="http://schemas.openxmlformats.org/officeDocument/2006/relationships/extended-properties" Target="/docProps/app.xml" Id="R29b4e652f60844b3" /><Relationship Type="http://schemas.openxmlformats.org/officeDocument/2006/relationships/officeDocument" Target="/ppt/presentation.xml" Id="Rc5e21c28067640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0e6208e6ab4fdd"/>
    <p:sldMasterId xmlns:r="http://schemas.openxmlformats.org/officeDocument/2006/relationships" id="2147483650" r:id="Rfc8a638b68fa4455"/>
  </p:sldMasterIdLst>
  <p:notesMasterIdLst>
    <p:notesMasterId xmlns:r="http://schemas.openxmlformats.org/officeDocument/2006/relationships" r:id="R7bde9983f5e54a25"/>
  </p:notesMasterIdLst>
  <p:sldIdLst>
    <p:sldId xmlns:r="http://schemas.openxmlformats.org/officeDocument/2006/relationships" id="256" r:id="Rc13ebd1cfc024408"/>
    <p:sldId xmlns:r="http://schemas.openxmlformats.org/officeDocument/2006/relationships" id="257" r:id="R1f6afd7db27c4777"/>
    <p:sldId xmlns:r="http://schemas.openxmlformats.org/officeDocument/2006/relationships" id="258" r:id="R30f0a394355f4f75"/>
    <p:sldId xmlns:r="http://schemas.openxmlformats.org/officeDocument/2006/relationships" id="259" r:id="R885370f655ff4e8a"/>
    <p:sldId xmlns:r="http://schemas.openxmlformats.org/officeDocument/2006/relationships" id="260" r:id="Ra18ff2f184894bd2"/>
    <p:sldId xmlns:r="http://schemas.openxmlformats.org/officeDocument/2006/relationships" id="261" r:id="Rb952bac8f3534bbd"/>
    <p:sldId xmlns:r="http://schemas.openxmlformats.org/officeDocument/2006/relationships" id="262" r:id="R16453c1b27a34ba4"/>
    <p:sldId xmlns:r="http://schemas.openxmlformats.org/officeDocument/2006/relationships" id="263" r:id="Rd7bc2bf013444845"/>
    <p:sldId xmlns:r="http://schemas.openxmlformats.org/officeDocument/2006/relationships" id="264" r:id="R38a3a075ec2f4d11"/>
    <p:sldId xmlns:r="http://schemas.openxmlformats.org/officeDocument/2006/relationships" id="265" r:id="Rbd5b782942a14aae"/>
    <p:sldId xmlns:r="http://schemas.openxmlformats.org/officeDocument/2006/relationships" id="266" r:id="R04505292a15d43d8"/>
    <p:sldId xmlns:r="http://schemas.openxmlformats.org/officeDocument/2006/relationships" id="267" r:id="Rbce99c9854674388"/>
    <p:sldId xmlns:r="http://schemas.openxmlformats.org/officeDocument/2006/relationships" id="268" r:id="R3761c07720d04963"/>
    <p:sldId xmlns:r="http://schemas.openxmlformats.org/officeDocument/2006/relationships" id="269" r:id="R952bb56ce17b4f3d"/>
    <p:sldId xmlns:r="http://schemas.openxmlformats.org/officeDocument/2006/relationships" id="270" r:id="Rb50b331731004383"/>
    <p:sldId xmlns:r="http://schemas.openxmlformats.org/officeDocument/2006/relationships" id="271" r:id="Racde13d613034c90"/>
    <p:sldId xmlns:r="http://schemas.openxmlformats.org/officeDocument/2006/relationships" id="272" r:id="R0b33ea302bca4e90"/>
    <p:sldId xmlns:r="http://schemas.openxmlformats.org/officeDocument/2006/relationships" id="273" r:id="Rd08594c293554707"/>
    <p:sldId xmlns:r="http://schemas.openxmlformats.org/officeDocument/2006/relationships" id="274" r:id="R6b28fe95db7d4ec0"/>
    <p:sldId xmlns:r="http://schemas.openxmlformats.org/officeDocument/2006/relationships" id="275" r:id="Rc55f955c13ac4cc6"/>
    <p:sldId xmlns:r="http://schemas.openxmlformats.org/officeDocument/2006/relationships" id="276" r:id="Rd740101ad7784a7c"/>
    <p:sldId xmlns:r="http://schemas.openxmlformats.org/officeDocument/2006/relationships" id="277" r:id="R1af8764a5ef642c5"/>
    <p:sldId xmlns:r="http://schemas.openxmlformats.org/officeDocument/2006/relationships" id="278" r:id="Re8bc4a5ffd484b8b"/>
    <p:sldId xmlns:r="http://schemas.openxmlformats.org/officeDocument/2006/relationships" id="279" r:id="Radd49fa7070249bc"/>
    <p:sldId xmlns:r="http://schemas.openxmlformats.org/officeDocument/2006/relationships" id="280" r:id="R8cfbd070d9c8431d"/>
    <p:sldId xmlns:r="http://schemas.openxmlformats.org/officeDocument/2006/relationships" id="281" r:id="Rc5b2d22f49674633"/>
    <p:sldId xmlns:r="http://schemas.openxmlformats.org/officeDocument/2006/relationships" id="282" r:id="Rc9902c5930e64990"/>
    <p:sldId xmlns:r="http://schemas.openxmlformats.org/officeDocument/2006/relationships" id="283" r:id="R444b3e2930ae4f0c"/>
    <p:sldId xmlns:r="http://schemas.openxmlformats.org/officeDocument/2006/relationships" id="284" r:id="R5df224e7fca14a8c"/>
    <p:sldId xmlns:r="http://schemas.openxmlformats.org/officeDocument/2006/relationships" id="285" r:id="R182b87186ffa4994"/>
    <p:sldId xmlns:r="http://schemas.openxmlformats.org/officeDocument/2006/relationships" id="286" r:id="Ra1141396c0134f82"/>
    <p:sldId xmlns:r="http://schemas.openxmlformats.org/officeDocument/2006/relationships" id="287" r:id="Rbc244895031a44bd"/>
    <p:sldId xmlns:r="http://schemas.openxmlformats.org/officeDocument/2006/relationships" id="288" r:id="Rceda3240ecb943f2"/>
    <p:sldId xmlns:r="http://schemas.openxmlformats.org/officeDocument/2006/relationships" id="289" r:id="R8b4936f756504142"/>
    <p:sldId xmlns:r="http://schemas.openxmlformats.org/officeDocument/2006/relationships" id="290" r:id="R87b9c4b9c04d4e67"/>
    <p:sldId xmlns:r="http://schemas.openxmlformats.org/officeDocument/2006/relationships" id="291" r:id="R499d36bd33ab4b39"/>
    <p:sldId xmlns:r="http://schemas.openxmlformats.org/officeDocument/2006/relationships" id="292" r:id="R0ce8e6898fcb4941"/>
    <p:sldId xmlns:r="http://schemas.openxmlformats.org/officeDocument/2006/relationships" id="293" r:id="Rc0a0538b60fc41f0"/>
    <p:sldId xmlns:r="http://schemas.openxmlformats.org/officeDocument/2006/relationships" id="294" r:id="Rebe42675e2c54c9e"/>
    <p:sldId xmlns:r="http://schemas.openxmlformats.org/officeDocument/2006/relationships" id="295" r:id="R7e6bfdd718a94b0e"/>
    <p:sldId xmlns:r="http://schemas.openxmlformats.org/officeDocument/2006/relationships" id="296" r:id="Re1511f1d953f4329"/>
    <p:sldId xmlns:r="http://schemas.openxmlformats.org/officeDocument/2006/relationships" id="297" r:id="R0ca92c7a32404ad5"/>
    <p:sldId xmlns:r="http://schemas.openxmlformats.org/officeDocument/2006/relationships" id="298" r:id="R37c81e224cc44619"/>
    <p:sldId xmlns:r="http://schemas.openxmlformats.org/officeDocument/2006/relationships" id="299" r:id="R1addd367ad004b90"/>
    <p:sldId xmlns:r="http://schemas.openxmlformats.org/officeDocument/2006/relationships" id="300" r:id="Rfc14d1913ed341a7"/>
    <p:sldId xmlns:r="http://schemas.openxmlformats.org/officeDocument/2006/relationships" id="301" r:id="Re252f25f46b343c2"/>
    <p:sldId xmlns:r="http://schemas.openxmlformats.org/officeDocument/2006/relationships" id="302" r:id="Re839e0eb256a43bc"/>
    <p:sldId xmlns:r="http://schemas.openxmlformats.org/officeDocument/2006/relationships" id="303" r:id="Rd0c5c563d56e4dd4"/>
    <p:sldId xmlns:r="http://schemas.openxmlformats.org/officeDocument/2006/relationships" id="304" r:id="R89614c0a5f684919"/>
    <p:sldId xmlns:r="http://schemas.openxmlformats.org/officeDocument/2006/relationships" id="305" r:id="Rb48475a9ce32464e"/>
    <p:sldId xmlns:r="http://schemas.openxmlformats.org/officeDocument/2006/relationships" id="306" r:id="Rd93fa9e1ab38462c"/>
    <p:sldId xmlns:r="http://schemas.openxmlformats.org/officeDocument/2006/relationships" id="307" r:id="Rf75ebac31bee48bb"/>
    <p:sldId xmlns:r="http://schemas.openxmlformats.org/officeDocument/2006/relationships" id="308" r:id="Rab57676cb22e460a"/>
    <p:sldId xmlns:r="http://schemas.openxmlformats.org/officeDocument/2006/relationships" id="309" r:id="Rac9c2bbae3e8467d"/>
    <p:sldId xmlns:r="http://schemas.openxmlformats.org/officeDocument/2006/relationships" id="310" r:id="Rd05b41634d5c4702"/>
    <p:sldId xmlns:r="http://schemas.openxmlformats.org/officeDocument/2006/relationships" id="311" r:id="Rc625b020acf34642"/>
    <p:sldId xmlns:r="http://schemas.openxmlformats.org/officeDocument/2006/relationships" id="312" r:id="R1e3e4bac837a4520"/>
    <p:sldId xmlns:r="http://schemas.openxmlformats.org/officeDocument/2006/relationships" id="313" r:id="R905654212f5f4186"/>
    <p:sldId xmlns:r="http://schemas.openxmlformats.org/officeDocument/2006/relationships" id="314" r:id="Rcfd461988044469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143e1b72de4999" /><Relationship Type="http://schemas.openxmlformats.org/officeDocument/2006/relationships/slideMaster" Target="/ppt/slideMasters/slideMaster1.xml" Id="R220e6208e6ab4fdd" /><Relationship Type="http://schemas.openxmlformats.org/officeDocument/2006/relationships/slideMaster" Target="/ppt/slideMasters/slideMaster2.xml" Id="Rfc8a638b68fa4455" /><Relationship Type="http://schemas.openxmlformats.org/officeDocument/2006/relationships/notesMaster" Target="/ppt/notesMasters/notesMaster1.xml" Id="R7bde9983f5e54a25" /><Relationship Type="http://schemas.openxmlformats.org/officeDocument/2006/relationships/presProps" Target="/ppt/presProps.xml" Id="R48650bf7c4684274" /><Relationship Type="http://schemas.openxmlformats.org/officeDocument/2006/relationships/tableStyles" Target="/ppt/tableStyles.xml" Id="Rc370981f72144542" /><Relationship Type="http://schemas.openxmlformats.org/officeDocument/2006/relationships/slide" Target="/ppt/slides/slide1.xml" Id="Rc13ebd1cfc024408" /><Relationship Type="http://schemas.openxmlformats.org/officeDocument/2006/relationships/slide" Target="/ppt/slides/slide2.xml" Id="R1f6afd7db27c4777" /><Relationship Type="http://schemas.openxmlformats.org/officeDocument/2006/relationships/slide" Target="/ppt/slides/slide3.xml" Id="R30f0a394355f4f75" /><Relationship Type="http://schemas.openxmlformats.org/officeDocument/2006/relationships/slide" Target="/ppt/slides/slide4.xml" Id="R885370f655ff4e8a" /><Relationship Type="http://schemas.openxmlformats.org/officeDocument/2006/relationships/slide" Target="/ppt/slides/slide5.xml" Id="Ra18ff2f184894bd2" /><Relationship Type="http://schemas.openxmlformats.org/officeDocument/2006/relationships/slide" Target="/ppt/slides/slide6.xml" Id="Rb952bac8f3534bbd" /><Relationship Type="http://schemas.openxmlformats.org/officeDocument/2006/relationships/slide" Target="/ppt/slides/slide7.xml" Id="R16453c1b27a34ba4" /><Relationship Type="http://schemas.openxmlformats.org/officeDocument/2006/relationships/slide" Target="/ppt/slides/slide8.xml" Id="Rd7bc2bf013444845" /><Relationship Type="http://schemas.openxmlformats.org/officeDocument/2006/relationships/slide" Target="/ppt/slides/slide9.xml" Id="R38a3a075ec2f4d11" /><Relationship Type="http://schemas.openxmlformats.org/officeDocument/2006/relationships/slide" Target="/ppt/slides/slide10.xml" Id="Rbd5b782942a14aae" /><Relationship Type="http://schemas.openxmlformats.org/officeDocument/2006/relationships/slide" Target="/ppt/slides/slide11.xml" Id="R04505292a15d43d8" /><Relationship Type="http://schemas.openxmlformats.org/officeDocument/2006/relationships/slide" Target="/ppt/slides/slide12.xml" Id="Rbce99c9854674388" /><Relationship Type="http://schemas.openxmlformats.org/officeDocument/2006/relationships/slide" Target="/ppt/slides/slide13.xml" Id="R3761c07720d04963" /><Relationship Type="http://schemas.openxmlformats.org/officeDocument/2006/relationships/slide" Target="/ppt/slides/slide14.xml" Id="R952bb56ce17b4f3d" /><Relationship Type="http://schemas.openxmlformats.org/officeDocument/2006/relationships/slide" Target="/ppt/slides/slide15.xml" Id="Rb50b331731004383" /><Relationship Type="http://schemas.openxmlformats.org/officeDocument/2006/relationships/slide" Target="/ppt/slides/slide16.xml" Id="Racde13d613034c90" /><Relationship Type="http://schemas.openxmlformats.org/officeDocument/2006/relationships/slide" Target="/ppt/slides/slide17.xml" Id="R0b33ea302bca4e90" /><Relationship Type="http://schemas.openxmlformats.org/officeDocument/2006/relationships/slide" Target="/ppt/slides/slide18.xml" Id="Rd08594c293554707" /><Relationship Type="http://schemas.openxmlformats.org/officeDocument/2006/relationships/slide" Target="/ppt/slides/slide19.xml" Id="R6b28fe95db7d4ec0" /><Relationship Type="http://schemas.openxmlformats.org/officeDocument/2006/relationships/slide" Target="/ppt/slides/slide20.xml" Id="Rc55f955c13ac4cc6" /><Relationship Type="http://schemas.openxmlformats.org/officeDocument/2006/relationships/slide" Target="/ppt/slides/slide21.xml" Id="Rd740101ad7784a7c" /><Relationship Type="http://schemas.openxmlformats.org/officeDocument/2006/relationships/slide" Target="/ppt/slides/slide22.xml" Id="R1af8764a5ef642c5" /><Relationship Type="http://schemas.openxmlformats.org/officeDocument/2006/relationships/slide" Target="/ppt/slides/slide23.xml" Id="Re8bc4a5ffd484b8b" /><Relationship Type="http://schemas.openxmlformats.org/officeDocument/2006/relationships/slide" Target="/ppt/slides/slide24.xml" Id="Radd49fa7070249bc" /><Relationship Type="http://schemas.openxmlformats.org/officeDocument/2006/relationships/slide" Target="/ppt/slides/slide25.xml" Id="R8cfbd070d9c8431d" /><Relationship Type="http://schemas.openxmlformats.org/officeDocument/2006/relationships/slide" Target="/ppt/slides/slide26.xml" Id="Rc5b2d22f49674633" /><Relationship Type="http://schemas.openxmlformats.org/officeDocument/2006/relationships/slide" Target="/ppt/slides/slide27.xml" Id="Rc9902c5930e64990" /><Relationship Type="http://schemas.openxmlformats.org/officeDocument/2006/relationships/slide" Target="/ppt/slides/slide28.xml" Id="R444b3e2930ae4f0c" /><Relationship Type="http://schemas.openxmlformats.org/officeDocument/2006/relationships/slide" Target="/ppt/slides/slide29.xml" Id="R5df224e7fca14a8c" /><Relationship Type="http://schemas.openxmlformats.org/officeDocument/2006/relationships/slide" Target="/ppt/slides/slide30.xml" Id="R182b87186ffa4994" /><Relationship Type="http://schemas.openxmlformats.org/officeDocument/2006/relationships/slide" Target="/ppt/slides/slide31.xml" Id="Ra1141396c0134f82" /><Relationship Type="http://schemas.openxmlformats.org/officeDocument/2006/relationships/slide" Target="/ppt/slides/slide32.xml" Id="Rbc244895031a44bd" /><Relationship Type="http://schemas.openxmlformats.org/officeDocument/2006/relationships/slide" Target="/ppt/slides/slide33.xml" Id="Rceda3240ecb943f2" /><Relationship Type="http://schemas.openxmlformats.org/officeDocument/2006/relationships/slide" Target="/ppt/slides/slide34.xml" Id="R8b4936f756504142" /><Relationship Type="http://schemas.openxmlformats.org/officeDocument/2006/relationships/slide" Target="/ppt/slides/slide35.xml" Id="R87b9c4b9c04d4e67" /><Relationship Type="http://schemas.openxmlformats.org/officeDocument/2006/relationships/slide" Target="/ppt/slides/slide36.xml" Id="R499d36bd33ab4b39" /><Relationship Type="http://schemas.openxmlformats.org/officeDocument/2006/relationships/slide" Target="/ppt/slides/slide37.xml" Id="R0ce8e6898fcb4941" /><Relationship Type="http://schemas.openxmlformats.org/officeDocument/2006/relationships/slide" Target="/ppt/slides/slide38.xml" Id="Rc0a0538b60fc41f0" /><Relationship Type="http://schemas.openxmlformats.org/officeDocument/2006/relationships/slide" Target="/ppt/slides/slide39.xml" Id="Rebe42675e2c54c9e" /><Relationship Type="http://schemas.openxmlformats.org/officeDocument/2006/relationships/slide" Target="/ppt/slides/slide40.xml" Id="R7e6bfdd718a94b0e" /><Relationship Type="http://schemas.openxmlformats.org/officeDocument/2006/relationships/slide" Target="/ppt/slides/slide41.xml" Id="Re1511f1d953f4329" /><Relationship Type="http://schemas.openxmlformats.org/officeDocument/2006/relationships/slide" Target="/ppt/slides/slide42.xml" Id="R0ca92c7a32404ad5" /><Relationship Type="http://schemas.openxmlformats.org/officeDocument/2006/relationships/slide" Target="/ppt/slides/slide43.xml" Id="R37c81e224cc44619" /><Relationship Type="http://schemas.openxmlformats.org/officeDocument/2006/relationships/slide" Target="/ppt/slides/slide44.xml" Id="R1addd367ad004b90" /><Relationship Type="http://schemas.openxmlformats.org/officeDocument/2006/relationships/slide" Target="/ppt/slides/slide45.xml" Id="Rfc14d1913ed341a7" /><Relationship Type="http://schemas.openxmlformats.org/officeDocument/2006/relationships/slide" Target="/ppt/slides/slide46.xml" Id="Re252f25f46b343c2" /><Relationship Type="http://schemas.openxmlformats.org/officeDocument/2006/relationships/slide" Target="/ppt/slides/slide47.xml" Id="Re839e0eb256a43bc" /><Relationship Type="http://schemas.openxmlformats.org/officeDocument/2006/relationships/slide" Target="/ppt/slides/slide48.xml" Id="Rd0c5c563d56e4dd4" /><Relationship Type="http://schemas.openxmlformats.org/officeDocument/2006/relationships/slide" Target="/ppt/slides/slide49.xml" Id="R89614c0a5f684919" /><Relationship Type="http://schemas.openxmlformats.org/officeDocument/2006/relationships/slide" Target="/ppt/slides/slide50.xml" Id="Rb48475a9ce32464e" /><Relationship Type="http://schemas.openxmlformats.org/officeDocument/2006/relationships/slide" Target="/ppt/slides/slide51.xml" Id="Rd93fa9e1ab38462c" /><Relationship Type="http://schemas.openxmlformats.org/officeDocument/2006/relationships/slide" Target="/ppt/slides/slide52.xml" Id="Rf75ebac31bee48bb" /><Relationship Type="http://schemas.openxmlformats.org/officeDocument/2006/relationships/slide" Target="/ppt/slides/slide53.xml" Id="Rab57676cb22e460a" /><Relationship Type="http://schemas.openxmlformats.org/officeDocument/2006/relationships/slide" Target="/ppt/slides/slide54.xml" Id="Rac9c2bbae3e8467d" /><Relationship Type="http://schemas.openxmlformats.org/officeDocument/2006/relationships/slide" Target="/ppt/slides/slide55.xml" Id="Rd05b41634d5c4702" /><Relationship Type="http://schemas.openxmlformats.org/officeDocument/2006/relationships/slide" Target="/ppt/slides/slide56.xml" Id="Rc625b020acf34642" /><Relationship Type="http://schemas.openxmlformats.org/officeDocument/2006/relationships/slide" Target="/ppt/slides/slide57.xml" Id="R1e3e4bac837a4520" /><Relationship Type="http://schemas.openxmlformats.org/officeDocument/2006/relationships/slide" Target="/ppt/slides/slide58.xml" Id="R905654212f5f4186" /><Relationship Type="http://schemas.openxmlformats.org/officeDocument/2006/relationships/slide" Target="/ppt/slides/slide59.xml" Id="Rcfd46198804446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ed3d19f2d2a447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57598155b94332" /><Relationship Type="http://schemas.openxmlformats.org/officeDocument/2006/relationships/notesMaster" Target="/ppt/notesMasters/notesMaster1.xml" Id="R55d8e1e9270547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b81c12e2d84d64" /><Relationship Type="http://schemas.openxmlformats.org/officeDocument/2006/relationships/notesMaster" Target="/ppt/notesMasters/notesMaster1.xml" Id="R3b55076c70df425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a2c8ed2a594ead" /><Relationship Type="http://schemas.openxmlformats.org/officeDocument/2006/relationships/notesMaster" Target="/ppt/notesMasters/notesMaster1.xml" Id="R1aeea18c1d4f4f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d6a9f4692e1441f" /><Relationship Type="http://schemas.openxmlformats.org/officeDocument/2006/relationships/notesMaster" Target="/ppt/notesMasters/notesMaster1.xml" Id="R826e4f96a12147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1beda9933564afd" /><Relationship Type="http://schemas.openxmlformats.org/officeDocument/2006/relationships/notesMaster" Target="/ppt/notesMasters/notesMaster1.xml" Id="R9727fe3c9945427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456cfdc092e4102" /><Relationship Type="http://schemas.openxmlformats.org/officeDocument/2006/relationships/notesMaster" Target="/ppt/notesMasters/notesMaster1.xml" Id="Re065184124d2422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5f9a6c7673b4726" /><Relationship Type="http://schemas.openxmlformats.org/officeDocument/2006/relationships/notesMaster" Target="/ppt/notesMasters/notesMaster1.xml" Id="Rb351e9bc7aad4ff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334421903d94ff5" /><Relationship Type="http://schemas.openxmlformats.org/officeDocument/2006/relationships/notesMaster" Target="/ppt/notesMasters/notesMaster1.xml" Id="Reb7e22801ae640c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3430c47ccf44abe" /><Relationship Type="http://schemas.openxmlformats.org/officeDocument/2006/relationships/notesMaster" Target="/ppt/notesMasters/notesMaster1.xml" Id="R1c1f8bdd1c19470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3766f53141f425e" /><Relationship Type="http://schemas.openxmlformats.org/officeDocument/2006/relationships/notesMaster" Target="/ppt/notesMasters/notesMaster1.xml" Id="Rbb7e4705e45b4d0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385cf4ce2334267" /><Relationship Type="http://schemas.openxmlformats.org/officeDocument/2006/relationships/notesMaster" Target="/ppt/notesMasters/notesMaster1.xml" Id="Rb38884394c40467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f834e5ef21a4ce9" /><Relationship Type="http://schemas.openxmlformats.org/officeDocument/2006/relationships/notesMaster" Target="/ppt/notesMasters/notesMaster1.xml" Id="R6905f32a5cf3460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69de6e6f62d45c1" /><Relationship Type="http://schemas.openxmlformats.org/officeDocument/2006/relationships/notesMaster" Target="/ppt/notesMasters/notesMaster1.xml" Id="R024a7e45642748c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c670a86fd684010" /><Relationship Type="http://schemas.openxmlformats.org/officeDocument/2006/relationships/notesMaster" Target="/ppt/notesMasters/notesMaster1.xml" Id="R4497faa753fa4c4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f525d0486354784" /><Relationship Type="http://schemas.openxmlformats.org/officeDocument/2006/relationships/notesMaster" Target="/ppt/notesMasters/notesMaster1.xml" Id="R56dfc96d9982425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14d7bec698e477a" /><Relationship Type="http://schemas.openxmlformats.org/officeDocument/2006/relationships/notesMaster" Target="/ppt/notesMasters/notesMaster1.xml" Id="Rafb9095f8490453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931f58ba3b14dc6" /><Relationship Type="http://schemas.openxmlformats.org/officeDocument/2006/relationships/notesMaster" Target="/ppt/notesMasters/notesMaster1.xml" Id="Red12d7cd35c54d3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11d67f367a0449e" /><Relationship Type="http://schemas.openxmlformats.org/officeDocument/2006/relationships/notesMaster" Target="/ppt/notesMasters/notesMaster1.xml" Id="R58b0fe2a36c345d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95658d2a82c4e3e" /><Relationship Type="http://schemas.openxmlformats.org/officeDocument/2006/relationships/notesMaster" Target="/ppt/notesMasters/notesMaster1.xml" Id="Ra1a7d64a5a14426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46ea9a482c94bed" /><Relationship Type="http://schemas.openxmlformats.org/officeDocument/2006/relationships/notesMaster" Target="/ppt/notesMasters/notesMaster1.xml" Id="R69f0eaa930bb44e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e5b0e2c8b704836" /><Relationship Type="http://schemas.openxmlformats.org/officeDocument/2006/relationships/notesMaster" Target="/ppt/notesMasters/notesMaster1.xml" Id="R9a46cdca340c44a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5798246f6a8497c" /><Relationship Type="http://schemas.openxmlformats.org/officeDocument/2006/relationships/notesMaster" Target="/ppt/notesMasters/notesMaster1.xml" Id="Rf111beea2f0142f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a61a3d9431a4a4f" /><Relationship Type="http://schemas.openxmlformats.org/officeDocument/2006/relationships/notesMaster" Target="/ppt/notesMasters/notesMaster1.xml" Id="R9697db059ea0434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ac9372bc2464697" /><Relationship Type="http://schemas.openxmlformats.org/officeDocument/2006/relationships/notesMaster" Target="/ppt/notesMasters/notesMaster1.xml" Id="R2df9aba2b0dd4c5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307524dabda49f9" /><Relationship Type="http://schemas.openxmlformats.org/officeDocument/2006/relationships/notesMaster" Target="/ppt/notesMasters/notesMaster1.xml" Id="Rf60124d931ce425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99536c0482a4815" /><Relationship Type="http://schemas.openxmlformats.org/officeDocument/2006/relationships/notesMaster" Target="/ppt/notesMasters/notesMaster1.xml" Id="Rc4a2c058fa594c2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c073400340f496d" /><Relationship Type="http://schemas.openxmlformats.org/officeDocument/2006/relationships/notesMaster" Target="/ppt/notesMasters/notesMaster1.xml" Id="Rbc3d20eafff64bd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506a204b2e74cfa" /><Relationship Type="http://schemas.openxmlformats.org/officeDocument/2006/relationships/notesMaster" Target="/ppt/notesMasters/notesMaster1.xml" Id="R2d725055c025446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a8b024b50fe4361" /><Relationship Type="http://schemas.openxmlformats.org/officeDocument/2006/relationships/notesMaster" Target="/ppt/notesMasters/notesMaster1.xml" Id="R626826f9ff5d477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63fcc849db241ef" /><Relationship Type="http://schemas.openxmlformats.org/officeDocument/2006/relationships/notesMaster" Target="/ppt/notesMasters/notesMaster1.xml" Id="R3e0760babc5248b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cacc1e330da4754" /><Relationship Type="http://schemas.openxmlformats.org/officeDocument/2006/relationships/notesMaster" Target="/ppt/notesMasters/notesMaster1.xml" Id="R038f3ea8c5cd47f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44ed2e4e04440c1" /><Relationship Type="http://schemas.openxmlformats.org/officeDocument/2006/relationships/notesMaster" Target="/ppt/notesMasters/notesMaster1.xml" Id="Re4605cc2d57e414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1324373da3a140f0" /><Relationship Type="http://schemas.openxmlformats.org/officeDocument/2006/relationships/notesMaster" Target="/ppt/notesMasters/notesMaster1.xml" Id="Rfa8397c99b7647cd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2306e27d0284e35" /><Relationship Type="http://schemas.openxmlformats.org/officeDocument/2006/relationships/notesMaster" Target="/ppt/notesMasters/notesMaster1.xml" Id="R65a86a64162d4563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7a8ac6023e8c4dd0" /><Relationship Type="http://schemas.openxmlformats.org/officeDocument/2006/relationships/notesMaster" Target="/ppt/notesMasters/notesMaster1.xml" Id="R68aecdf110074fe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0dc9b7125f954f30" /><Relationship Type="http://schemas.openxmlformats.org/officeDocument/2006/relationships/notesMaster" Target="/ppt/notesMasters/notesMaster1.xml" Id="R9da1cdf6737f4363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91c63ab63bd4a3d" /><Relationship Type="http://schemas.openxmlformats.org/officeDocument/2006/relationships/notesMaster" Target="/ppt/notesMasters/notesMaster1.xml" Id="R31305d71464e464a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fd72405d51b64e1f" /><Relationship Type="http://schemas.openxmlformats.org/officeDocument/2006/relationships/notesMaster" Target="/ppt/notesMasters/notesMaster1.xml" Id="R8ef21c08d2e84caf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7c6cf6ebba504911" /><Relationship Type="http://schemas.openxmlformats.org/officeDocument/2006/relationships/notesMaster" Target="/ppt/notesMasters/notesMaster1.xml" Id="R7df5fed4f8b3463a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c7c1ff20be654a80" /><Relationship Type="http://schemas.openxmlformats.org/officeDocument/2006/relationships/notesMaster" Target="/ppt/notesMasters/notesMaster1.xml" Id="R9ac508c07cba4790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c1c79581882f41c5" /><Relationship Type="http://schemas.openxmlformats.org/officeDocument/2006/relationships/notesMaster" Target="/ppt/notesMasters/notesMaster1.xml" Id="R11572927e7ba4b47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f60cd98c1edb46c4" /><Relationship Type="http://schemas.openxmlformats.org/officeDocument/2006/relationships/notesMaster" Target="/ppt/notesMasters/notesMaster1.xml" Id="R0d5f6adfc685489c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7b5cced336ca44a5" /><Relationship Type="http://schemas.openxmlformats.org/officeDocument/2006/relationships/notesMaster" Target="/ppt/notesMasters/notesMaster1.xml" Id="R9fec70e6d2d7454f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827ceea95d5e4095" /><Relationship Type="http://schemas.openxmlformats.org/officeDocument/2006/relationships/notesMaster" Target="/ppt/notesMasters/notesMaster1.xml" Id="R09c77f98e1de4b6f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c369a12d3e9f492a" /><Relationship Type="http://schemas.openxmlformats.org/officeDocument/2006/relationships/notesMaster" Target="/ppt/notesMasters/notesMaster1.xml" Id="R7c88cf13c2754040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b8a67dbd913541d8" /><Relationship Type="http://schemas.openxmlformats.org/officeDocument/2006/relationships/notesMaster" Target="/ppt/notesMasters/notesMaster1.xml" Id="Rf542286ed45842be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6c6d6e04687b4277" /><Relationship Type="http://schemas.openxmlformats.org/officeDocument/2006/relationships/notesMaster" Target="/ppt/notesMasters/notesMaster1.xml" Id="R0ffe81f278084cac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9fa0465301344984" /><Relationship Type="http://schemas.openxmlformats.org/officeDocument/2006/relationships/notesMaster" Target="/ppt/notesMasters/notesMaster1.xml" Id="Rad0df567ce8c4763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fd60fd0e7c4f4dbc" /><Relationship Type="http://schemas.openxmlformats.org/officeDocument/2006/relationships/notesMaster" Target="/ppt/notesMasters/notesMaster1.xml" Id="R45ad63f1fdc443f3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c6235c38572042c6" /><Relationship Type="http://schemas.openxmlformats.org/officeDocument/2006/relationships/notesMaster" Target="/ppt/notesMasters/notesMaster1.xml" Id="R50a1e6e5d01d4fbc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d48b84f9a92847c4" /><Relationship Type="http://schemas.openxmlformats.org/officeDocument/2006/relationships/notesMaster" Target="/ppt/notesMasters/notesMaster1.xml" Id="R1441fabb91524c26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ac09a5b9cd974ebd" /><Relationship Type="http://schemas.openxmlformats.org/officeDocument/2006/relationships/notesMaster" Target="/ppt/notesMasters/notesMaster1.xml" Id="R79fcdc9c35e34516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00733e7d7b1f405e" /><Relationship Type="http://schemas.openxmlformats.org/officeDocument/2006/relationships/notesMaster" Target="/ppt/notesMasters/notesMaster1.xml" Id="R796d2d30e9a6444e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257666abd68e4e47" /><Relationship Type="http://schemas.openxmlformats.org/officeDocument/2006/relationships/notesMaster" Target="/ppt/notesMasters/notesMaster1.xml" Id="R34edd5e6ed594c7a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74b723f1316b40d7" /><Relationship Type="http://schemas.openxmlformats.org/officeDocument/2006/relationships/notesMaster" Target="/ppt/notesMasters/notesMaster1.xml" Id="Rf51dfc5981484ef0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d5dfc9f0d4744db4" /><Relationship Type="http://schemas.openxmlformats.org/officeDocument/2006/relationships/notesMaster" Target="/ppt/notesMasters/notesMaster1.xml" Id="R824682e85e9c4bf6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a41b59e0a1f7473d" /><Relationship Type="http://schemas.openxmlformats.org/officeDocument/2006/relationships/notesMaster" Target="/ppt/notesMasters/notesMaster1.xml" Id="R67879026936f4cb0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eca5de461d414047" /><Relationship Type="http://schemas.openxmlformats.org/officeDocument/2006/relationships/notesMaster" Target="/ppt/notesMasters/notesMaster1.xml" Id="R8bed0cdf80514d7d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49ece72cbe0d4787" /><Relationship Type="http://schemas.openxmlformats.org/officeDocument/2006/relationships/notesMaster" Target="/ppt/notesMasters/notesMaster1.xml" Id="Rd4a60dab471b48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ZH text map: content/localizations/staged-2026-09-01/presentations/biot/zh/text-map.json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ZH text map: content/localizations/staged-2026-09-01/presentations/biot/zh/text-map.json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ZH text map: content/localizations/staged-2026-09-01/presentations/biot/zh/text-map.json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ZH text map: content/localizations/staged-2026-09-01/presentations/biot/zh/text-map.json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ZH text map: content/localizations/staged-2026-09-01/presentations/biot/zh/text-map.json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ZH text map: content/localizations/staged-2026-09-01/presentations/biot/zh/text-map.json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ZH text map: content/localizations/staged-2026-09-01/presentations/biot/zh/text-map.json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ZH text map: content/localizations/staged-2026-09-01/presentations/biot/zh/text-map.json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ZH text map: content/localizations/staged-2026-09-01/presentations/biot/zh/text-map.json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ZH text map: content/localizations/staged-2026-09-01/presentations/biot/zh/text-map.json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ZH text map: content/localizations/staged-2026-09-01/presentations/biot/zh/text-map.json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ZH text map: content/localizations/staged-2026-09-01/presentations/biot/zh/text-map.json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ZH text map: content/localizations/staged-2026-09-01/presentations/biot/zh/text-map.json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ZH text map: content/localizations/staged-2026-09-01/presentations/biot/zh/text-map.json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ZH text map: content/localizations/staged-2026-09-01/presentations/biot/zh/text-map.json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ZH text map: content/localizations/staged-2026-09-01/presentations/biot/zh/text-map.json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ZH text map: content/localizations/staged-2026-09-01/presentations/biot/zh/text-map.json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ZH text map: content/localizations/staged-2026-09-01/presentations/biot/zh/text-map.json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ZH text map: content/localizations/staged-2026-09-01/presentations/biot/zh/text-map.json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ZH text map: content/localizations/staged-2026-09-01/presentations/biot/zh/text-map.json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ZH text map: content/localizations/staged-2026-09-01/presentations/biot/zh/text-map.json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ZH text map: content/localizations/staged-2026-09-01/presentations/biot/zh/text-map.json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ZH text map: content/localizations/staged-2026-09-01/presentations/biot/zh/text-map.json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ZH text map: content/localizations/staged-2026-09-01/presentations/biot/zh/text-map.json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ZH text map: content/localizations/staged-2026-09-01/presentations/biot/zh/text-map.json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ZH text map: content/localizations/staged-2026-09-01/presentations/biot/zh/text-map.json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ZH text map: content/localizations/staged-2026-09-01/presentations/biot/zh/text-map.json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ZH text map: content/localizations/staged-2026-09-01/presentations/biot/zh/text-map.json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ZH text map: content/localizations/staged-2026-09-01/presentations/biot/zh/text-map.json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ZH text map: content/localizations/staged-2026-09-01/presentations/biot/zh/text-map.json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ZH text map: content/localizations/staged-2026-09-01/presentations/biot/zh/text-map.json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ZH text map: content/localizations/staged-2026-09-01/presentations/biot/zh/text-map.json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ZH text map: content/localizations/staged-2026-09-01/presentations/biot/zh/text-map.json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ZH text map: content/localizations/staged-2026-09-01/presentations/biot/zh/text-map.json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ZH text map: content/localizations/staged-2026-09-01/presentations/biot/zh/text-map.json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ZH text map: content/localizations/staged-2026-09-01/presentations/biot/zh/text-map.json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ZH text map: content/localizations/staged-2026-09-01/presentations/biot/zh/text-map.json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ZH text map: content/localizations/staged-2026-09-01/presentations/biot/zh/text-map.json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ZH text map: content/localizations/staged-2026-09-01/presentations/biot/zh/text-map.json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ZH text map: content/localizations/staged-2026-09-01/presentations/biot/zh/text-map.json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ZH text map: content/localizations/staged-2026-09-01/presentations/biot/zh/text-map.json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ZH text map: content/localizations/staged-2026-09-01/presentations/biot/zh/text-map.json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ZH text map: content/localizations/staged-2026-09-01/presentations/biot/zh/text-map.json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ZH text map: content/localizations/staged-2026-09-01/presentations/biot/zh/text-map.json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ZH text map: content/localizations/staged-2026-09-01/presentations/biot/zh/text-map.json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ZH text map: content/localizations/staged-2026-09-01/presentations/biot/zh/text-map.json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ZH text map: content/localizations/staged-2026-09-01/presentations/biot/zh/text-map.json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ZH text map: content/localizations/staged-2026-09-01/presentations/biot/zh/text-map.json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ZH text map: content/localizations/staged-2026-09-01/presentations/biot/zh/text-map.json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ZH text map: content/localizations/staged-2026-09-01/presentations/biot/zh/text-map.json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ZH text map: content/localizations/staged-2026-09-01/presentations/biot/zh/text-map.json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ZH text map: content/localizations/staged-2026-09-01/presentations/biot/zh/text-map.json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ZH text map: content/localizations/staged-2026-09-01/presentations/biot/zh/text-map.json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ZH text map: content/localizations/staged-2026-09-01/presentations/biot/zh/text-map.json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ZH text map: content/localizations/staged-2026-09-01/presentations/biot/zh/text-map.json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ZH text map: content/localizations/staged-2026-09-01/presentations/biot/zh/text-map.json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ZH text map: content/localizations/staged-2026-09-01/presentations/biot/zh/text-map.json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ZH text map: content/localizations/staged-2026-09-01/presentations/biot/zh/text-map.json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ZH text map: content/localizations/staged-2026-09-01/presentations/biot/zh/text-map.json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99706e1d394a7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0fbbd51d2704f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Work Safety — базовы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723d8c5cbc4c61" /><Relationship Type="http://schemas.openxmlformats.org/officeDocument/2006/relationships/slideLayout" Target="/ppt/slideLayouts/slideLayout1.xml" Id="R1a54e9b7f09d45ae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d5d26d6374684e0c" /><Relationship Type="http://schemas.openxmlformats.org/officeDocument/2006/relationships/slideLayout" Target="/ppt/slideLayouts/slideLayout2.xml" Id="R1cbcf1cf6a9b42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54e9b7f09d45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Work Safety Master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1cbcf1cf6a9b4219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c2e8c9ac90445b" /><Relationship Type="http://schemas.openxmlformats.org/officeDocument/2006/relationships/image" Target="/ppt/media/image.jpeg" Id="R23d01fe37f0043e3" /><Relationship Type="http://schemas.openxmlformats.org/officeDocument/2006/relationships/image" Target="/ppt/media/image.png" Id="Rfa8142c01d964569" /><Relationship Type="http://schemas.openxmlformats.org/officeDocument/2006/relationships/notesSlide" Target="/ppt/notesSlides/notesSlide1.xml" Id="R9dece4c11c6c40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f4d6f2016e4bca" /><Relationship Type="http://schemas.openxmlformats.org/officeDocument/2006/relationships/image" Target="/ppt/media/image2.png" Id="R9235e7ed1bfc45d8" /><Relationship Type="http://schemas.openxmlformats.org/officeDocument/2006/relationships/notesSlide" Target="/ppt/notesSlides/notesSlide2.xml" Id="R53eb7347ee3442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9bdaae72e64b81" /><Relationship Type="http://schemas.openxmlformats.org/officeDocument/2006/relationships/image" Target="/ppt/media/image3.png" Id="R80721f66f6ba4def" /><Relationship Type="http://schemas.openxmlformats.org/officeDocument/2006/relationships/notesSlide" Target="/ppt/notesSlides/notesSlide3.xml" Id="R8cb8b2da217249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07eb75c0c342c7" /><Relationship Type="http://schemas.openxmlformats.org/officeDocument/2006/relationships/image" Target="/ppt/media/image2.jpeg" Id="Ref38b438e1714f10" /><Relationship Type="http://schemas.openxmlformats.org/officeDocument/2006/relationships/image" Target="/ppt/media/image4.png" Id="R0741445b11244464" /><Relationship Type="http://schemas.openxmlformats.org/officeDocument/2006/relationships/notesSlide" Target="/ppt/notesSlides/notesSlide4.xml" Id="R53a5511a619c4d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12e19cf1404e43" /><Relationship Type="http://schemas.openxmlformats.org/officeDocument/2006/relationships/image" Target="/ppt/media/image5.png" Id="R4093b0b648744632" /><Relationship Type="http://schemas.openxmlformats.org/officeDocument/2006/relationships/notesSlide" Target="/ppt/notesSlides/notesSlide5.xml" Id="R0be655dd3488432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0ea4a366fe4c9f" /><Relationship Type="http://schemas.openxmlformats.org/officeDocument/2006/relationships/image" Target="/ppt/media/image6.png" Id="R186853cf537645be" /><Relationship Type="http://schemas.openxmlformats.org/officeDocument/2006/relationships/notesSlide" Target="/ppt/notesSlides/notesSlide6.xml" Id="Rc43d810ab80e4f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fde263a4134059" /><Relationship Type="http://schemas.openxmlformats.org/officeDocument/2006/relationships/image" Target="/ppt/media/image7.png" Id="R3c5359f407fe4ee0" /><Relationship Type="http://schemas.openxmlformats.org/officeDocument/2006/relationships/notesSlide" Target="/ppt/notesSlides/notesSlide7.xml" Id="R8c262ec71f044f6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7eb029627f4585" /><Relationship Type="http://schemas.openxmlformats.org/officeDocument/2006/relationships/image" Target="/ppt/media/image8.png" Id="R369fb96b041941e5" /><Relationship Type="http://schemas.openxmlformats.org/officeDocument/2006/relationships/notesSlide" Target="/ppt/notesSlides/notesSlide8.xml" Id="Rd468fb04b99941d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229c7cee7048be" /><Relationship Type="http://schemas.openxmlformats.org/officeDocument/2006/relationships/image" Target="/ppt/media/image9.png" Id="Rb779bb0f9d8144fc" /><Relationship Type="http://schemas.openxmlformats.org/officeDocument/2006/relationships/notesSlide" Target="/ppt/notesSlides/notesSlide9.xml" Id="R5f118ca07a9647b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cb41363c264258" /><Relationship Type="http://schemas.openxmlformats.org/officeDocument/2006/relationships/image" Target="/ppt/media/image10.png" Id="R5e114863a70e4526" /><Relationship Type="http://schemas.openxmlformats.org/officeDocument/2006/relationships/notesSlide" Target="/ppt/notesSlides/notesSlide10.xml" Id="Rf12afa1f5daf467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0dca7ff3564cdc" /><Relationship Type="http://schemas.openxmlformats.org/officeDocument/2006/relationships/image" Target="/ppt/media/image11.png" Id="R3df27e9361034189" /><Relationship Type="http://schemas.openxmlformats.org/officeDocument/2006/relationships/notesSlide" Target="/ppt/notesSlides/notesSlide11.xml" Id="R89afa418569f40a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e81480e41e43f5" /><Relationship Type="http://schemas.openxmlformats.org/officeDocument/2006/relationships/image" Target="/ppt/media/image12.png" Id="R7b46a214196d4dbc" /><Relationship Type="http://schemas.openxmlformats.org/officeDocument/2006/relationships/notesSlide" Target="/ppt/notesSlides/notesSlide12.xml" Id="R3a0474137ba7417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6b0db510bb4639" /><Relationship Type="http://schemas.openxmlformats.org/officeDocument/2006/relationships/image" Target="/ppt/media/image13.png" Id="R09255f3fbad549dd" /><Relationship Type="http://schemas.openxmlformats.org/officeDocument/2006/relationships/notesSlide" Target="/ppt/notesSlides/notesSlide13.xml" Id="R370303e8791e480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0d05546b924fa4" /><Relationship Type="http://schemas.openxmlformats.org/officeDocument/2006/relationships/image" Target="/ppt/media/image3.jpeg" Id="R9149aabadd6146cf" /><Relationship Type="http://schemas.openxmlformats.org/officeDocument/2006/relationships/image" Target="/ppt/media/image14.png" Id="R8463536f1ddc4661" /><Relationship Type="http://schemas.openxmlformats.org/officeDocument/2006/relationships/notesSlide" Target="/ppt/notesSlides/notesSlide14.xml" Id="R9d35863bb183408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5f995bea164a00" /><Relationship Type="http://schemas.openxmlformats.org/officeDocument/2006/relationships/image" Target="/ppt/media/image15.png" Id="Rfc43643b9a9b4332" /><Relationship Type="http://schemas.openxmlformats.org/officeDocument/2006/relationships/notesSlide" Target="/ppt/notesSlides/notesSlide15.xml" Id="Rc695e458f6f4445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7e5f59d6cc4852" /><Relationship Type="http://schemas.openxmlformats.org/officeDocument/2006/relationships/image" Target="/ppt/media/image16.png" Id="R11c4b27e3be649ab" /><Relationship Type="http://schemas.openxmlformats.org/officeDocument/2006/relationships/notesSlide" Target="/ppt/notesSlides/notesSlide16.xml" Id="R090c11f899c2460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bbcbba3fef4bde" /><Relationship Type="http://schemas.openxmlformats.org/officeDocument/2006/relationships/image" Target="/ppt/media/image17.png" Id="R8ff01640489447b2" /><Relationship Type="http://schemas.openxmlformats.org/officeDocument/2006/relationships/notesSlide" Target="/ppt/notesSlides/notesSlide17.xml" Id="R868c0258633b432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f8cb778de14d52" /><Relationship Type="http://schemas.openxmlformats.org/officeDocument/2006/relationships/image" Target="/ppt/media/image18.png" Id="Ra253cff7aa22401f" /><Relationship Type="http://schemas.openxmlformats.org/officeDocument/2006/relationships/notesSlide" Target="/ppt/notesSlides/notesSlide18.xml" Id="Rfe6f56e566b74dd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82a2365a5a478f" /><Relationship Type="http://schemas.openxmlformats.org/officeDocument/2006/relationships/image" Target="/ppt/media/image19.png" Id="R14352543b65a4da2" /><Relationship Type="http://schemas.openxmlformats.org/officeDocument/2006/relationships/notesSlide" Target="/ppt/notesSlides/notesSlide19.xml" Id="Rd242f54a680f4f4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22cf5a98a14003" /><Relationship Type="http://schemas.openxmlformats.org/officeDocument/2006/relationships/image" Target="/ppt/media/image4.jpeg" Id="R338bb89b53484f5a" /><Relationship Type="http://schemas.openxmlformats.org/officeDocument/2006/relationships/image" Target="/ppt/media/image20.png" Id="R2daee071937c4415" /><Relationship Type="http://schemas.openxmlformats.org/officeDocument/2006/relationships/notesSlide" Target="/ppt/notesSlides/notesSlide20.xml" Id="R266ba8eada224b7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8b7abbca6a4ac4" /><Relationship Type="http://schemas.openxmlformats.org/officeDocument/2006/relationships/image" Target="/ppt/media/image21.png" Id="Rda095ce292c346cf" /><Relationship Type="http://schemas.openxmlformats.org/officeDocument/2006/relationships/notesSlide" Target="/ppt/notesSlides/notesSlide21.xml" Id="R9c7b063c956d4cc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c4d70dfe784ff0" /><Relationship Type="http://schemas.openxmlformats.org/officeDocument/2006/relationships/image" Target="/ppt/media/image22.png" Id="Reb6046bd37ee4569" /><Relationship Type="http://schemas.openxmlformats.org/officeDocument/2006/relationships/notesSlide" Target="/ppt/notesSlides/notesSlide22.xml" Id="R9290858e32534db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c38fd244064397" /><Relationship Type="http://schemas.openxmlformats.org/officeDocument/2006/relationships/image" Target="/ppt/media/image23.png" Id="R8359717d03684f27" /><Relationship Type="http://schemas.openxmlformats.org/officeDocument/2006/relationships/notesSlide" Target="/ppt/notesSlides/notesSlide23.xml" Id="Rb686f3f9a1a34bf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4619080dc9420e" /><Relationship Type="http://schemas.openxmlformats.org/officeDocument/2006/relationships/image" Target="/ppt/media/image24.png" Id="R87814333eec84ab8" /><Relationship Type="http://schemas.openxmlformats.org/officeDocument/2006/relationships/notesSlide" Target="/ppt/notesSlides/notesSlide24.xml" Id="Rbfae6043726745d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deab637939482a" /><Relationship Type="http://schemas.openxmlformats.org/officeDocument/2006/relationships/image" Target="/ppt/media/image25.png" Id="Ra006cd90f00e4c8c" /><Relationship Type="http://schemas.openxmlformats.org/officeDocument/2006/relationships/notesSlide" Target="/ppt/notesSlides/notesSlide25.xml" Id="R705e9dc176d845d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e0cd44e8db413a" /><Relationship Type="http://schemas.openxmlformats.org/officeDocument/2006/relationships/image" Target="/ppt/media/image26.png" Id="Rf07c37bcda704235" /><Relationship Type="http://schemas.openxmlformats.org/officeDocument/2006/relationships/notesSlide" Target="/ppt/notesSlides/notesSlide26.xml" Id="R790aa841326047f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d21e6d4d2a4221" /><Relationship Type="http://schemas.openxmlformats.org/officeDocument/2006/relationships/image" Target="/ppt/media/image27.png" Id="R3778590ff939428d" /><Relationship Type="http://schemas.openxmlformats.org/officeDocument/2006/relationships/notesSlide" Target="/ppt/notesSlides/notesSlide27.xml" Id="Ra1a002ab589946f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0232d02cbc4ed1" /><Relationship Type="http://schemas.openxmlformats.org/officeDocument/2006/relationships/image" Target="/ppt/media/image28.png" Id="Rf701749d559f412c" /><Relationship Type="http://schemas.openxmlformats.org/officeDocument/2006/relationships/notesSlide" Target="/ppt/notesSlides/notesSlide28.xml" Id="R052bad8f473747a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802a58b9924441" /><Relationship Type="http://schemas.openxmlformats.org/officeDocument/2006/relationships/image" Target="/ppt/media/image29.png" Id="R4de26aa2f0c34985" /><Relationship Type="http://schemas.openxmlformats.org/officeDocument/2006/relationships/notesSlide" Target="/ppt/notesSlides/notesSlide29.xml" Id="R4703f9e155984e9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0ca1e317084f7d" /><Relationship Type="http://schemas.openxmlformats.org/officeDocument/2006/relationships/image" Target="/ppt/media/image30.png" Id="R1b53d17394d640cd" /><Relationship Type="http://schemas.openxmlformats.org/officeDocument/2006/relationships/notesSlide" Target="/ppt/notesSlides/notesSlide30.xml" Id="R0f14ae84349c46c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43b2a5501d436c" /><Relationship Type="http://schemas.openxmlformats.org/officeDocument/2006/relationships/image" Target="/ppt/media/image5.jpeg" Id="R61916dcdc1bc43d5" /><Relationship Type="http://schemas.openxmlformats.org/officeDocument/2006/relationships/image" Target="/ppt/media/image31.png" Id="Ra139ced8a3d749b1" /><Relationship Type="http://schemas.openxmlformats.org/officeDocument/2006/relationships/notesSlide" Target="/ppt/notesSlides/notesSlide31.xml" Id="Rd6a297081d0e46c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db6f8ecfed4d79" /><Relationship Type="http://schemas.openxmlformats.org/officeDocument/2006/relationships/image" Target="/ppt/media/image6.jpeg" Id="R883e83dd22a34a7e" /><Relationship Type="http://schemas.openxmlformats.org/officeDocument/2006/relationships/image" Target="/ppt/media/image32.png" Id="R5c8ac80e83db4c16" /><Relationship Type="http://schemas.openxmlformats.org/officeDocument/2006/relationships/notesSlide" Target="/ppt/notesSlides/notesSlide32.xml" Id="R297b48612077434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892f9ea27240ec" /><Relationship Type="http://schemas.openxmlformats.org/officeDocument/2006/relationships/image" Target="/ppt/media/image33.png" Id="R69f100e15caf4558" /><Relationship Type="http://schemas.openxmlformats.org/officeDocument/2006/relationships/notesSlide" Target="/ppt/notesSlides/notesSlide33.xml" Id="Rb4b78d2665de4592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d9166de00f4806" /><Relationship Type="http://schemas.openxmlformats.org/officeDocument/2006/relationships/image" Target="/ppt/media/image7.jpeg" Id="Rd588931f705644bd" /><Relationship Type="http://schemas.openxmlformats.org/officeDocument/2006/relationships/image" Target="/ppt/media/image34.png" Id="R29d80eb7d09f4e6a" /><Relationship Type="http://schemas.openxmlformats.org/officeDocument/2006/relationships/notesSlide" Target="/ppt/notesSlides/notesSlide34.xml" Id="Rfa868011651d4066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51abe33c2f43b7" /><Relationship Type="http://schemas.openxmlformats.org/officeDocument/2006/relationships/image" Target="/ppt/media/image35.png" Id="R6de5fbc81f484a6a" /><Relationship Type="http://schemas.openxmlformats.org/officeDocument/2006/relationships/notesSlide" Target="/ppt/notesSlides/notesSlide35.xml" Id="R2a64fed41ace4e7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7f453a6b674ab2" /><Relationship Type="http://schemas.openxmlformats.org/officeDocument/2006/relationships/image" Target="/ppt/media/image36.png" Id="R8223e1880a8f479d" /><Relationship Type="http://schemas.openxmlformats.org/officeDocument/2006/relationships/notesSlide" Target="/ppt/notesSlides/notesSlide36.xml" Id="Rbe187ef413e8490f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e9978fa31e455e" /><Relationship Type="http://schemas.openxmlformats.org/officeDocument/2006/relationships/image" Target="/ppt/media/image37.png" Id="Rd22ab4e43fef4855" /><Relationship Type="http://schemas.openxmlformats.org/officeDocument/2006/relationships/notesSlide" Target="/ppt/notesSlides/notesSlide37.xml" Id="R68f414d5d75c4b5b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8c07369ed545c0" /><Relationship Type="http://schemas.openxmlformats.org/officeDocument/2006/relationships/image" Target="/ppt/media/image38.png" Id="R8f500a465575442c" /><Relationship Type="http://schemas.openxmlformats.org/officeDocument/2006/relationships/notesSlide" Target="/ppt/notesSlides/notesSlide38.xml" Id="R850aa10d70bd4b0d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6c81ba2d8e48ae" /><Relationship Type="http://schemas.openxmlformats.org/officeDocument/2006/relationships/image" Target="/ppt/media/image39.png" Id="R07a1c7bd2f204d33" /><Relationship Type="http://schemas.openxmlformats.org/officeDocument/2006/relationships/notesSlide" Target="/ppt/notesSlides/notesSlide39.xml" Id="R4e808a0984414469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df94f1f0b047fd" /><Relationship Type="http://schemas.openxmlformats.org/officeDocument/2006/relationships/image" Target="/ppt/media/image40.png" Id="R9c010eea3945479b" /><Relationship Type="http://schemas.openxmlformats.org/officeDocument/2006/relationships/notesSlide" Target="/ppt/notesSlides/notesSlide40.xml" Id="R1c615e34ec934159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87288e9ed840d4" /><Relationship Type="http://schemas.openxmlformats.org/officeDocument/2006/relationships/image" Target="/ppt/media/image41.png" Id="R1fa16ac6e25241b6" /><Relationship Type="http://schemas.openxmlformats.org/officeDocument/2006/relationships/notesSlide" Target="/ppt/notesSlides/notesSlide41.xml" Id="R34809d13088c443c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730df237f54e23" /><Relationship Type="http://schemas.openxmlformats.org/officeDocument/2006/relationships/image" Target="/ppt/media/image8.jpeg" Id="R141d054308fa4b39" /><Relationship Type="http://schemas.openxmlformats.org/officeDocument/2006/relationships/image" Target="/ppt/media/image42.png" Id="R75ee300ab2c54fec" /><Relationship Type="http://schemas.openxmlformats.org/officeDocument/2006/relationships/notesSlide" Target="/ppt/notesSlides/notesSlide42.xml" Id="R4abf074ff3f441da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4f80aef6494f76" /><Relationship Type="http://schemas.openxmlformats.org/officeDocument/2006/relationships/image" Target="/ppt/media/image43.png" Id="R6500d9fec2624453" /><Relationship Type="http://schemas.openxmlformats.org/officeDocument/2006/relationships/notesSlide" Target="/ppt/notesSlides/notesSlide43.xml" Id="Rc0b9316f718c48f2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018f13e3bb42ed" /><Relationship Type="http://schemas.openxmlformats.org/officeDocument/2006/relationships/image" Target="/ppt/media/image44.png" Id="Ra9bbe3bef9564d29" /><Relationship Type="http://schemas.openxmlformats.org/officeDocument/2006/relationships/notesSlide" Target="/ppt/notesSlides/notesSlide44.xml" Id="R765a236ef2594ed4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55a0b20ad04f86" /><Relationship Type="http://schemas.openxmlformats.org/officeDocument/2006/relationships/image" Target="/ppt/media/image45.png" Id="R9c9112d1f92a4125" /><Relationship Type="http://schemas.openxmlformats.org/officeDocument/2006/relationships/notesSlide" Target="/ppt/notesSlides/notesSlide45.xml" Id="Rea035c8724464ee5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d7fee6b0454df6" /><Relationship Type="http://schemas.openxmlformats.org/officeDocument/2006/relationships/image" Target="/ppt/media/image46.png" Id="R6d506bb0b7934ede" /><Relationship Type="http://schemas.openxmlformats.org/officeDocument/2006/relationships/notesSlide" Target="/ppt/notesSlides/notesSlide46.xml" Id="R0e0b914c88374f32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61a7c5d19f4b85" /><Relationship Type="http://schemas.openxmlformats.org/officeDocument/2006/relationships/image" Target="/ppt/media/image47.png" Id="Rde82e1e3dafb445e" /><Relationship Type="http://schemas.openxmlformats.org/officeDocument/2006/relationships/notesSlide" Target="/ppt/notesSlides/notesSlide47.xml" Id="R995b6f2e8ba84864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8c1488506c4541" /><Relationship Type="http://schemas.openxmlformats.org/officeDocument/2006/relationships/image" Target="/ppt/media/image48.png" Id="R6a8f9d64b04e40c3" /><Relationship Type="http://schemas.openxmlformats.org/officeDocument/2006/relationships/notesSlide" Target="/ppt/notesSlides/notesSlide48.xml" Id="R2af5f7a775e84488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5d433d3a8d416b" /><Relationship Type="http://schemas.openxmlformats.org/officeDocument/2006/relationships/image" Target="/ppt/media/image49.png" Id="Rd87520327b2348fb" /><Relationship Type="http://schemas.openxmlformats.org/officeDocument/2006/relationships/notesSlide" Target="/ppt/notesSlides/notesSlide49.xml" Id="R60ddfa961f3843c8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a6e1127e3b405b" /><Relationship Type="http://schemas.openxmlformats.org/officeDocument/2006/relationships/image" Target="/ppt/media/image50.png" Id="R9966221c6aa24159" /><Relationship Type="http://schemas.openxmlformats.org/officeDocument/2006/relationships/notesSlide" Target="/ppt/notesSlides/notesSlide50.xml" Id="Ra91e734f076a4739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37e790f8ff4df3" /><Relationship Type="http://schemas.openxmlformats.org/officeDocument/2006/relationships/image" Target="/ppt/media/image51.png" Id="R8bb5027e0a8d4229" /><Relationship Type="http://schemas.openxmlformats.org/officeDocument/2006/relationships/notesSlide" Target="/ppt/notesSlides/notesSlide51.xml" Id="R8f7983450fbb4c93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a617f826874fa2" /><Relationship Type="http://schemas.openxmlformats.org/officeDocument/2006/relationships/image" Target="/ppt/media/image52.png" Id="R39aff237cd8748f0" /><Relationship Type="http://schemas.openxmlformats.org/officeDocument/2006/relationships/notesSlide" Target="/ppt/notesSlides/notesSlide52.xml" Id="R3747c94d65204776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fe73b7a74d4480" /><Relationship Type="http://schemas.openxmlformats.org/officeDocument/2006/relationships/image" Target="/ppt/media/image53.png" Id="R3973e65e64774a1d" /><Relationship Type="http://schemas.openxmlformats.org/officeDocument/2006/relationships/notesSlide" Target="/ppt/notesSlides/notesSlide53.xml" Id="Rc05bdc55ae6e4f04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b406901b2042fd" /><Relationship Type="http://schemas.openxmlformats.org/officeDocument/2006/relationships/image" Target="/ppt/media/image54.png" Id="Rdd39c9c757ee4752" /><Relationship Type="http://schemas.openxmlformats.org/officeDocument/2006/relationships/notesSlide" Target="/ppt/notesSlides/notesSlide54.xml" Id="R5a26312cb1c1465b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a492cc006c4913" /><Relationship Type="http://schemas.openxmlformats.org/officeDocument/2006/relationships/image" Target="/ppt/media/image55.png" Id="Rb0f07eb23c63437f" /><Relationship Type="http://schemas.openxmlformats.org/officeDocument/2006/relationships/notesSlide" Target="/ppt/notesSlides/notesSlide55.xml" Id="R9a50ca92da8b4931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42c3b4d19d44e3" /><Relationship Type="http://schemas.openxmlformats.org/officeDocument/2006/relationships/image" Target="/ppt/media/image56.png" Id="R102b164ea8cc4fa4" /><Relationship Type="http://schemas.openxmlformats.org/officeDocument/2006/relationships/notesSlide" Target="/ppt/notesSlides/notesSlide56.xml" Id="R2a08d74f734e4beb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aa9e3b6ad845b2" /><Relationship Type="http://schemas.openxmlformats.org/officeDocument/2006/relationships/image" Target="/ppt/media/image57.png" Id="R3a13cc8c9b3443da" /><Relationship Type="http://schemas.openxmlformats.org/officeDocument/2006/relationships/notesSlide" Target="/ppt/notesSlides/notesSlide57.xml" Id="Red036ce3cdb04b00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3ce64822ff4fce" /><Relationship Type="http://schemas.openxmlformats.org/officeDocument/2006/relationships/image" Target="/ppt/media/image58.png" Id="Rbe7a5261dcb84ffc" /><Relationship Type="http://schemas.openxmlformats.org/officeDocument/2006/relationships/notesSlide" Target="/ppt/notesSlides/notesSlide58.xml" Id="R19ac9c9006d648b7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523bdc98784a45" /><Relationship Type="http://schemas.openxmlformats.org/officeDocument/2006/relationships/image" Target="/ppt/media/image59.png" Id="R540f2446eca14286" /><Relationship Type="http://schemas.openxmlformats.org/officeDocument/2006/relationships/notesSlide" Target="/ppt/notesSlides/notesSlide59.xml" Id="R494e8d3c378f464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23411B-E722-4CD4-9EC0-A6CBBE24B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VISUAL_04_s0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d01fe37f0043e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524750" y="1104900"/>
            <a:ext cx="4095750" cy="476250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E4AC75-32AE-4C41-B4F5-92C7CB68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104900"/>
            <a:ext cx="762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URSE_KICKER">
            <a:extLst xmlns:a="http://schemas.openxmlformats.org/drawingml/2006/main">
              <a:ext uri="{FF2B5EF4-FFF2-40B4-BE49-F238E27FC236}">
                <a16:creationId xmlns:a16="http://schemas.microsoft.com/office/drawing/2014/main" id="{071337B5-F3E9-4F8A-95E3-3DC8FE67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培训课程</a:t>
            </a:r>
          </a:p>
        </p:txBody>
      </p:sp>
      <p:sp>
        <p:nvSpPr>
          <p:cNvPr id="5" name="DECK_TITLE">
            <a:extLst xmlns:a="http://schemas.openxmlformats.org/drawingml/2006/main">
              <a:ext uri="{FF2B5EF4-FFF2-40B4-BE49-F238E27FC236}">
                <a16:creationId xmlns:a16="http://schemas.microsoft.com/office/drawing/2014/main" id="{5BFA5B0B-DA53-478F-81D3-714CC353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6191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52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职业安全与健康（BIOT）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F787C9-9560-4499-9C72-70E01D00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ECK_SUBTITLE">
            <a:extLst xmlns:a="http://schemas.openxmlformats.org/drawingml/2006/main">
              <a:ext uri="{FF2B5EF4-FFF2-40B4-BE49-F238E27FC236}">
                <a16:creationId xmlns:a16="http://schemas.microsoft.com/office/drawing/2014/main" id="{A53A70B4-237C-4803-B88F-8C53A4E6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619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5D625F"/>
                </a:solidFill>
                <a:latin typeface="Arial"/>
                <a:ea typeface="Arial"/>
                <a:cs typeface="Arial"/>
              </a:rPr>
              <a:t>安全工作和工业安全的实用原则</a:t>
            </a:r>
          </a:p>
        </p:txBody>
      </p:sp>
      <p:sp>
        <p:nvSpPr>
          <p:cNvPr id="8" name="DECK_AUDIENCE">
            <a:extLst xmlns:a="http://schemas.openxmlformats.org/drawingml/2006/main">
              <a:ext uri="{FF2B5EF4-FFF2-40B4-BE49-F238E27FC236}">
                <a16:creationId xmlns:a16="http://schemas.microsoft.com/office/drawing/2014/main" id="{53A93565-D2CD-4419-98EF-52CC5BCB0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D625F"/>
                </a:solidFill>
                <a:latin typeface="Arial"/>
                <a:ea typeface="Arial"/>
                <a:cs typeface="Arial"/>
              </a:rPr>
              <a:t>工人及一线人员培训课程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3635A2-2A9B-46B1-87CA-B82D5368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DECK_FOOTER">
            <a:extLst xmlns:a="http://schemas.openxmlformats.org/drawingml/2006/main">
              <a:ext uri="{FF2B5EF4-FFF2-40B4-BE49-F238E27FC236}">
                <a16:creationId xmlns:a16="http://schemas.microsoft.com/office/drawing/2014/main" id="{FAFB1232-87F8-4C51-B4F8-34B44B4C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职业安全与健康（BIOT）</a:t>
            </a:r>
          </a:p>
        </p:txBody>
      </p:sp>
      <p:sp>
        <p:nvSpPr>
          <p:cNvPr id="13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78A215B7-1824-4CF1-B2AA-5198C3F8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28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8142c01d964569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1128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BE5C3B-EEA0-41AC-814E-A2765F53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89F9439B-856D-4853-A4E8-9CDF8E79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课程结束后作业人员将能够</a:t>
            </a:r>
          </a:p>
        </p:txBody>
      </p:sp>
      <p:sp>
        <p:nvSpPr>
          <p:cNvPr id="3" name="LIST_NUMBER_1">
            <a:extLst xmlns:a="http://schemas.openxmlformats.org/drawingml/2006/main">
              <a:ext uri="{FF2B5EF4-FFF2-40B4-BE49-F238E27FC236}">
                <a16:creationId xmlns:a16="http://schemas.microsoft.com/office/drawing/2014/main" id="{F600CD3F-208D-4BE5-9917-2534996A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0A25E5-917C-42CB-BFB6-DE8B5FAD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002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5" name="LIST_ITEM_1">
            <a:extLst xmlns:a="http://schemas.openxmlformats.org/drawingml/2006/main">
              <a:ext uri="{FF2B5EF4-FFF2-40B4-BE49-F238E27FC236}">
                <a16:creationId xmlns:a16="http://schemas.microsoft.com/office/drawing/2014/main" id="{7A771C12-1906-49F4-B5AA-D61C5DB0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7716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识别危害，评估风险 并选择控制措施。</a:t>
            </a:r>
          </a:p>
        </p:txBody>
      </p:sp>
      <p:sp>
        <p:nvSpPr>
          <p:cNvPr id="6" name="LIST_NUMBER_2">
            <a:extLst xmlns:a="http://schemas.openxmlformats.org/drawingml/2006/main">
              <a:ext uri="{FF2B5EF4-FFF2-40B4-BE49-F238E27FC236}">
                <a16:creationId xmlns:a16="http://schemas.microsoft.com/office/drawing/2014/main" id="{BBB7AD55-6704-4B53-AE51-45018687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051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51DD72-BB18-47A0-A629-14E10205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146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8" name="LIST_ITEM_2">
            <a:extLst xmlns:a="http://schemas.openxmlformats.org/drawingml/2006/main">
              <a:ext uri="{FF2B5EF4-FFF2-40B4-BE49-F238E27FC236}">
                <a16:creationId xmlns:a16="http://schemas.microsoft.com/office/drawing/2014/main" id="{31DE1CF8-732C-4C4E-9EA1-2DCBB94F9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6860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了解雇员、雇主和经理的责任。</a:t>
            </a:r>
          </a:p>
        </p:txBody>
      </p:sp>
      <p:sp>
        <p:nvSpPr>
          <p:cNvPr id="9" name="LIST_NUMBER_3">
            <a:extLst xmlns:a="http://schemas.openxmlformats.org/drawingml/2006/main">
              <a:ext uri="{FF2B5EF4-FFF2-40B4-BE49-F238E27FC236}">
                <a16:creationId xmlns:a16="http://schemas.microsoft.com/office/drawing/2014/main" id="{7177A5C7-364F-42D5-8A55-9A5823A0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ADE2C0-051C-4B88-B1E9-665B0F0C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290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1" name="LIST_ITEM_3">
            <a:extLst xmlns:a="http://schemas.openxmlformats.org/drawingml/2006/main">
              <a:ext uri="{FF2B5EF4-FFF2-40B4-BE49-F238E27FC236}">
                <a16:creationId xmlns:a16="http://schemas.microsoft.com/office/drawing/2014/main" id="{2FE0FC75-9DEB-494C-A38E-8BBB1E49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004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正确报告危险、事故、伤害和事故。</a:t>
            </a:r>
          </a:p>
        </p:txBody>
      </p:sp>
      <p:sp>
        <p:nvSpPr>
          <p:cNvPr id="12" name="LIST_NUMBER_4">
            <a:extLst xmlns:a="http://schemas.openxmlformats.org/drawingml/2006/main">
              <a:ext uri="{FF2B5EF4-FFF2-40B4-BE49-F238E27FC236}">
                <a16:creationId xmlns:a16="http://schemas.microsoft.com/office/drawing/2014/main" id="{08A7229F-93A4-45CF-8B0F-14367B7D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545C9D-46A0-4348-A998-D78FB170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43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4" name="LIST_ITEM_4">
            <a:extLst xmlns:a="http://schemas.openxmlformats.org/drawingml/2006/main">
              <a:ext uri="{FF2B5EF4-FFF2-40B4-BE49-F238E27FC236}">
                <a16:creationId xmlns:a16="http://schemas.microsoft.com/office/drawing/2014/main" id="{5D1869EE-18B5-4E12-83CC-B7F4DBF9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148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在危险生产设施中执行基本操作。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2E9987-D3BF-4D8E-B2C2-EB9C0525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81200"/>
            <a:ext cx="3429000" cy="304800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09E01C-F452-4C17-9B7A-2E38E9DA1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81200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44359804-AF2F-450E-9890-10FD616E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14550"/>
            <a:ext cx="29718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BIOT 的主要目标是预防伤害、事故和职业病。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671427-90E9-4AA1-9AC6-CEB18D177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1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E427C599-EEB2-429F-831C-583F3CBF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规范：哈萨克斯坦共和国劳动法•“公民保护”法</a:t>
            </a:r>
          </a:p>
        </p:txBody>
      </p:sp>
      <p:sp>
        <p:nvSpPr>
          <p:cNvPr id="22" name="DECK_FOOTER">
            <a:extLst xmlns:a="http://schemas.openxmlformats.org/drawingml/2006/main">
              <a:ext uri="{FF2B5EF4-FFF2-40B4-BE49-F238E27FC236}">
                <a16:creationId xmlns:a16="http://schemas.microsoft.com/office/drawing/2014/main" id="{E25A84D3-B085-4665-B1EA-822E056B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职业安全与健康（BIOT）</a:t>
            </a:r>
          </a:p>
        </p:txBody>
      </p:sp>
      <p:sp>
        <p:nvSpPr>
          <p:cNvPr id="23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08B2D792-AE35-4FE8-84FA-11E83D89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pic>
        <p:nvPicPr>
          <p:cNvPr id="47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35e7ed1bfc45d8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3477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2E5131-D1EE-4980-951A-AC6E26CE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260C0C74-099B-42D4-87AA-7CFD753D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课程五部分</a:t>
            </a:r>
          </a:p>
        </p:txBody>
      </p:sp>
      <p:sp>
        <p:nvSpPr>
          <p:cNvPr id="3" name="LIST_NUMBER_1">
            <a:extLst xmlns:a="http://schemas.openxmlformats.org/drawingml/2006/main">
              <a:ext uri="{FF2B5EF4-FFF2-40B4-BE49-F238E27FC236}">
                <a16:creationId xmlns:a16="http://schemas.microsoft.com/office/drawing/2014/main" id="{70C49BDC-DF60-4E30-BF17-1EF842BD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CC563D-9499-49BE-992B-DFFB39CB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002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5" name="LIST_ITEM_1">
            <a:extLst xmlns:a="http://schemas.openxmlformats.org/drawingml/2006/main">
              <a:ext uri="{FF2B5EF4-FFF2-40B4-BE49-F238E27FC236}">
                <a16:creationId xmlns:a16="http://schemas.microsoft.com/office/drawing/2014/main" id="{A0EBADB1-21D9-4C45-94D7-29B377FF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7716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职业安全与健康基础知识。</a:t>
            </a:r>
          </a:p>
        </p:txBody>
      </p:sp>
      <p:sp>
        <p:nvSpPr>
          <p:cNvPr id="6" name="LIST_NUMBER_2">
            <a:extLst xmlns:a="http://schemas.openxmlformats.org/drawingml/2006/main">
              <a:ext uri="{FF2B5EF4-FFF2-40B4-BE49-F238E27FC236}">
                <a16:creationId xmlns:a16="http://schemas.microsoft.com/office/drawing/2014/main" id="{2842B818-9212-4E6F-A109-DAA9E170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ECAD24-E998-40A4-8E3F-A4BE1F5E7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813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8" name="LIST_ITEM_2">
            <a:extLst xmlns:a="http://schemas.openxmlformats.org/drawingml/2006/main">
              <a:ext uri="{FF2B5EF4-FFF2-40B4-BE49-F238E27FC236}">
                <a16:creationId xmlns:a16="http://schemas.microsoft.com/office/drawing/2014/main" id="{50765117-E86F-42D1-9029-165B92A7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55270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实践中的劳动立法。</a:t>
            </a:r>
          </a:p>
        </p:txBody>
      </p:sp>
      <p:sp>
        <p:nvSpPr>
          <p:cNvPr id="9" name="LIST_NUMBER_3">
            <a:extLst xmlns:a="http://schemas.openxmlformats.org/drawingml/2006/main">
              <a:ext uri="{FF2B5EF4-FFF2-40B4-BE49-F238E27FC236}">
                <a16:creationId xmlns:a16="http://schemas.microsoft.com/office/drawing/2014/main" id="{D7CFF7D3-A5FB-4DD7-8084-552E9676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065016-5476-4F0D-B038-83ECB72A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623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1" name="LIST_ITEM_3">
            <a:extLst xmlns:a="http://schemas.openxmlformats.org/drawingml/2006/main">
              <a:ext uri="{FF2B5EF4-FFF2-40B4-BE49-F238E27FC236}">
                <a16:creationId xmlns:a16="http://schemas.microsoft.com/office/drawing/2014/main" id="{7E6A9315-FC22-4540-9700-C0119AEB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337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职业安全健康管理体系。</a:t>
            </a:r>
          </a:p>
        </p:txBody>
      </p:sp>
      <p:sp>
        <p:nvSpPr>
          <p:cNvPr id="12" name="LIST_NUMBER_4">
            <a:extLst xmlns:a="http://schemas.openxmlformats.org/drawingml/2006/main">
              <a:ext uri="{FF2B5EF4-FFF2-40B4-BE49-F238E27FC236}">
                <a16:creationId xmlns:a16="http://schemas.microsoft.com/office/drawing/2014/main" id="{25D9EE9B-88C9-46A6-BA67-88B1DE45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338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282156-105A-4164-8236-B61DADC6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434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4" name="LIST_ITEM_4">
            <a:extLst xmlns:a="http://schemas.openxmlformats.org/drawingml/2006/main">
              <a:ext uri="{FF2B5EF4-FFF2-40B4-BE49-F238E27FC236}">
                <a16:creationId xmlns:a16="http://schemas.microsoft.com/office/drawing/2014/main" id="{661555F1-0C29-4F88-B849-08359F9E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1480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事故和应急准备。</a:t>
            </a:r>
          </a:p>
        </p:txBody>
      </p:sp>
      <p:sp>
        <p:nvSpPr>
          <p:cNvPr id="15" name="LIST_NUMBER_5">
            <a:extLst xmlns:a="http://schemas.openxmlformats.org/drawingml/2006/main">
              <a:ext uri="{FF2B5EF4-FFF2-40B4-BE49-F238E27FC236}">
                <a16:creationId xmlns:a16="http://schemas.microsoft.com/office/drawing/2014/main" id="{3FE62A71-F651-4416-BA6E-AEE82C8D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C49893-DE4B-4D96-A87E-5EE44E6C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24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7" name="LIST_ITEM_5">
            <a:extLst xmlns:a="http://schemas.openxmlformats.org/drawingml/2006/main">
              <a:ext uri="{FF2B5EF4-FFF2-40B4-BE49-F238E27FC236}">
                <a16:creationId xmlns:a16="http://schemas.microsoft.com/office/drawing/2014/main" id="{2561C253-C621-41AF-AE26-A564FD31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958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工业安全基础知识。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85E6AE-B8A4-4967-805F-B3CBB0E5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00250"/>
            <a:ext cx="2381250" cy="2952750"/>
          </a:xfrm>
          <a:prstGeom xmlns:a="http://schemas.openxmlformats.org/drawingml/2006/main" prst="roundRect">
            <a:avLst>
              <a:gd name="adj" fmla="val 8800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FEB57E-4FBD-474C-8B11-61E6755D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3812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课程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5B592A-3E68-49BA-8052-C7E4607B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09575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D625F"/>
                </a:solidFill>
                <a:latin typeface="Arial"/>
                <a:ea typeface="Arial"/>
                <a:cs typeface="Arial"/>
              </a:rPr>
              <a:t>语义块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C1AAB5-9A5C-4BFC-B39F-AC29224F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5" name="DECK_FOOTER">
            <a:extLst xmlns:a="http://schemas.openxmlformats.org/drawingml/2006/main">
              <a:ext uri="{FF2B5EF4-FFF2-40B4-BE49-F238E27FC236}">
                <a16:creationId xmlns:a16="http://schemas.microsoft.com/office/drawing/2014/main" id="{8BD08BF3-EE1C-49C3-8E9E-954E7E0F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职业安全与健康（BIOT）</a:t>
            </a:r>
          </a:p>
        </p:txBody>
      </p:sp>
      <p:sp>
        <p:nvSpPr>
          <p:cNvPr id="26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6799D4D7-D4C7-4F3C-B59E-55F81FBC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5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721f66f6ba4def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29" name="AGENDA_COUNT_CIRCLE">
            <a:extLst xmlns:a="http://schemas.openxmlformats.org/drawingml/2006/main">
              <a:ext uri="{FF2B5EF4-FFF2-40B4-BE49-F238E27FC236}">
                <a16:creationId xmlns:a16="http://schemas.microsoft.com/office/drawing/2014/main" id="{09D989DE-7A9E-4797-9476-BB65A5A3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8575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5667797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7A25CE-5F7A-4AAF-AA89-2A864FEB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VISUAL_04_s0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38b438e1714f1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429500" y="1285875"/>
            <a:ext cx="4191000" cy="4333875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3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CEAFA73A-B501-4ECE-9D4C-18200535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354B68-C3CF-43DF-A2A2-54B42E0A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18B179D6-31D0-447A-9928-ACACAF05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6096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BIOT 基础知识</a:t>
            </a:r>
          </a:p>
        </p:txBody>
      </p:sp>
      <p:sp>
        <p:nvSpPr>
          <p:cNvPr id="6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FA956993-101B-4E8C-84FE-C3154055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09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安全是由雇员、雇主和管理者的共同行动创造的。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782E04-2A36-415E-92FF-D73C705F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33169150-0C7D-4C24-88CD-7D216172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职业安全与健康（BIOT）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63C5570D-7E58-4914-9F74-9BD7F93F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41445b11244464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849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工作条件 - 整个工作环境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工作环境：设备、材料、空气、噪音、照明和温度。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工作流程：人员的动作、负荷、步调、姿势、轮班和互动。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组织：指导、培训、监督、维护和应急准备。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更改任何元素都会更改风险。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如果组织不善，安全设备并不能保证安全运行。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职业安全与健康（BIOT）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93b0b648744632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2822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2BE5AB-7DD5-4143-8526-08C68EA2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2ECE5051-50F8-40A1-9880-F28655EC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危险因素以不同的方式发挥作用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19B1E1-B7A4-405B-A69D-6B10E8E68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风险 / 来源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563739-A582-4D52-BAC6-BF374E2D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7640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945B11-433B-487A-91D1-8F69D47A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7640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控制措施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CD1F9B-1D37-43FB-8463-7137FFEB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D6B44B-A73E-4AA0-8F02-24B15D42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物理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BB34FE-6FF8-414B-8DEF-1FBE14A1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9550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运动部件、高度、噪音、温度、电力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169A6D-2D02-4878-A062-521FF5AF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9550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围栏、隔离、距离、模式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6C068E-9990-4ED8-A97E-48075DBF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4AB71C-A395-472D-AFBB-20B78050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化学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2176CC-4B66-4243-B6B0-2CBB91CE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5275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灰尘、蒸汽、气体和液体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DAD2C4-02AD-4E39-AAEB-5F173750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5275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更换、密封、通风、控制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08CEA9-8F39-45DF-BF21-46A30063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22AE0F-4ECC-414F-9D5E-B6F008EC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生物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F20E97-F7E0-4D26-8B2C-40C11EEC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1000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微生物和生物材料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34606F-7D87-46DB-8547-3D5AB34D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1000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卫生、隔离、规定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F79BB6-33F1-42CF-A490-035F896C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7E8EB8-C982-45DD-8BC5-2BD8213B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心理生理学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F21261-8375-4039-A9B9-F28421578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66725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超负荷、单调、疲劳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D17040-6C40-47AF-BA1B-CDE586EE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6725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计划、休息、任务分配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E30EF6-E20A-4ED0-8033-917271EF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93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首先确定暴露源和暴露途径，然后选择防护措施。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562604-E801-44C6-B88F-FB9B6246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DECK_FOOTER">
            <a:extLst xmlns:a="http://schemas.openxmlformats.org/drawingml/2006/main">
              <a:ext uri="{FF2B5EF4-FFF2-40B4-BE49-F238E27FC236}">
                <a16:creationId xmlns:a16="http://schemas.microsoft.com/office/drawing/2014/main" id="{FC5AB913-DF34-4EB3-9F82-41CC0CDF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职业安全与健康（BIOT）</a:t>
            </a:r>
          </a:p>
        </p:txBody>
      </p:sp>
      <p:sp>
        <p:nvSpPr>
          <p:cNvPr id="27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29E10402-E4A0-4631-B969-65A77120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5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6853cf537645be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6333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6BED5E-D8E6-4C25-A980-8906E6EF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83026453-16B3-48E9-96F3-C5D6FE65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危险情况连锁发展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F5FE16-1ED5-4F50-9061-BEAD39E9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5DA9E8-2EA3-4E10-9544-C57F34F5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DC03C4E2-85FB-4F93-8F9E-42874448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82259AD8-5D34-48CE-9EB1-91FE7A00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状况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C8BA1824-BDB6-4245-9857-C1F805D8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有故障、组织不善或不安全的环境。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CB7EB9-66F9-4AEE-A253-960C9B35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4B093AE3-F7E8-4FC9-A7E5-5C4F802F2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124A4CF2-2FAA-453B-8E9F-80B61A63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行动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C182F79D-E340-4608-9822-B2EDC7C7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错误、违规、仓促或错误决定。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D85ABB-1289-48E4-A119-26D4A68E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C9B9E1CD-8A51-4AE6-B7F8-97D7212F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5477D878-6F4A-4B9A-85A3-39731A16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活动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1D680A03-6385-48C3-B5B1-2E1E4936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失去对能量、物质或运动的控制。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EA8D17-79B1-4D85-8EE0-46105C8A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B6232D6D-0243-4A21-9ED2-419CABF6F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3865FF93-C663-4835-9D41-79C4CF2F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后果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05798763-ACF8-4185-9A0F-68BF4A17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受伤、损坏、事故或健康影响。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265392-044A-4D03-A29D-1008E2B5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FEA1E1-76B0-416F-9022-ED1C0E73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6FA14551-1FC3-4EFA-A1E1-81EC880A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在早期阶段（当发现危险时）更容易打破链条。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5F631D-AD91-4E47-ABE8-6DB22E59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DECK_FOOTER">
            <a:extLst xmlns:a="http://schemas.openxmlformats.org/drawingml/2006/main">
              <a:ext uri="{FF2B5EF4-FFF2-40B4-BE49-F238E27FC236}">
                <a16:creationId xmlns:a16="http://schemas.microsoft.com/office/drawing/2014/main" id="{C9DE4340-1960-4DF4-8D4E-FF0F2915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职业安全与健康（BIOT）</a:t>
            </a:r>
          </a:p>
        </p:txBody>
      </p:sp>
      <p:sp>
        <p:nvSpPr>
          <p:cNvPr id="27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AC76B103-58EF-44BB-8919-9F74705A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5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5359f407fe4ee0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818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93F088-D9DA-49B2-B5D6-B8BFB72E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99083C66-9274-433D-B1C8-3CEA62F0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BIOT 守护生命健康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BDB9EA-91A2-46C3-B3A8-0A1FBE05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职业安全与健康 结合了法律、组织、技术、卫生和预防措施。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职业安全是指保护工人免受危险和有害因素的影响。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这些要求对于哈萨克斯坦的雇主和雇员来说是强制性的。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BIOT 活动的费用由用人单位 承担。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20DE6E-D689-45B8-8008-797E5F8CD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A262A2-EE22-4E17-BEE8-AA0F18CC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31BC0D8F-D252-49DD-B000-9184D04F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BIOT 不是一个单独的安全交底，而是一个永久性的工作管理系统。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A3105A-528E-4692-ACE4-65EB130A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917DE839-4906-4F9A-8074-E1A40CE1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标准：哈萨克斯坦共和国劳动法，第 4 条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55C2D702-248F-420F-B59C-3AEF9111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职业安全与健康（BIOT）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8983F5A4-B788-4563-9B6D-EB8BFF2B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9fb96b041941e5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454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1C8FC1-BD2A-4EC9-8628-E62F899B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BBC779E6-E0E6-4024-B794-A037C30B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分配给角色的职责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62B42B-B7BC-467E-838A-09A193FF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用人单位创造条件，组织培训、管控、体检和防护。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经理计划任务、传达安全措施并应对变化。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作业人员 符合要求、实施保护并报告危险。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BIOT 服务有助于系统，但不能取代管理者和员工的责任。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E803F9-35FB-4D30-A235-F4A6C3A7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2797AD-6FDA-4E8F-8554-20FD5EC8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5A6EEA8D-6FF7-43CF-A652-BE1D0E7F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安全不能完全委托给一位专家。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B43902-6E8F-4FDD-B086-423A94D5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3F4597F4-27F2-4898-B7C4-81AB1436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规范：哈萨克斯坦共和国劳动法，第 181-182 条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CE86C7CF-5F29-49F8-8E0B-3B6A16D7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职业安全与健康（BIOT）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61BFDE2E-4743-424A-80A0-DCE1DF5A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79bb0f9d8144fc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5775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EAF3DD-C25D-4591-9F92-91F3467B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8FD723FE-E65C-46C0-8DA0-3A5A04A2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如果存在威胁，工作将停止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858A0B-9820-4E22-A328-CCDAF053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7F8876-FBCB-4EFA-A62F-694EA606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934700" cy="37147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1A65C3-C55D-486B-A674-7D55F074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90750"/>
            <a:ext cx="0" cy="289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B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107088-4991-4294-B80D-320350C6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95500"/>
            <a:ext cx="7810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停止操作或离开危险区域，不会造成额外风险。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警告人员并通知直接主管。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作业人员 有权拒绝在对生命或健康构成威胁的情况下工作，并通知雇主。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消除原因并确认安全后即可恢复。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DB4A03-A783-4031-9292-BCBE4643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C62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62828"/>
                </a:solidFill>
                <a:latin typeface="Arial"/>
                <a:ea typeface="Arial"/>
                <a:cs typeface="Arial"/>
              </a:rPr>
              <a:t>安全工作权伴随着报告威胁的义务。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2D80C2-444A-496A-A2F5-D59F9D41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C0A70099-822F-4286-BD3E-CFA7E371A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规范：哈萨克斯坦共和国劳动法，第181条</a:t>
            </a:r>
          </a:p>
        </p:txBody>
      </p:sp>
      <p:sp>
        <p:nvSpPr>
          <p:cNvPr id="13" name="DECK_FOOTER">
            <a:extLst xmlns:a="http://schemas.openxmlformats.org/drawingml/2006/main">
              <a:ext uri="{FF2B5EF4-FFF2-40B4-BE49-F238E27FC236}">
                <a16:creationId xmlns:a16="http://schemas.microsoft.com/office/drawing/2014/main" id="{45107470-21E5-42B1-B759-A9F9246F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职业安全与健康（BIOT）</a:t>
            </a:r>
          </a:p>
        </p:txBody>
      </p:sp>
      <p:sp>
        <p:nvSpPr>
          <p:cNvPr id="14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27AA0FF6-27AC-4776-A003-C720EBCE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30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114863a70e4526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17" name="STOP_SIGN">
            <a:extLst xmlns:a="http://schemas.openxmlformats.org/drawingml/2006/main">
              <a:ext uri="{FF2B5EF4-FFF2-40B4-BE49-F238E27FC236}">
                <a16:creationId xmlns:a16="http://schemas.microsoft.com/office/drawing/2014/main" id="{1AC48937-3B43-4052-96BD-28C36791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1676400" cy="1676400"/>
          </a:xfrm>
          <a:prstGeom xmlns:a="http://schemas.openxmlformats.org/drawingml/2006/main" prst="octagon">
            <a:avLst/>
          </a:prstGeom>
          <a:solidFill xmlns:a="http://schemas.openxmlformats.org/drawingml/2006/main">
            <a:srgbClr val="D93838"/>
          </a:solidFill>
          <a:ln xmlns:a="http://schemas.openxmlformats.org/drawingml/2006/main" w="19050">
            <a:solidFill>
              <a:srgbClr val="B92323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停止</a:t>
            </a:r>
          </a:p>
        </p:txBody>
      </p:sp>
    </p:spTree>
    <p:extLst>
      <p:ext uri="{BB962C8B-B14F-4D97-AF65-F5344CB8AC3E}">
        <p14:creationId xmlns:p14="http://schemas.microsoft.com/office/powerpoint/2010/main" val="12125202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CE6EBD-6FF0-4045-8D9A-7767A63E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BD29A454-5366-4C31-96A3-34A80EF4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作业人员 必须安全行动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05543E-4E06-4BA3-BC0D-3F624625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符合BIOT、消防、工业安全和卫生要求。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完成培训、安全交底、知识测试和强制性体检。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正确使用提供的防护设备并爱护该设备。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报告威胁、故障、事件或健康状况恶化。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53A998-53D3-4ED4-8241-67F6B64A4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9D2A9F-CFD6-43C6-9B57-AF31E582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49F1C892-A04A-4043-AAA8-FBD40333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隐藏危险源剥夺了组织预防事件的能力。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FFF351-F3E8-4F0A-BD8D-8CC4E1A17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0E495E82-AD5C-4E85-97B4-C7858383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规范：哈萨克斯坦共和国劳动法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A7B49418-BB19-4688-BB51-9E6D4530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职业安全与健康（BIOT）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C065B2E6-6DA6-4904-85F5-A84647FC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f27e9361034189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6137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23CA42-E50E-473E-BD96-FC9C174E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3EA5B581-C68A-4DAE-A62C-6AB1B5D9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用人单位 需要管理风险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627BC3-DAED-4BFB-BC01-565130F4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确保建筑物、设备、流程和工作区域处于安全状态。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组织培训、安全交底、知识控制和工作许可。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提供并维护必要的集体和个人防护装备。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调查事件，消除原因并向工人通报风险。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EA9C5E-29A6-46A6-9075-B0FBAC61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569847-BBC7-48C6-B444-28ABF111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797D2338-D72C-472C-9B39-95E32B14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签发PPE 只是雇主责任的一部分。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B04ACE-74D4-4BC0-975C-2A7468D8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82363AA2-1072-4093-9734-C3368E2C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规范：哈萨克斯坦共和国劳动法，第 182 条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78A01E9F-B24C-45D5-84E8-9DF4B1E4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职业安全与健康（BIOT）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8CDF0C5D-2380-435C-96F1-F07F26FA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46a214196d4dbc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30004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67B5E4-E045-4C08-B6DB-2B2666A1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84F5BF1A-22A7-464A-9AB8-C43BA059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准确、立即传达危险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C9F117-4798-41E4-B586-7223DCFA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D0D142-EA43-4FBB-BD19-CD2D8D38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49010088-03C3-4481-AD08-3AABA22D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74669DA7-521F-4BA6-80A4-FB2A421A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什么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3CC5B46B-C31B-4F7A-A088-232EEFD4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危险源、故障、事件、受伤或情况变化。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3BB047-735C-4F50-A804-DF43CBA50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DFB57362-A406-40EC-9C3C-D7B9753B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7FE975B3-8F17-496F-9584-C2D89105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哪里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9BD1D625-9EFD-4D58-8750-1141A030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精确的位置、安装、区域或工作操作。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989329-3634-47FF-849A-68A4B308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00EF42DA-0CB0-4CB7-AEF2-48780E8D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78611E8D-A418-49A5-824E-08604B127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至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3B04D815-1109-4FAA-889E-F676695F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致经理和其他有关紧急或当地程序的人员。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11894E-67A3-4B0E-946A-41533F22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B5B0757B-7DD7-41C1-A248-F517FD37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24D31106-FED4-46A4-AA5F-6F393F85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完成了什么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5F7FC89A-A0A7-428D-B2EA-1AA06DAB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停止、围栏、援助和当前区域状态。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CAAA02-DCF7-44F5-A6C8-82EA7741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721DDB-B4EA-4F55-85A4-299F9632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BF74CA7F-6A46-42A4-9F6A-4B61AEDE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立即报告事实；待确保安全后确定原因。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5109A8-A10F-482B-8B24-48EB2DC6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DECK_FOOTER">
            <a:extLst xmlns:a="http://schemas.openxmlformats.org/drawingml/2006/main">
              <a:ext uri="{FF2B5EF4-FFF2-40B4-BE49-F238E27FC236}">
                <a16:creationId xmlns:a16="http://schemas.microsoft.com/office/drawing/2014/main" id="{94653319-890D-4C90-A054-E691FEC5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职业安全与健康（BIOT）</a:t>
            </a:r>
          </a:p>
        </p:txBody>
      </p:sp>
      <p:sp>
        <p:nvSpPr>
          <p:cNvPr id="27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81F57B23-2262-4BA8-9674-549F8898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5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255f3fbad549dd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86326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CA2F3B-66F0-45E1-98BC-8489E542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VISUAL_04_s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49aabadd6146c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429500" y="1285875"/>
            <a:ext cx="4191000" cy="4333875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3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73E605FF-BA14-45F8-B730-07D8A210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8BA348-BF40-47FB-B65F-080F19F2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CAA273BA-1382-4DE7-B6B6-569B6F585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6096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劳工法例</a:t>
            </a:r>
          </a:p>
        </p:txBody>
      </p:sp>
      <p:sp>
        <p:nvSpPr>
          <p:cNvPr id="6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64896B29-4D0C-45AE-9A93-CD03E1D0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09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员工不需要物品编号，而是了解权利、责任以及工作条件和安全之间的联系。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E7446E-B6FE-4DF1-BA52-1F953449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98DCA294-38B4-4A22-BF32-66F42D7D6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职业安全与健康（BIOT）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79CFEB50-3355-445D-A88D-723D7DC3C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63536f1ddc4661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36409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E45214-D6B7-4169-9547-52093107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8025C73B-2948-46C9-9742-2A390639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不同级别的要求是固定的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A86CD9-173A-4464-9751-BED34ABE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《劳动法》规定了BIOT 的基本权利、义务和要求。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规则和技术法规公开了个人工作和风险的要求。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集体协议和雇主法案明确了组织内的秩序。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当地指令不能凌驾于强制性法律要求之上。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F01D51-5AC3-43BF-B577-AE34D65A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27F2D4-1B12-490A-9595-9B6DEF26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B23A5222-CB56-47C6-B1A1-395B40D2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对于实际行动，使用与特定工作相关的当前文档。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F4BE98-550F-4338-B436-97AC41E1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C13AC46A-DA54-4517-9EA5-2BD501E7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规范：哈萨克斯坦共和国劳动法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0480F1BC-9C4F-40E2-8AED-7C6CDC588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职业安全与健康（BIOT）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693B29E7-8510-4FC6-83C2-424710369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43643b9a9b4332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35469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60EB39-1F3E-4020-8FA0-518998B87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AD8CF8E1-CE7D-4345-B003-8A73E3E1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入学需满足条件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19ECDF-DC71-4D85-92A9-FF93555E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雇佣合同规定了工作职能和条件，但不能取代职业许可。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在独立工作之前，需要进行既定程度的培训、安全交底 和知识测试。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个人工作需要职业健康检查、资格、团体或作业许可证。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如果不满足所需的许可条件，员工将被停职。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701B1A-6CF5-4018-9A01-812C9A2E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9237B2-3476-4768-9BF9-543E8A90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4F7A107C-8010-43A3-908E-9633371C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人在现场并不等于获准进行任何作业。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65226B-4F62-43C6-959E-24D83F4C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BD964209-1F46-4CE4-9F4D-52D36ABF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标准：哈萨克斯坦共和国劳动法 • BIOT 培训 - 第 1019 号令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D7B4DBD5-E78F-49A3-962E-34657602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职业安全与健康（BIOT）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16743967-D2C8-4B18-B12B-BD8EADBA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c4b27e3be649ab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49200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7BD402-1623-4E91-8E79-1C51B312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2E2C203B-23C0-4137-9F69-841D1487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工作模式影响出错概率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46F6BD-8DBB-40E1-804F-DC82C48A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规划危险任务时要考虑工作时间、夜间工作和加班。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休息和轮班可以让您恢复注意力和表现。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疲劳、睡眠不足和过热是风险增加的迹象，而不是个人弱点。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如果员工的状况影响安全工作，经理会重新分配任务。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A1D2BD-43EF-44A3-B06D-6D094A23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86D328-CFAA-42F1-B9C8-CCBF417A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161B59D6-C74A-4337-B021-C5102DC30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生产计划不应基于持续的过度工作。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A96467-D872-4F3D-99EF-EF7AA098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57AF46B6-1DD2-4EC4-987A-C13878D3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规范：哈萨克斯坦共和国劳动法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112E6DC9-0D98-4EEC-B266-8A186562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职业安全与健康（BIOT）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E7EC03A9-92D1-4A67-BB32-8E3B2651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f01640489447b2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45787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9BCE73-7295-4E9D-BF27-90B8AC5F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E9189A1D-0781-4B12-B761-99E5461A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职业健康检查 和补偿与风险相关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3AB055-DD42-49EE-89AF-378034AA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强制性体检可确认适合性并帮助识别暴露因素。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用人单位 为强制程序的持续时间提供保证。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对危险情况的补偿不能替代风险的降低。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由于暴露而导致的健康变化应立即报告，无需等待例行检查。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B7CAFF-7F66-48BE-A389-1D2A34E3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1C91BD-DBAB-462D-9D68-C5C0B73E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A9064BD5-7AEC-44A9-8E18-A59D3D56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共付额并不能使危险暴露可接受。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F1969E-C960-454E-A1BC-F7562B2D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5C0A4CA5-7133-446E-97DC-930B8DF9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规范：哈萨克斯坦共和国劳动法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ABBDE9AA-C290-4281-944F-BE248313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职业安全与健康（BIOT）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9D279A53-A9DB-405E-BF61-514C8A8E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53cff7aa22401f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06113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0DFABC-EE28-41DB-AA14-B35ED6E0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19D27D0A-7B2D-4E50-87DE-CC72EFA5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违规需承担责任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908CF4-1134-4CA2-80D2-9C31B55C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责任取决于角色、权限、违规性质和后果。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纪律处分并不妨碍对原因的调查和纠正措施。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作业人员 保留了解有关风险和安全工作条件的信息的权利。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关于工资、休假和其他权利的争议与直接安全安排分开处理。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62F65-7315-4A5F-896C-7265C662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59453B-77EF-4360-AE35-48F693A6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5A3B163D-9BD4-4D7D-98CF-8314C81F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分析违规行为的主要目标是消除重复，而不是隐藏问题。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EE7373-C4B7-4ECB-8E4B-551A12D7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7175BC85-4E9F-4641-883B-13861072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规范：哈萨克斯坦共和国劳动法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E364707B-D556-406F-BC8D-3C131234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职业安全与健康（BIOT）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F4CD657A-CCCF-4433-BA53-8F3E77B3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352543b65a4da2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54334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4A9FB5-B432-4406-B63C-8303538A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VISUAL_04_s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8bb89b53484f5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429500" y="1285875"/>
            <a:ext cx="4191000" cy="4333875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3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5BA93CB5-2ADE-43A3-A0DF-E227F92A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III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60E60B-AA98-4CC4-9729-FFB3E4A3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53E6EB63-AFA7-4487-AD89-CB5DC982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6096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职业安全健康管理体系</a:t>
            </a:r>
          </a:p>
        </p:txBody>
      </p:sp>
      <p:sp>
        <p:nvSpPr>
          <p:cNvPr id="6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AFC8C33A-E7A7-403F-A971-9276902D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09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通过一致管理降低风险：从消除危害到监控PPE的使用。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668E2F-70F1-4857-B6CD-29622F6B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14938D08-0156-43C3-AEDC-D5893A10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职业安全与健康（BIOT）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A8018326-B2A7-42D7-84D4-91F8E6D6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aee071937c4415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6780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9D28C9-396B-4DD1-B1F6-F106FC8D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F69BB016-4961-4DD8-8834-483E8262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该政策规定了具体责任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B557A1-203D-4CEC-BCD9-322A2EDEF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管理层建立目标、资源、权限和控制。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在工作前和每次重大变更时识别危险。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措施包含在计划中，分配执行者并检查结果。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员工通过消息、建议和反馈参与。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05DAD2-BBAB-41C9-B3E2-4A382978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CA5083-7B90-4088-8C2A-FB707303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20110D23-F7A1-4CBC-B33A-061B45AB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策略仅在定义了谁在何时做什么时才起作用。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BA8D75-D074-4950-BFA4-2C25AFE1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C6CB7CA5-5C6F-4DE4-87CC-D597D872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职业安全与健康（BIOT）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ADB7F4AB-11F2-4BAB-B546-5CD71051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095ce292c346cf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1639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74EDE8-07CC-4F35-AA4A-6A8C495C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74EC4BA0-B59D-4585-91A6-C9879971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风险评估从任务开始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A9291F-F2B0-4DB6-A72D-A9AA2B71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D36FFF-77C2-4DCC-AB3A-3684C99F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DF3D561A-B5A2-44D3-AA50-0587B77D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860E8316-73A9-4420-ADAD-B394CE33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定义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FA2539C2-9C45-40B9-99D4-8859777A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执行什么工作、在哪里、由谁执行以及使用什么设备。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E13FB1-4ED8-4D12-9128-C55E24C6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9AB65C8F-2A1C-4918-92CC-009D4D2E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C94E0506-7C95-4E5A-9E53-004DF858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揭示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207395C6-FB05-404B-8CE1-198B3C79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能源、物质、海拔、运动和人为因素。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B6302E-718C-4663-B007-8DC14057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AA9F915C-5CCD-4574-9DC5-F7C1A37AF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860AF1D6-43A1-401F-883F-C47D3A4B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率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6DA65F46-56A8-4C49-8F13-B45A82F1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接触概率和可能后果的严重性。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6C6E3A-7348-4FE6-8554-C3FB9828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17524D36-B9FB-4B12-A649-EEBA42EB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A8607F78-75F9-4B72-8BA3-0E6F7589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管理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517FBC61-75B9-416D-A38F-EF200428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选择措施、分配控制措施并在发生变化时进行修改。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7B3BC4-35FB-4170-B9F6-C25BE216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F2FD07-2499-4206-9736-D0F9B3B5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6BA66136-7D8E-4B18-A363-4F86F455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风险 针对现实生活条件进行评估，而不是针对抽象职业。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36A6D3-9E0A-48A0-A8C9-90B5EC4E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DECK_FOOTER">
            <a:extLst xmlns:a="http://schemas.openxmlformats.org/drawingml/2006/main">
              <a:ext uri="{FF2B5EF4-FFF2-40B4-BE49-F238E27FC236}">
                <a16:creationId xmlns:a16="http://schemas.microsoft.com/office/drawing/2014/main" id="{F704437E-A19E-4FFB-B1F9-4EFF6B84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职业安全与健康（BIOT）</a:t>
            </a:r>
          </a:p>
        </p:txBody>
      </p:sp>
      <p:sp>
        <p:nvSpPr>
          <p:cNvPr id="27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F865064E-181D-4300-88CD-39A97F98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pic>
        <p:nvPicPr>
          <p:cNvPr id="5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6046bd37ee4569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67560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38B143-0B80-4D72-ACA4-B1828F1C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052E8EA7-53CA-4E71-A23E-84A5C28A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措施的层次结构设置了正确的优先级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2908D2-1326-4997-A242-F6BACC84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DF4468-FAA2-4D5D-8FF9-4B0400A5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D056C266-34CF-4652-B1E4-0CA602AE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87C24B9D-101D-4DE7-B2D6-0A859A12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消除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0C5F9EC0-B6C9-47B0-8C90-0A2C5C327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消除危险源 或操作本身。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39CD32-BC1A-481B-A7C2-AAC097C0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B81CB964-6811-4DFE-8B57-D8CF5633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112F3D11-F567-4451-B888-C4940FC6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更换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7D015E51-EAD4-499B-B854-20E46D69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使用危险性较低的材料、方法或设备。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ABC7B1-2BA9-4B24-835C-AC9494A6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36C43F15-6C7C-4220-8A09-38DCEBAF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A46D1AE8-F402-4FDC-96F8-1F3CC8A0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隔离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2CD52A60-77C1-4016-88C9-41FF5D19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围栏、自动化、通风和集体防护。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374145-7416-4A78-A4D2-056E54E5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3D4E79EC-8AFF-42E5-ABCF-18F19E46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55EAD3FA-9C03-4AD8-913C-A58BB654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组织和保护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73EC1FC7-6500-4ADA-95D9-F33EDC2D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程序、许可、培训，然后是必要的PPE。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D40110-75D6-427F-B24C-4BB82338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7FFF9D-567A-4792-AD6C-2A783C5E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A4F022B7-C0A4-47D4-A892-C4AEBD3E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PPE 在采取更可靠的措施后使用，而不是代替它们。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6BF8E4-C623-4396-9647-3E0B2E99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DECK_FOOTER">
            <a:extLst xmlns:a="http://schemas.openxmlformats.org/drawingml/2006/main">
              <a:ext uri="{FF2B5EF4-FFF2-40B4-BE49-F238E27FC236}">
                <a16:creationId xmlns:a16="http://schemas.microsoft.com/office/drawing/2014/main" id="{9D2401A7-4B39-4DBF-85BA-20E50A54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职业安全与健康（BIOT）</a:t>
            </a:r>
          </a:p>
        </p:txBody>
      </p:sp>
      <p:sp>
        <p:nvSpPr>
          <p:cNvPr id="27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6439DC16-C16F-4C78-9776-8770D1C7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pic>
        <p:nvPicPr>
          <p:cNvPr id="5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59717d03684f27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01156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E2F1A1-5E5E-45F1-BDEA-EEAB72B1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ECF1ABAE-A725-4889-9172-E35400C7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计划和说明必须是最新的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531826-3605-41A4-AB08-32E37E94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规划定义了顺序、角色、设备和控制点。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生产控制检查合规性和系统状况。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该说明描述了工作前、工作中、工作后以及发生事故时的安全行动。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当技术发生变化时，文件和安全交底 会进行修订。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A948B3-B1D0-464A-B8AC-3EAA1C1A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CA3719-232C-44C5-8EE2-7AC2519D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052DB648-BEBE-4F36-B2AA-2500653F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不反映实际设备的说明无法控制风险。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63165B-0856-43C9-9E97-6D1A537C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942424D7-2861-4A24-8626-A303B817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职业安全与健康（BIOT）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C23BEDED-5B59-4CEC-AFBA-D6FB20DA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814333eec84ab8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40939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587F67-B42E-477E-9893-CD25E4A5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464AE84C-3B69-4FF3-BD07-2FC10C3A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培训以理解检查结束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3DA303-DBD1-4977-BF39-97492DBD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员工按规定方式接受培训、安全交底 和知识测试。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职业和工作清单由用人单位 确定，并考虑到性质和工作条件。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转入职业后，如果工作条件得以维持，则可能不需要再培训。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实际许可确认安全执行特定工作的能力。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BC04A7-9892-4862-8D8E-B4F44F39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9B59A8-8A5A-4E4E-8CA6-EBE6C75F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4F14DC45-DF0D-49F1-81BC-56E6D312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改变条件比职位名称形式上的重合更重要。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31C2FC-A907-4F36-92BE-1639605F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B58980F7-2953-488D-B452-64799C7F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规范：职业安全与健康培训——第1019号命令 • 2026年修订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2F7DA81A-2FF4-44F7-8C7A-E47B3889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职业安全与健康（BIOT）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843D932E-1ECB-41CE-9389-A7DDAC03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06cd90f00e4c8c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4164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E8E2CD-500E-4F1F-8B92-7C97C803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CDF51E50-BBF7-4950-97B4-51833541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安全交底 根据情况选择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B22DA2-E9B2-4500-AB00-7B5D4AA6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介绍性介绍组织的一般风险和规则。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工作场所主要是指特定的工作和设备。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重复可以维持知识；根据规则，需要计划外的变更、事件或休息。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在一次性或专门组织的工作之前进行目标确定。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81C947-23D6-4A91-B5D2-F2B2553C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0EFA59-2C28-4445-8EA3-E3D913B8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3752602E-BA1A-46E0-A2EF-F6BC65B5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签名确认指令的事实，但安全确认对操作的理解。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BCC772-F9A4-4B87-A917-64FCE7A31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9D4889B3-CEB7-4808-9AC1-A0E0CA9C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规范：职业安全与健康培训——第1019号命令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9A2EB079-7F13-436F-8C79-C343DEBF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职业安全与健康（BIOT）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A01CF4FC-D2F4-483C-8538-F5371CC7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7c37bcda704235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72885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605B5E-2230-4B32-B027-BDC60D18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52CBFA2B-EF0E-4D87-996C-226296E5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作业许可证 链接 风险 和措施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114677-41FF-47ED-BF82-126D52E6D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作业许可证规定作业地点、内容、时间、条件、班组组成和责任人员。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其中记录隔离、作业环境监测、围挡、通信、个体防护装备和应急措施。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许可证仅在规定的条件和范围内有效。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条件发生变化时，必须停止作业并重新审核许可证。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F2C312-AA6D-4E66-9ABF-9DEB44D3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247421-B8F8-46D7-A6B4-AEB5177F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94D05556-D8A9-4219-A2BD-13A74F2E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作业许可证 不允许忽略新的危险源。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89B640-189C-42A4-B668-3EDC57C8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A82E962D-CE9B-44BD-A889-AA725503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标准：高空作业-工作许可证的定义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C88AC874-8B93-4A82-90D6-53CA1A477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职业安全与健康（BIOT）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78817068-A613-424E-B594-32DF7609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78590ff939428d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06485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7E8287-2CA0-4CF1-8F03-FAF9A93E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4484B292-5CA5-4EE0-955B-7E1A7379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职业健康检查 和 资格考核：不同的任务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10E9CD-6C02-4EDC-8DC4-A62A1452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EF431DB6-F854-4554-A271-E19F62193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职业安全与健康（BIOT）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74E7332C-A44F-413E-AC62-4AA077E0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pic>
        <p:nvPicPr>
          <p:cNvPr id="3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01749d559f412c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14" name="MEDICAL_CARD">
            <a:extLst xmlns:a="http://schemas.openxmlformats.org/drawingml/2006/main">
              <a:ext uri="{FF2B5EF4-FFF2-40B4-BE49-F238E27FC236}">
                <a16:creationId xmlns:a16="http://schemas.microsoft.com/office/drawing/2014/main" id="{72802C8C-9DAF-4E81-8C95-EBF447A6E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219700" cy="300990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5" name="ATTESTATION_CARD">
            <a:extLst xmlns:a="http://schemas.openxmlformats.org/drawingml/2006/main">
              <a:ext uri="{FF2B5EF4-FFF2-40B4-BE49-F238E27FC236}">
                <a16:creationId xmlns:a16="http://schemas.microsoft.com/office/drawing/2014/main" id="{DFC80389-5F6B-4C65-BFA9-36C6C5AE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5219700" cy="300990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6" name="MEDICAL_ACCENT">
            <a:extLst xmlns:a="http://schemas.openxmlformats.org/drawingml/2006/main">
              <a:ext uri="{FF2B5EF4-FFF2-40B4-BE49-F238E27FC236}">
                <a16:creationId xmlns:a16="http://schemas.microsoft.com/office/drawing/2014/main" id="{AE094151-BAB4-4B4F-8202-D500BDB0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715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TTESTATION_ACCENT">
            <a:extLst xmlns:a="http://schemas.openxmlformats.org/drawingml/2006/main">
              <a:ext uri="{FF2B5EF4-FFF2-40B4-BE49-F238E27FC236}">
                <a16:creationId xmlns:a16="http://schemas.microsoft.com/office/drawing/2014/main" id="{F570FBE4-D1C6-473B-9EFA-647DF4BD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5715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EDICAL_ICON">
            <a:extLst xmlns:a="http://schemas.openxmlformats.org/drawingml/2006/main">
              <a:ext uri="{FF2B5EF4-FFF2-40B4-BE49-F238E27FC236}">
                <a16:creationId xmlns:a16="http://schemas.microsoft.com/office/drawing/2014/main" id="{012453C2-48CC-436B-9106-21F1CC98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38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rPr>
              <a:t>✚</a:t>
            </a:r>
          </a:p>
        </p:txBody>
      </p:sp>
      <p:sp>
        <p:nvSpPr>
          <p:cNvPr id="19" name="ATTESTATION_ICON">
            <a:extLst xmlns:a="http://schemas.openxmlformats.org/drawingml/2006/main">
              <a:ext uri="{FF2B5EF4-FFF2-40B4-BE49-F238E27FC236}">
                <a16:creationId xmlns:a16="http://schemas.microsoft.com/office/drawing/2014/main" id="{2953B74D-9F66-4283-8AA0-CC684EA34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38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rPr>
              <a:t>✓</a:t>
            </a:r>
          </a:p>
        </p:txBody>
      </p:sp>
      <p:sp>
        <p:nvSpPr>
          <p:cNvPr id="20" name="MEDICAL_HEADING">
            <a:extLst xmlns:a="http://schemas.openxmlformats.org/drawingml/2006/main">
              <a:ext uri="{FF2B5EF4-FFF2-40B4-BE49-F238E27FC236}">
                <a16:creationId xmlns:a16="http://schemas.microsoft.com/office/drawing/2014/main" id="{015520D3-0F44-4EEC-8B73-93B5AB7A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00025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6B4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B49"/>
                </a:solidFill>
                <a:latin typeface="Arial"/>
                <a:ea typeface="Arial"/>
                <a:cs typeface="Arial"/>
              </a:rPr>
              <a:t>职业健康检查</a:t>
            </a:r>
          </a:p>
        </p:txBody>
      </p:sp>
      <p:sp>
        <p:nvSpPr>
          <p:cNvPr id="21" name="ATTESTATION_HEADING">
            <a:extLst xmlns:a="http://schemas.openxmlformats.org/drawingml/2006/main">
              <a:ext uri="{FF2B5EF4-FFF2-40B4-BE49-F238E27FC236}">
                <a16:creationId xmlns:a16="http://schemas.microsoft.com/office/drawing/2014/main" id="{DD6B6385-999A-438E-8A32-FF6917F3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0025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6B4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B49"/>
                </a:solidFill>
                <a:latin typeface="Arial"/>
                <a:ea typeface="Arial"/>
                <a:cs typeface="Arial"/>
              </a:rPr>
              <a:t>资格考核 工作条件</a:t>
            </a:r>
          </a:p>
        </p:txBody>
      </p:sp>
      <p:sp>
        <p:nvSpPr>
          <p:cNvPr id="22" name="MEDICAL_BODY">
            <a:extLst xmlns:a="http://schemas.openxmlformats.org/drawingml/2006/main">
              <a:ext uri="{FF2B5EF4-FFF2-40B4-BE49-F238E27FC236}">
                <a16:creationId xmlns:a16="http://schemas.microsoft.com/office/drawing/2014/main" id="{FE45ACEC-92E8-4A07-967C-AF9F9CA2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46482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202020"/>
                </a:solidFill>
                <a:latin typeface="Arial"/>
                <a:ea typeface="Arial"/>
                <a:cs typeface="Arial"/>
              </a:rPr>
              <a:t>结合相关因素和所从事的工作评估作业人员健康状况。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202020"/>
                </a:solidFill>
                <a:latin typeface="Arial"/>
                <a:ea typeface="Arial"/>
                <a:cs typeface="Arial"/>
              </a:rPr>
              <a:t>结果包括：医疗限制、工作适任性与作业准入，以及预防性建议。</a:t>
            </a:r>
          </a:p>
        </p:txBody>
      </p:sp>
      <p:sp>
        <p:nvSpPr>
          <p:cNvPr id="23" name="ATTESTATION_BODY">
            <a:extLst xmlns:a="http://schemas.openxmlformats.org/drawingml/2006/main">
              <a:ext uri="{FF2B5EF4-FFF2-40B4-BE49-F238E27FC236}">
                <a16:creationId xmlns:a16="http://schemas.microsoft.com/office/drawing/2014/main" id="{49EE25C3-3A94-4F08-8AAB-9B5CD2EC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86050"/>
            <a:ext cx="46482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202020"/>
                </a:solidFill>
                <a:latin typeface="Arial"/>
                <a:ea typeface="Arial"/>
                <a:cs typeface="Arial"/>
              </a:rPr>
              <a:t>评估工作条件和影响生产因素。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202020"/>
                </a:solidFill>
                <a:latin typeface="Arial"/>
                <a:ea typeface="Arial"/>
                <a:cs typeface="Arial"/>
              </a:rPr>
              <a:t>结果：改善措施、保障和条件控制。</a:t>
            </a:r>
          </a:p>
        </p:txBody>
      </p:sp>
      <p:sp>
        <p:nvSpPr>
          <p:cNvPr id="24" name="MEDICAL_TAKEAWAY_BG">
            <a:extLst xmlns:a="http://schemas.openxmlformats.org/drawingml/2006/main">
              <a:ext uri="{FF2B5EF4-FFF2-40B4-BE49-F238E27FC236}">
                <a16:creationId xmlns:a16="http://schemas.microsoft.com/office/drawing/2014/main" id="{50426AE3-ADF0-48C4-BBDD-699FCD42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7251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5" name="MEDICAL_TAKEAWAY_ACCENT">
            <a:extLst xmlns:a="http://schemas.openxmlformats.org/drawingml/2006/main">
              <a:ext uri="{FF2B5EF4-FFF2-40B4-BE49-F238E27FC236}">
                <a16:creationId xmlns:a16="http://schemas.microsoft.com/office/drawing/2014/main" id="{1D630D56-E3C0-4128-9961-16D1704F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E9FBF673-8888-43E0-99CB-7C6D772C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48250"/>
            <a:ext cx="10248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6B4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6B49"/>
                </a:solidFill>
                <a:latin typeface="Arial"/>
                <a:ea typeface="Arial"/>
                <a:cs typeface="Arial"/>
              </a:rPr>
              <a:t>职业健康检查 和资格考核 都不会取代当前的风险评估：更改后的工作场所将再次进行检查。</a:t>
            </a:r>
          </a:p>
        </p:txBody>
      </p:sp>
    </p:spTree>
    <p:extLst>
      <p:ext uri="{BB962C8B-B14F-4D97-AF65-F5344CB8AC3E}">
        <p14:creationId xmlns:p14="http://schemas.microsoft.com/office/powerpoint/2010/main" val="163671007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DA30C5-A02A-4F4E-B647-A5BE82A6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725C1CC7-0FC5-4B26-8189-DAF12946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集体保护适用于来源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40BAC9-14CB-4617-8FA4-E0D009599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防护装置、联锁、通风、隔离和远程控制保护一组工人。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保护装置必须正常工作，并且不能为了方便而被绕过。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仅在受控程序下才允许拆卸或断开连接。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集体保护失败会影响工作许可。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885673-2217-4F9B-93D8-6428C2B6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0EC2D5-6773-468E-B9E9-663ADF67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EB5821F0-2F15-40F6-B15C-F7E5BA9A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首先他们保护工作场所，然后保护特定的人。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C78FBE-92DF-41F4-A9F9-902427F9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80106393-949A-4C96-ADE7-6139C996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职业安全与健康（BIOT）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6B92FCF0-2A64-4202-823A-AD038D55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e26aa2f0c34985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85838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EDA46A-EEBE-445A-8460-D3C14A55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920C5229-40EE-496D-8C91-674F9B9A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PPE 选择、发布和控制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0B7C1C-B575-4C51-82FB-32EC2FAF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类型PPE 对应于危险、暴露水平以及与其他产品的兼容性。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作业人员 经过佩戴、调整、检查和应用限制方面的培训。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PPE 使用前检查、按照说明维护和储存。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损坏或过期的产品随意更换且不修理。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DEDCBC-9B34-4B2C-BE5D-9B2A90B4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8DEC9D-141B-4FCC-908A-4E5B6CDB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41D6A239-026E-42CE-97EE-D7FFE5CE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PPE 只有正确选择并实际应用才有效。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E4ECCA-5160-4270-AB94-200E106B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2E2A398B-F216-437A-A567-ED28A71B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规范：哈萨克斯坦共和国劳动法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F688284E-B4E1-44CE-833C-409C90EB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职业安全与健康（BIOT）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8045B981-3CB1-4AED-9CC7-29271253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53d17394d640cd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46045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5A687B-34B2-45F4-B9AD-C6409B5C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42C67EE2-47C5-48B8-9ACA-C6D5841C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电力需要消除能量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67C332-0A3A-4D09-BD29-2E9A5FDF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规划工作时考虑了电压、环境、设备状况和人员资质。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干预前，按照程序断开、阻断并检查是否存在危险能量。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损坏的电缆、插头、外壳和保护装置停止使用。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在安全移除电流之前，不得触摸受害者。</a:t>
            </a:r>
          </a:p>
        </p:txBody>
      </p:sp>
      <p:pic>
        <p:nvPicPr>
          <p:cNvPr id="18" name="VISUAL_04_s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916dcdc1bc43d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658100" y="1752600"/>
            <a:ext cx="3962400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692A743E-E10B-4517-A25C-5FB5BCFD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257800"/>
            <a:ext cx="3962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控制关闭并不总是意味着电压关闭。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D02757-6158-4CDE-8A77-EC59D70D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03B0E4B1-9715-4998-8CB6-7FDE93A9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规范：工具安全——第204号命令</a:t>
            </a:r>
          </a:p>
        </p:txBody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4794A5DB-54B4-44F7-ACEC-1226B7FA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职业安全与健康（BIOT）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24D77C70-CADC-4A5B-8789-DD9810CB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39ced8a3d749b1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72080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3A8B73-AC86-4646-9D02-0F5D25A6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601CA2D4-5651-4CCB-B2CF-F09BC86E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起吊前计划高空作业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0BAB9A-481F-496E-978B-933084BA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定义安全通道、工作区域和集体保护。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如有必要，选择防坠落系统、锚固点 和救援计划。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工具和材料防止坠落；下面的危险区域已被围起来。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天气和不断变化的情况可能需要停下来。</a:t>
            </a:r>
          </a:p>
        </p:txBody>
      </p:sp>
      <p:pic>
        <p:nvPicPr>
          <p:cNvPr id="18" name="VISUAL_04_s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3e83dd22a34a7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658100" y="1752600"/>
            <a:ext cx="3962400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9934E873-F39B-436C-8943-BE89D39A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257800"/>
            <a:ext cx="3962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没有安全锚点和救援计划，防坠落保护是不完整的。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D6C189-1BBE-4F38-8E27-CCABE692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0090A085-7850-425F-B6DD-62AFFB25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规范：高处作业——第109号命令</a:t>
            </a:r>
          </a:p>
        </p:txBody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6B653388-6477-4EFB-A0E8-B2965B28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职业安全与健康（BIOT）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DC1997DA-2327-4519-8760-5BA137BE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8ac80e83db4c16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27344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0EFD25-82D0-4789-92B5-F320A083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2B5E4740-0DB5-41F4-B1BD-C5AAEFDB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急救 从安全开始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C11F74-9C6E-40EE-B0FD-9F3B30FD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2FA5E5-3887-4FF3-B8BE-5DFD49B4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E6A9742F-9D7D-4D61-BE8D-FAE940C9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940D50D2-355E-4ACD-B17E-E0AE83D2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率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E8F2272F-9AC2-49C3-A7DF-B9CEFFE6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未停止暴露请勿进入危险区域。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B1B327-6EE1-4854-BC9C-1947CD7B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5FFA37BA-A165-4926-92BE-5FBBA63A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0C2465F1-D59F-4538-BC74-EAE9E101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致电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AB6D092B-0889-452A-AC46-494DDA21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报告 112、地点、事件性质以及受害者人数。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38FBBD-508B-43B6-807D-E17B6C7F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6D38B30B-A85E-43F8-8D73-0053D568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5F928F6A-567C-4D1F-83BD-08C4AAEE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帮助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5D1B5676-CD5B-4641-901E-E1AD1A88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检查状况并在培训和设备限制内采取行动。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E06524-E071-401E-8F31-58628FDD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7134956E-E0FE-4F19-B430-C1414D16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7007CB8E-96D3-4DD0-954A-D9AEBCB7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发送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5198A293-3DBF-470F-885E-10C80172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寻求帮助并报告已完成的操作和已知事实。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318A5E-FA77-4AAF-B53C-4462035E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B7152E-F848-46FB-9739-4918AA6D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CC4CCB45-958A-4AA2-A1D4-8C0ECF12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救助者不应该成为第二个受害者。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86D70A-046D-4697-8257-789EC1E7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DECK_FOOTER">
            <a:extLst xmlns:a="http://schemas.openxmlformats.org/drawingml/2006/main">
              <a:ext uri="{FF2B5EF4-FFF2-40B4-BE49-F238E27FC236}">
                <a16:creationId xmlns:a16="http://schemas.microsoft.com/office/drawing/2014/main" id="{AA350490-86D4-42B3-8BAA-761E79FD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职业安全与健康（BIOT）</a:t>
            </a:r>
          </a:p>
        </p:txBody>
      </p:sp>
      <p:sp>
        <p:nvSpPr>
          <p:cNvPr id="27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79507525-15F8-46FC-991D-73749EEC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pic>
        <p:nvPicPr>
          <p:cNvPr id="5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f100e15caf4558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77737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602065-6551-409B-8F5C-CF612461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VISUAL_04_s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88931f705644b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429500" y="1285875"/>
            <a:ext cx="4191000" cy="4333875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3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63774DF9-B6BF-487F-8B70-A97151A2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IV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23379F-A0C3-4CB0-BF9F-13200EA3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2FCFDF69-31EE-4B9E-9B94-A5D7F97A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6096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事件和准备</a:t>
            </a:r>
          </a:p>
        </p:txBody>
      </p:sp>
      <p:sp>
        <p:nvSpPr>
          <p:cNvPr id="6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BE92B550-26BE-401D-A35E-725E2019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09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事件发生后，先保护人，再保留事实，再解决系统性原因。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5C5796-E9AD-4A1B-98FA-BD9E685E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2058F669-12ED-4E7E-AA8B-0BA4B757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职业安全与健康（BIOT）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06ECA05C-BB64-40BC-A162-F8C8837D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d80eb7d09f4e6a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71656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4360EB-94F7-4C4D-9986-DAC307FE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C9BE166C-47A5-4410-804A-F15527E5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危险源、事件 和 工伤事故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822763-6174-4DED-97D6-AA756C7C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危险状况或活动可能造成伤害。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事件 是可能或已经导致损坏的失控事件。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工伤事故 与暴露和伤害、损伤或中毒有关。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所有级别对于防止复发都很重要。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EEE3B3-5B14-488C-A434-494B72F6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40FBF0-66E3-451D-B3EC-4F922964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0862E45A-621C-44D9-A634-E2DBABB0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报告非伤害事件有助于防止发生更严重的事件。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1C19A8-CFA1-48ED-AEE9-0B2DEF2D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2A11F32F-2C73-42E6-BED8-0FF5B03C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规范：哈萨克斯坦共和国劳动法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26E25C09-F462-41BF-BC4B-2866C451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职业安全与健康（BIOT）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C9A1AD4F-7126-4AB9-A2B3-0963FBE4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e5fbc81f484a6a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47133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6E7F61-4446-4FC2-BD26-78815383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914EAEC4-9244-48CD-89F2-A2DF79BF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事件发生后，遵循优先顺序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9F421A-68AC-4294-AF65-83416676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0E97D6-A8B8-4EAB-992C-2459CB43A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6E22EF0E-AA94-44FF-8EB3-6B143FF2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3EE16CC1-4AD4-40B1-97D2-6586D4E5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停止危险源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21FE501C-EEA1-48EA-A9B2-33D46D9E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停止能量、运动或影响，而不会给自己带来风险。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67480A-18D7-47E6-AE2D-C5E3E5BC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4AB971AD-832D-432F-BCDB-D587B404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61D5BA0F-7C3E-4380-9D18-DB53181C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帮助别人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F104F4DB-58F9-4CD1-9436-D78D66DB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寻求帮助，组织急救和疏散。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B46381-8868-4D23-AAD2-DCF4FFB7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FB9D8D16-CB15-4F56-89CE-33C9F4FB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2B88C7AE-E76B-49FE-96B0-AEDD957D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报告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A0B8FA51-1BD1-40AA-9275-F9DC76D1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按照既定方案通知经理和服务人员。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58B6AD-0D23-4F28-ADD4-05B6F2B7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E5DBD097-0DE0-4946-B93E-E6A8C369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534ECF86-2EF1-4069-9265-788CAF1C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保存事实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A07DD2AE-78D0-4320-BA82-905FCF2E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不要改变现状，除了救人、阻止事态发展。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CA9F30-5FB5-40CF-9D65-CFF11992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819D66-7C7A-4220-84E6-C0FA7169D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B01E7B62-1E93-479E-BFE5-5D716FB1C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救援和防止进一步伤害比维持同样的情况更重要。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7DF900-373B-495F-818C-DB8B6E19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E24B2753-B3FC-42EB-BD9A-4B942B06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规范：哈萨克斯坦共和国劳动法</a:t>
            </a:r>
          </a:p>
        </p:txBody>
      </p:sp>
      <p:sp>
        <p:nvSpPr>
          <p:cNvPr id="27" name="DECK_FOOTER">
            <a:extLst xmlns:a="http://schemas.openxmlformats.org/drawingml/2006/main">
              <a:ext uri="{FF2B5EF4-FFF2-40B4-BE49-F238E27FC236}">
                <a16:creationId xmlns:a16="http://schemas.microsoft.com/office/drawing/2014/main" id="{ECD784B9-77C2-4913-B992-6014739D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职业安全与健康（BIOT）</a:t>
            </a:r>
          </a:p>
        </p:txBody>
      </p:sp>
      <p:sp>
        <p:nvSpPr>
          <p:cNvPr id="28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E4A8FBC5-A9DB-4BF6-BB04-79278303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pic>
        <p:nvPicPr>
          <p:cNvPr id="57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23e1880a8f479d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46058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1FA52D-F7E5-424E-BBA3-CE586A04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387AE2C7-0BEB-4759-802B-624942BE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调查确定原因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39674C-0D73-43FD-910B-C11AD0ACB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收集有关条件、任务、设备、操作、培训和管理的事实。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将直接事件与组织和技术原因分开。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结果按规定方式正式化并予以考虑。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由负责人规定纠正措施并检查有效性。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8FCD01-5E07-4141-9D39-8C59FEA0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D7AEF8-A7FB-4FD2-919E-F681512B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16E4C63C-579C-4529-B83E-6D913EEE3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“员工注意力不集中”的解释很少揭示整个原因系统。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98E1F6-351D-4807-BF60-24440198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94492B72-902D-4B52-9353-4CFAF25C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规范：哈萨克斯坦共和国劳动法-调查与核算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4E233C1E-E94E-4730-8677-79560625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职业安全与健康（BIOT）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734D62B0-A96F-44B1-837B-0D7436B2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2ab4e43fef4855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2585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B7D27D-AC01-4CF7-8E4B-EB766F9A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FA6E1210-AAA7-4995-A324-ABE267EC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影响可能会逐渐发生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AE69E8-A419-4A95-8B1D-83F51A43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职业病与长期或反复接触各种因素有关。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急性中毒可能需要立即疏散、净化和医疗护理。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向主管和医疗保健提供者报告症状和情况。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来自医疗监测和环境监测的数据用于预防。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65C80E-B3B9-4D54-962A-F6F75ED5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00AEA2-A6D0-4C5E-A069-ADDA31BD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9A102B00-3A92-4619-9B37-45C1BB16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轮班时没有受伤并不意味着没有对健康造成伤害。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4E2AF6-5E27-41B6-8C6D-826BE65A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08AEF9EF-608B-4F56-B183-1221F533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职业安全与健康（BIOT）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DB5D8A38-D977-4E5D-A61D-FC5331A9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500a465575442c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88793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23E7BE-72A0-4C66-BC06-E9F69F84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FF7A8301-21CC-4DFA-BBE6-6BDCC6CD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保险不能代替预防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FDC8DC-EE16-40C0-92A6-36F42195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强制保险在发生事故时保护员工的财产利益。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付款程序取决于既定程序和情况。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保险事件不会取消原因的调查、记录和消除。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用人单位 继续履行防止暴露的职责。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0F914B-9FAC-49E6-A514-1893B12D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3C3CAE-253C-4D28-93FD-56A2F624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C6C7334D-2A46-46F8-852F-3AAA5812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后果补偿不是风险管理措施。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89DE86-ADF5-4FBD-AD09-696CE9E25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9F714BA0-5C17-4635-8698-43F37239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规范：哈萨克斯坦共和国劳动法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DCC1D31A-321C-4505-8161-6F18A47C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职业安全与健康（BIOT）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8EDB8E74-2D15-47ED-84B5-FAFF5B85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a1c7bd2f204d33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86602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6CEE7E-7753-470D-A5AD-2FF7867C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E24A8212-B7AF-49FF-B3E2-437BC295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纠正措施必须改变系统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2BA2C0-99FA-4202-88FC-1454E847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消除根源或技术原因，而不仅仅是提醒规则。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审查技术、围栏、维护、培训和监督。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确定期限、责任人及确认结果的方法。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检查测量风险 是否已转移至另一工序。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1EBD87-4B1D-46FD-8B45-12AF7DD5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FF12C9-1609-411B-884D-037BCE47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591C2E2A-851B-46FA-87BE-0C3518C9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重复安全交底 未消除故障并不能消除原因。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30E0BB-C079-44C6-AD1D-F420A5DC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0E230264-5EFC-4DBC-8EF3-1D62D1B7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职业安全与健康（BIOT）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5BDA994E-7F18-4C1D-B41E-86106C45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010eea3945479b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43192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3473D3-849C-44A4-BCE0-CB534785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7E3D3334-6662-42CB-9575-388DEE5D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通过培训检验应急准备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1BDCBA-2C4D-47D4-B91F-3CE7A9AE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0EA3C8-35A7-49A2-96D8-608EC86F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751829B1-B215-4B03-896D-D46EB467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ADF4C79B-FE6B-46B7-828D-56761436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计划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5A271623-C40A-4A90-BDA4-C01270CF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脚本、角色、通知、路由、资源和服务交互。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668FA9-E6C9-41FB-836B-E99927BE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09038814-7607-4BBB-8AB4-616D14C3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DC94EED4-FE83-4E21-B506-75B3F136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准备工作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B7B88F55-783D-4FB0-AD54-D1FF97CE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人员培训以及通信和保护系统的准备。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8AC402-E043-45DB-AE6E-BF64989D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3D2727DC-2700-451B-A886-9D5CAE14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30F66600-F189-41BC-B215-77172D69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培训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FF005134-AD75-4090-9671-4425691C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实际测试动作，不会造成真正的危险。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E63BE4-4C2A-4F92-8B8B-812B8A5A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77EEA30A-AE9D-4FF5-BBBF-B7DCAF60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CE0CBF83-F9A3-4B5D-A94A-2DD8F681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改进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8B56EAF9-8A7A-4730-8FEC-5B212BD8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审查、纠正措施和重新检查。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79D686-DFF8-4615-89B7-C6F67A06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651D3D-F122-4096-AD5B-58C86680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C8400B12-F463-476B-80E3-F5A0080D9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没有人制定的计划不能视为已确定。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2391E3-00D4-421A-ADC1-DD3FC71A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2E858150-068F-4D5D-8D4F-B7ED40F5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规范：《民事保护法》</a:t>
            </a:r>
          </a:p>
        </p:txBody>
      </p:sp>
      <p:sp>
        <p:nvSpPr>
          <p:cNvPr id="27" name="DECK_FOOTER">
            <a:extLst xmlns:a="http://schemas.openxmlformats.org/drawingml/2006/main">
              <a:ext uri="{FF2B5EF4-FFF2-40B4-BE49-F238E27FC236}">
                <a16:creationId xmlns:a16="http://schemas.microsoft.com/office/drawing/2014/main" id="{E54E1718-E40A-4663-BE9F-C527BB19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职业安全与健康（BIOT）</a:t>
            </a:r>
          </a:p>
        </p:txBody>
      </p:sp>
      <p:sp>
        <p:nvSpPr>
          <p:cNvPr id="28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C5057A5D-A794-451E-A6D5-12968696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41</a:t>
            </a:r>
          </a:p>
        </p:txBody>
      </p:sp>
      <p:pic>
        <p:nvPicPr>
          <p:cNvPr id="57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a16ac6e25241b6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071069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F735D3-0CF1-45B7-8121-2FADC1E8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VISUAL_04_s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1d054308fa4b3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429500" y="1285875"/>
            <a:ext cx="4191000" cy="4333875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3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798C0A16-7E0D-47D0-BFBE-D1FFF5E9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7B7A15-BE6B-449D-B57F-00640FC1A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D9DBF62B-8544-45C9-9E89-CC8F30B3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6096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工业安全</a:t>
            </a:r>
          </a:p>
        </p:txBody>
      </p:sp>
      <p:sp>
        <p:nvSpPr>
          <p:cNvPr id="6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3CFB48C5-26BE-4D4A-B12E-7509AC00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09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本节适用于危险生产设施和使用危险技术装置的工作。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9B25E6-0556-4C94-8603-2A875B59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D0B13264-4B48-4B22-B311-6FDC1AEC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规范：《民事保护法》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726CCC30-2E6B-445E-807C-CF85D97D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职业安全与健康（BIOT）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65AA2E6D-FE0C-4D45-A526-165449D7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  <p:pic>
        <p:nvPicPr>
          <p:cNvPr id="26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ee300ab2c54fec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318996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DA0032-C06D-4CDE-99E0-65F1DF13D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D4F46402-DF32-4186-8284-BF3A6AC5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工业安全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D594E2-45A4-4358-9203-9271C4B4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旨在防止危险生产因素的有害影响。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要求由法律、技术法规、规则和指令制定。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组织进行生产控制并为事故做好准备。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作业人员 遵守、完成培训并报告事故或事件。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031072-F63C-43EC-BE92-BD719CC11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AE70B9-8A93-4337-A113-D472CC85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D161E3D2-9A79-4D0F-86C9-B9783457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工业安全 管理重大人为事件的风险。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470D5C-096B-4242-9BB1-E1D11DFA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CF09E957-3B01-4D55-A9DA-3C0634727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规范：《民事保护法》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6D91931F-31B1-4E65-8872-FF7379CC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职业安全与健康（BIOT）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B924BD52-8BE0-4A6D-B14F-1486A803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43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00d9fec2624453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744284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96F759-0F05-4204-B2BB-F4DED0BE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86777EC5-D40B-4C51-9966-CE708399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HPF 由危险信号决定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230450-900B-498C-874A-88B23923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特性包括某些有害物质的生产、使用、储存或运输。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考虑易燃、易爆、有毒和其他有害物质。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标志还包括单独的技术流程和危险。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组织根据既定规则进行识别。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806D56-B633-4E26-8E83-B519D767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12B054-C3E9-4647-B018-2ED1568A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D944A7D0-766F-4C6A-86CD-7ACD089E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物体被认为是危险的是根据其实际特征，而不是其日常名称。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EB9AE3-C3DB-469E-A4CC-9644B389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3AB1531C-BF77-4E5E-9D2E-25F63AA2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规范：《民事保护法》第70条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DE860052-E1FE-4DC0-80C8-A73AA2428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职业安全与健康（BIOT）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EEB196E5-004E-4BB8-837C-BF1C6E4F2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44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bbe3bef9564d29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407879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780649-F852-4F4B-B3DE-95EEB065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6B758F09-69C9-4787-A0C2-77953205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危险设备：核算和控制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7C1D88-8CD2-498E-A228-B224A599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危险技术设备包括法律规定的设备类别。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组织根据适用的要求识别、说明和发布它们。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作业人员 在操作前检查可见标记、状态和启用模式。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未经许可不得引进下落不明、有缺陷或过期的设备。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5F688A-73F3-4A42-8994-D0A675BF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096BB5-7E47-485A-9E3F-90ED8FB0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987A57C7-7164-42A9-80EB-6B9A430C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技术资料和登记记录用于确认受控设备，但设备是否完好必须通过检查确认。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A97FD3-EBEE-46FE-9C65-65C6A387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756E1F2B-F08E-4846-970B-76D0601F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规范：《民事保护法》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6FA973D6-9116-4293-BE96-C2892DDE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职业安全与健康（BIOT）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0C57CF6C-DD51-412A-AEE3-220A6EE1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45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9112d1f92a4125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155724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333ED5-2F0F-47B6-9715-5039C0BE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B588FA96-A031-49D0-A732-134B1628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检验及申报：控制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1BD3D6-4127-431A-A9A5-171D1D0D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在法律规定的情况下使用工业安全领域的专业知识。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许可和核算程序取决于所执行的对象、设备和活动。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声明反映了危险的性质和程度以及保护措施。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对于工人来说，了解适用于其所在区域的限制、信号和行动非常重要。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927DBF-BAA6-4360-99D9-B06AC3E0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B6BBB6-67F5-4FC9-9394-A31CDB0F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DE8A7092-727B-4677-B808-33808BCB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程序审查并不赋予员工替代专家判断的权力。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6897AD-E460-4F59-AE7C-F5423D2B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3F8583D7-2583-4388-8904-28C35F41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规范：《民事保护法》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27AF866E-D1BC-4802-BCBD-E8133953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职业安全与健康（BIOT）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E1795765-DA0B-43EF-BE0E-48654A6B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46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506bb0b7934ede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074221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C91352-9087-44E5-B67E-9F9C4BD2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D922AED8-406A-47D7-868D-6A4DD2DB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解放军决定紧急情况下的行动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CBBE07-B001-4021-AB7F-7B94E6FC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应急响应计划包括人员救援以及人员和应急服务的行动。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它分配职责、顺序、沟通和必要的资源。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作业人员 了解其信号、路线、集合点和禁令。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该计划通过演习和应急演习进行验证。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E6E27F-5C0A-4A89-9B98-A33AB6923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D89EFB-2D89-455D-B68A-2202271E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B8372B6C-691A-4654-ADD3-03289F7E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如果发生事故，他们会履行之前练习过的角色，并且不会在危险区域即兴发挥。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41B199-D4A6-45FB-813A-A521E5FE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C0F16C9F-B75C-40D0-8E7D-F4BA91563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规范：《民事保护法》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D7BB6C5E-E27F-4DBD-96B6-5B722569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职业安全与健康（BIOT）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6BB95063-ACE4-4B60-968E-7F24E43E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47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82e1e3dafb445e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402948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2909C4-C3DD-4126-A273-2717064F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83763D57-45C9-483A-989E-7BBAE4ED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发生事故时，组织按计划行动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CFE499-F160-4E3A-8B78-57C3D2FE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D19E07-BAA4-4FA0-8DCA-7342C66C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B7A7FF31-ABCD-4B3B-A838-6AC7733E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0148F5F7-BD30-4CD7-8BC9-20F765A5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通知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C46DBA0C-A1F5-4DBE-99D6-D33718DD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通过已建立的通道传输信号和准确的信息。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EAB38E-8CF6-44ED-AEF9-131409F0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05C1F0F4-93B1-472C-8609-ECD5C804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DD14D44F-AE62-4A8A-A54C-C2971CD8F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保护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AD1B1A6B-BB33-4137-AE77-92D1D083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根据角色停止进程，隔离能量并疏散。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B29BA1-060C-44EA-ACC5-14D5C65C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BE6732EC-F0F9-4C3A-81DB-9A00B503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9A077674-248C-42FD-98C8-10460C4F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互动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2C2C5980-5EBA-4F5F-915A-69E1CA64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满足并支持紧急服务。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B1632D-5ED7-44B6-9E86-07E75553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7980990B-E300-4DD8-ADFC-79F8B916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A087B485-3122-4B1B-B88F-1AE36C3D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调查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20E31CA1-0493-44B5-BDEC-9C131978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维护事实、找出原因并采取行动。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3F4442-62CA-4303-B1ED-FF7FEBC2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C30698-01A4-43C9-A082-62CC7484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56C4FD80-A0D0-4815-B037-40FF6204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作业人员 未经负责人命令，不会返回危险区域。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820EB1-134C-4E25-9094-5611294B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83635808-A64C-4EEC-B5E6-ED723CD5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规范：《民事保护法》</a:t>
            </a:r>
          </a:p>
        </p:txBody>
      </p:sp>
      <p:sp>
        <p:nvSpPr>
          <p:cNvPr id="27" name="DECK_FOOTER">
            <a:extLst xmlns:a="http://schemas.openxmlformats.org/drawingml/2006/main">
              <a:ext uri="{FF2B5EF4-FFF2-40B4-BE49-F238E27FC236}">
                <a16:creationId xmlns:a16="http://schemas.microsoft.com/office/drawing/2014/main" id="{D8079A70-C954-46A3-85FF-8B7CE5BF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职业安全与健康（BIOT）</a:t>
            </a:r>
          </a:p>
        </p:txBody>
      </p:sp>
      <p:sp>
        <p:nvSpPr>
          <p:cNvPr id="28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E9D99333-9A1F-432F-A2EC-C97981961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48</a:t>
            </a:r>
          </a:p>
        </p:txBody>
      </p:sp>
      <p:pic>
        <p:nvPicPr>
          <p:cNvPr id="57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8f9d64b04e40c3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188185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9E9DCC-8A42-4ACD-9B93-854DF8C0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92E1F7D2-B0A3-4A68-B342-754B76E4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有害物质需要采取不同的措施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5356DC-BD4B-497D-B5E2-D272E83B7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0CA089C1-14AC-4206-BAE2-3E9C8BC27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规范：《民事保护法》</a:t>
            </a:r>
          </a:p>
        </p:txBody>
      </p:sp>
      <p:sp>
        <p:nvSpPr>
          <p:cNvPr id="27" name="DECK_FOOTER">
            <a:extLst xmlns:a="http://schemas.openxmlformats.org/drawingml/2006/main">
              <a:ext uri="{FF2B5EF4-FFF2-40B4-BE49-F238E27FC236}">
                <a16:creationId xmlns:a16="http://schemas.microsoft.com/office/drawing/2014/main" id="{3EF80255-B36F-42FF-ABA5-27FE6635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职业安全与健康（BIOT）</a:t>
            </a:r>
          </a:p>
        </p:txBody>
      </p:sp>
      <p:sp>
        <p:nvSpPr>
          <p:cNvPr id="28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D366DF54-0307-4CC0-B37C-49F98597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49</a:t>
            </a:r>
          </a:p>
        </p:txBody>
      </p:sp>
      <p:pic>
        <p:nvPicPr>
          <p:cNvPr id="4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7520327b2348fb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graphicFrame>
        <p:nvGraphicFramePr>
          <p:cNvPr id="44" name="HAZARDOUS_SUBSTANCES_TABLE"/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934700" cy="3562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09417"/>
                <a:gridCol w="3106449"/>
                <a:gridCol w="5218834"/>
              </a:tblGrid>
              <a:tr h="514350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风险 / 来源</a:t>
                      </a:r>
                    </a:p>
                  </a:txBody>
                  <a:tcPr marL="91440" marR="91440" marT="45720" marB="45720" anchor="ctr">
                    <a:solidFill>
                      <a:srgbClr val="009846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结果</a:t>
                      </a:r>
                    </a:p>
                  </a:txBody>
                  <a:tcPr marL="91440" marR="91440" marT="45720" marB="45720" anchor="ctr">
                    <a:solidFill>
                      <a:srgbClr val="009846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控制措施</a:t>
                      </a:r>
                    </a:p>
                  </a:txBody>
                  <a:tcPr marL="91440" marR="91440" marT="45720" marB="45720" anchor="ctr">
                    <a:solidFill>
                      <a:srgbClr val="009846"/>
                    </a:solidFill>
                  </a:tcPr>
                </a:tc>
              </a:tr>
              <a:tr h="762000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1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易燃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快速点火和传播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消除火源；控制烟雾和泄漏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1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爆炸物</a:t>
                      </a:r>
                    </a:p>
                  </a:txBody>
                  <a:tcPr marL="91440" marR="91440" marT="45720" marB="45720" anchor="ctr">
                    <a:solidFill>
                      <a:srgbClr val="F2F4F3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快速能量释放</a:t>
                      </a:r>
                    </a:p>
                  </a:txBody>
                  <a:tcPr marL="91440" marR="91440" marT="45720" marB="45720" anchor="ctr">
                    <a:solidFill>
                      <a:srgbClr val="F2F4F3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特殊模式、物质相容性及安全距离</a:t>
                      </a:r>
                    </a:p>
                  </a:txBody>
                  <a:tcPr marL="91440" marR="91440" marT="45720" marB="45720" anchor="ctr">
                    <a:solidFill>
                      <a:srgbClr val="F2F4F3"/>
                    </a:solidFill>
                  </a:tcPr>
                </a:tc>
              </a:tr>
              <a:tr h="762000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1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有毒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呼吸、皮肤或食入中毒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密封、环境控制、防护和疏散准备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1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对环境有害</a:t>
                      </a:r>
                    </a:p>
                  </a:txBody>
                  <a:tcPr marL="91440" marR="91440" marT="45720" marB="45720" anchor="ctr">
                    <a:solidFill>
                      <a:srgbClr val="F2F4F3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环境污染及二次危害</a:t>
                      </a:r>
                    </a:p>
                  </a:txBody>
                  <a:tcPr marL="91440" marR="91440" marT="45720" marB="45720" anchor="ctr">
                    <a:solidFill>
                      <a:srgbClr val="F2F4F3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保留、收集和应急程序</a:t>
                      </a:r>
                    </a:p>
                  </a:txBody>
                  <a:tcPr marL="91440" marR="91440" marT="45720" marB="45720" anchor="ctr">
                    <a:solidFill>
                      <a:srgbClr val="F2F4F3"/>
                    </a:solidFill>
                  </a:tcPr>
                </a:tc>
              </a:tr>
            </a:tbl>
          </a:graphicData>
        </a:graphic>
      </p:graphicFrame>
      <p:sp>
        <p:nvSpPr>
          <p:cNvPr id="32" name="TABLE_TAKEAWAY_BG">
            <a:extLst xmlns:a="http://schemas.openxmlformats.org/drawingml/2006/main">
              <a:ext uri="{FF2B5EF4-FFF2-40B4-BE49-F238E27FC236}">
                <a16:creationId xmlns:a16="http://schemas.microsoft.com/office/drawing/2014/main" id="{C3E094AA-F42B-402A-BC54-C612359F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9347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33" name="TABLE_TAKEAWAY_ACCENT">
            <a:extLst xmlns:a="http://schemas.openxmlformats.org/drawingml/2006/main">
              <a:ext uri="{FF2B5EF4-FFF2-40B4-BE49-F238E27FC236}">
                <a16:creationId xmlns:a16="http://schemas.microsoft.com/office/drawing/2014/main" id="{BC347F45-F3FD-42C0-89A2-3E0B690C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57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ABLE_TAKEAWAY">
            <a:extLst xmlns:a="http://schemas.openxmlformats.org/drawingml/2006/main">
              <a:ext uri="{FF2B5EF4-FFF2-40B4-BE49-F238E27FC236}">
                <a16:creationId xmlns:a16="http://schemas.microsoft.com/office/drawing/2014/main" id="{5F3A0BC7-E20C-42A0-B97A-CF1CDADB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054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6B4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49"/>
                </a:solidFill>
                <a:latin typeface="Arial"/>
                <a:ea typeface="Arial"/>
                <a:cs typeface="Arial"/>
              </a:rPr>
              <a:t>象形图有助于识别危险源，但不能取代安全数据表和本地说明。</a:t>
            </a:r>
          </a:p>
        </p:txBody>
      </p:sp>
    </p:spTree>
    <p:extLst>
      <p:ext uri="{BB962C8B-B14F-4D97-AF65-F5344CB8AC3E}">
        <p14:creationId xmlns:p14="http://schemas.microsoft.com/office/powerpoint/2010/main" val="1864193578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547567-4407-43E5-BAC7-34C9D1A8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35987341-FA56-40EF-9D3F-92AE5765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标签和运输需要验证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27ED54-BC66-49CC-B9F5-30DC0134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处理前，识别物质、容器、兼容性和危险特性。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标记必须清晰且与货物或产品的文件一致。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运输根据适用的要求、路线和紧急信息进行。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未经询问，不得打开、移动或重新填充未知容器。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A78DBF-D305-4A5A-A25C-5BD09B5D5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8B0C9E-C98C-450C-B533-E1A17A4B1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C01EFEDF-E0C2-4E7F-A146-9EF0073F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未知内容是停止申诉的理由。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D50236-9F16-44E6-B5B2-C9D16442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F68B870E-FDFC-4A6A-863B-06351B47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规范：《民事保护法》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D9358996-3E39-4CD5-BA26-05408C4E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职业安全与健康（BIOT）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5965CF9D-FCAC-4C43-BBFE-AA0B9214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66221c6aa24159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006448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2E774F-21A3-4FFB-BF30-C233E213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DE316B21-D01E-43A2-A851-1E1C2B44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感官无法检测到辐射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EE49E1-DBC4-4982-BE11-5BE8FA66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通过既定的技术和组织措施控制源头和区域。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时间、距离和屏蔽均按照批准的程序进行。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对某些类别的工作和人员进行个人辐射监测。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违反标记、警报或记录需要立即报告。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9E8135-A674-4BEC-9870-7C0752CA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9588F0-4CD1-4D26-AFB5-8DAA05E8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967BA2BA-C0FE-49E3-875A-16D64733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没有气味、热量或疼痛并不能证实没有辐射。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8EEE1A-7A9A-492D-B6EE-F4979720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37A42C73-B4D2-4AB6-AA86-D87ED900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规范：《民事保护法》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2459563D-2E6C-4739-885D-739F6126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职业安全与健康（BIOT）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5E50DB62-8D64-4DC6-ADA3-F122F1C6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51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b5027e0a8d4229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714138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609C93-B887-443C-9D28-F314AC10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B3884797-3918-44DE-A475-33591DEA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油气设施作业必须监测作业环境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80F090-D606-4D2C-8B0B-8EA21E33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F542C003-B7A8-41C9-86CF-7FD86FB5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标准：石油天然气行业安全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9BA800CA-46A4-4D14-98C9-C5A4A83E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职业安全与健康（BIOT）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60504919-D1BE-42A3-B227-3C854AD9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52</a:t>
            </a:r>
          </a:p>
        </p:txBody>
      </p:sp>
      <p:pic>
        <p:nvPicPr>
          <p:cNvPr id="41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aff237cd8748f0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15" name="ENV_CARD_1">
            <a:extLst xmlns:a="http://schemas.openxmlformats.org/drawingml/2006/main">
              <a:ext uri="{FF2B5EF4-FFF2-40B4-BE49-F238E27FC236}">
                <a16:creationId xmlns:a16="http://schemas.microsoft.com/office/drawing/2014/main" id="{2EB36ED1-3AC7-45D2-8AC2-DDF7DF48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52197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6" name="ENV_NUMBER_1">
            <a:extLst xmlns:a="http://schemas.openxmlformats.org/drawingml/2006/main">
              <a:ext uri="{FF2B5EF4-FFF2-40B4-BE49-F238E27FC236}">
                <a16:creationId xmlns:a16="http://schemas.microsoft.com/office/drawing/2014/main" id="{212B8ECE-BD30-4B88-B155-1BEA99A5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812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7" name="ENV_HEADING_1">
            <a:extLst xmlns:a="http://schemas.openxmlformats.org/drawingml/2006/main">
              <a:ext uri="{FF2B5EF4-FFF2-40B4-BE49-F238E27FC236}">
                <a16:creationId xmlns:a16="http://schemas.microsoft.com/office/drawing/2014/main" id="{264AA07D-A475-49F3-BD76-69D2EE09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9431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6B4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6B49"/>
                </a:solidFill>
                <a:latin typeface="Arial"/>
                <a:ea typeface="Arial"/>
                <a:cs typeface="Arial"/>
              </a:rPr>
              <a:t>介质和压力</a:t>
            </a:r>
          </a:p>
        </p:txBody>
      </p:sp>
      <p:sp>
        <p:nvSpPr>
          <p:cNvPr id="18" name="ENV_BODY_1">
            <a:extLst xmlns:a="http://schemas.openxmlformats.org/drawingml/2006/main">
              <a:ext uri="{FF2B5EF4-FFF2-40B4-BE49-F238E27FC236}">
                <a16:creationId xmlns:a16="http://schemas.microsoft.com/office/drawing/2014/main" id="{15929DBE-AC2C-4A13-8F44-7CF7AED1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38125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202020"/>
                </a:solidFill>
                <a:latin typeface="Arial"/>
                <a:ea typeface="Arial"/>
                <a:cs typeface="Arial"/>
              </a:rPr>
              <a:t>考虑了火灾和爆炸危险、毒性、压力、技术连接和远程协助。</a:t>
            </a:r>
          </a:p>
        </p:txBody>
      </p:sp>
      <p:sp>
        <p:nvSpPr>
          <p:cNvPr id="19" name="ENV_CARD_2">
            <a:extLst xmlns:a="http://schemas.openxmlformats.org/drawingml/2006/main">
              <a:ext uri="{FF2B5EF4-FFF2-40B4-BE49-F238E27FC236}">
                <a16:creationId xmlns:a16="http://schemas.microsoft.com/office/drawing/2014/main" id="{7407DEBD-5448-4944-83B1-E1BB261F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71650"/>
            <a:ext cx="52197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0" name="ENV_NUMBER_2">
            <a:extLst xmlns:a="http://schemas.openxmlformats.org/drawingml/2006/main">
              <a:ext uri="{FF2B5EF4-FFF2-40B4-BE49-F238E27FC236}">
                <a16:creationId xmlns:a16="http://schemas.microsoft.com/office/drawing/2014/main" id="{98B19973-557E-4D64-B5C4-ABE86403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812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" name="ENV_HEADING_2">
            <a:extLst xmlns:a="http://schemas.openxmlformats.org/drawingml/2006/main">
              <a:ext uri="{FF2B5EF4-FFF2-40B4-BE49-F238E27FC236}">
                <a16:creationId xmlns:a16="http://schemas.microsoft.com/office/drawing/2014/main" id="{7A6CCD3F-8456-4B7C-B7B1-B8EA7381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9431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6B4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6B49"/>
                </a:solidFill>
                <a:latin typeface="Arial"/>
                <a:ea typeface="Arial"/>
                <a:cs typeface="Arial"/>
              </a:rPr>
              <a:t>空气控制</a:t>
            </a:r>
          </a:p>
        </p:txBody>
      </p:sp>
      <p:sp>
        <p:nvSpPr>
          <p:cNvPr id="22" name="ENV_BODY_2">
            <a:extLst xmlns:a="http://schemas.openxmlformats.org/drawingml/2006/main">
              <a:ext uri="{FF2B5EF4-FFF2-40B4-BE49-F238E27FC236}">
                <a16:creationId xmlns:a16="http://schemas.microsoft.com/office/drawing/2014/main" id="{497E77D1-4FC8-47A3-B550-C7BA6F3F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8125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202020"/>
                </a:solidFill>
                <a:latin typeface="Arial"/>
                <a:ea typeface="Arial"/>
                <a:cs typeface="Arial"/>
              </a:rPr>
              <a:t>标明气体危险区域；使用提供的仪器检查空气。</a:t>
            </a:r>
          </a:p>
        </p:txBody>
      </p:sp>
      <p:sp>
        <p:nvSpPr>
          <p:cNvPr id="23" name="ENV_CARD_3">
            <a:extLst xmlns:a="http://schemas.openxmlformats.org/drawingml/2006/main">
              <a:ext uri="{FF2B5EF4-FFF2-40B4-BE49-F238E27FC236}">
                <a16:creationId xmlns:a16="http://schemas.microsoft.com/office/drawing/2014/main" id="{0901C2AD-A151-431B-B89E-8ED0E5FA0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52197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4" name="ENV_NUMBER_3">
            <a:extLst xmlns:a="http://schemas.openxmlformats.org/drawingml/2006/main">
              <a:ext uri="{FF2B5EF4-FFF2-40B4-BE49-F238E27FC236}">
                <a16:creationId xmlns:a16="http://schemas.microsoft.com/office/drawing/2014/main" id="{5FA0FF05-91E1-4B85-8A1D-63A5714F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5" name="ENV_HEADING_3">
            <a:extLst xmlns:a="http://schemas.openxmlformats.org/drawingml/2006/main">
              <a:ext uri="{FF2B5EF4-FFF2-40B4-BE49-F238E27FC236}">
                <a16:creationId xmlns:a16="http://schemas.microsoft.com/office/drawing/2014/main" id="{FEBBAAE0-8314-46FF-956B-BB33A0FD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576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6B4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6B49"/>
                </a:solidFill>
                <a:latin typeface="Arial"/>
                <a:ea typeface="Arial"/>
                <a:cs typeface="Arial"/>
              </a:rPr>
              <a:t>疏散</a:t>
            </a:r>
          </a:p>
        </p:txBody>
      </p:sp>
      <p:sp>
        <p:nvSpPr>
          <p:cNvPr id="26" name="ENV_BODY_3">
            <a:extLst xmlns:a="http://schemas.openxmlformats.org/drawingml/2006/main">
              <a:ext uri="{FF2B5EF4-FFF2-40B4-BE49-F238E27FC236}">
                <a16:creationId xmlns:a16="http://schemas.microsoft.com/office/drawing/2014/main" id="{3141E0E0-6E5E-484E-AC6C-BA720A07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9575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202020"/>
                </a:solidFill>
                <a:latin typeface="Arial"/>
                <a:ea typeface="Arial"/>
                <a:cs typeface="Arial"/>
              </a:rPr>
              <a:t>选择路线和收集点时应考虑到气体可能的扩散。</a:t>
            </a:r>
          </a:p>
        </p:txBody>
      </p:sp>
      <p:sp>
        <p:nvSpPr>
          <p:cNvPr id="27" name="ENV_CARD_4">
            <a:extLst xmlns:a="http://schemas.openxmlformats.org/drawingml/2006/main">
              <a:ext uri="{FF2B5EF4-FFF2-40B4-BE49-F238E27FC236}">
                <a16:creationId xmlns:a16="http://schemas.microsoft.com/office/drawing/2014/main" id="{ED9B9EAF-3A23-487E-9DA3-CDC2F4A9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86150"/>
            <a:ext cx="52197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8" name="ENV_NUMBER_4">
            <a:extLst xmlns:a="http://schemas.openxmlformats.org/drawingml/2006/main">
              <a:ext uri="{FF2B5EF4-FFF2-40B4-BE49-F238E27FC236}">
                <a16:creationId xmlns:a16="http://schemas.microsoft.com/office/drawing/2014/main" id="{D6498C7A-51CC-4BA9-BDBD-29F4EB2D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957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9" name="ENV_HEADING_4">
            <a:extLst xmlns:a="http://schemas.openxmlformats.org/drawingml/2006/main">
              <a:ext uri="{FF2B5EF4-FFF2-40B4-BE49-F238E27FC236}">
                <a16:creationId xmlns:a16="http://schemas.microsoft.com/office/drawing/2014/main" id="{8849B0FF-F1A2-45CE-AFEB-B40081B0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6576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6B4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6B49"/>
                </a:solidFill>
                <a:latin typeface="Arial"/>
                <a:ea typeface="Arial"/>
                <a:cs typeface="Arial"/>
              </a:rPr>
              <a:t>按程序工作</a:t>
            </a:r>
          </a:p>
        </p:txBody>
      </p:sp>
      <p:sp>
        <p:nvSpPr>
          <p:cNvPr id="30" name="ENV_BODY_4">
            <a:extLst xmlns:a="http://schemas.openxmlformats.org/drawingml/2006/main">
              <a:ext uri="{FF2B5EF4-FFF2-40B4-BE49-F238E27FC236}">
                <a16:creationId xmlns:a16="http://schemas.microsoft.com/office/drawing/2014/main" id="{E3E60D83-05DA-475A-90FE-984052C9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09575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202020"/>
                </a:solidFill>
                <a:latin typeface="Arial"/>
                <a:ea typeface="Arial"/>
                <a:cs typeface="Arial"/>
              </a:rPr>
              <a:t>按照应急响应计划、许可证和当地指示进行操作。</a:t>
            </a:r>
          </a:p>
        </p:txBody>
      </p:sp>
      <p:sp>
        <p:nvSpPr>
          <p:cNvPr id="31" name="ENV_TAKEAWAY_BG">
            <a:extLst xmlns:a="http://schemas.openxmlformats.org/drawingml/2006/main">
              <a:ext uri="{FF2B5EF4-FFF2-40B4-BE49-F238E27FC236}">
                <a16:creationId xmlns:a16="http://schemas.microsoft.com/office/drawing/2014/main" id="{F5F140A1-3D90-484C-8409-9326A1B1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7251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32" name="ENV_TAKEAWAY_ACCENT">
            <a:extLst xmlns:a="http://schemas.openxmlformats.org/drawingml/2006/main">
              <a:ext uri="{FF2B5EF4-FFF2-40B4-BE49-F238E27FC236}">
                <a16:creationId xmlns:a16="http://schemas.microsoft.com/office/drawing/2014/main" id="{A1DA8FDB-12B5-41C9-AC16-4B902369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8EEB1040-1CF9-461E-AFEB-31432BCB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38750"/>
            <a:ext cx="10248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6B4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6B49"/>
                </a:solidFill>
                <a:latin typeface="Arial"/>
                <a:ea typeface="Arial"/>
                <a:cs typeface="Arial"/>
              </a:rPr>
              <a:t>风向和仪器读数比通常的路线更重要。</a:t>
            </a:r>
          </a:p>
        </p:txBody>
      </p:sp>
    </p:spTree>
    <p:extLst>
      <p:ext uri="{BB962C8B-B14F-4D97-AF65-F5344CB8AC3E}">
        <p14:creationId xmlns:p14="http://schemas.microsoft.com/office/powerpoint/2010/main" val="270884324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CDB604-3E1A-4901-8FC2-2C463125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92DB2CB4-B4F9-4DBA-8D05-49D6E8EC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硫化氢需要立即反应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1EB023-390C-4A82-9BA6-F9686B30E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AB8580-C313-4881-B793-5DEF6D6B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934700" cy="37147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8C6633-D9FE-444C-8B52-61783CF9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90750"/>
            <a:ext cx="0" cy="289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B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39E2C9-4EAE-4C08-B432-20FF523C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95500"/>
            <a:ext cx="7810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H2S 有毒；气味并不是控制浓度的可靠方法。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如果设备发出蜂鸣声或出现危险迹象，请停止工作并沿安全路线离开该区域。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未经培训、沟通和适当的呼吸保护装置，请勿进入救援。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根据应急预案报告并根据应急预案采取行动。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9AF3B9-E814-4559-8CC5-37FB48C0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C62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62828"/>
                </a:solidFill>
                <a:latin typeface="Arial"/>
                <a:ea typeface="Arial"/>
                <a:cs typeface="Arial"/>
              </a:rPr>
              <a:t>依靠气味检测 H2S 是危险的。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44BD14-5F52-48DF-BAB1-42985DDD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FAADAAF7-1DF1-47D5-9E09-E38C9FD2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标准：石油天然气行业安全</a:t>
            </a:r>
          </a:p>
        </p:txBody>
      </p:sp>
      <p:sp>
        <p:nvSpPr>
          <p:cNvPr id="13" name="DECK_FOOTER">
            <a:extLst xmlns:a="http://schemas.openxmlformats.org/drawingml/2006/main">
              <a:ext uri="{FF2B5EF4-FFF2-40B4-BE49-F238E27FC236}">
                <a16:creationId xmlns:a16="http://schemas.microsoft.com/office/drawing/2014/main" id="{A0544B79-2C9B-4FF6-9320-383D733B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职业安全与健康（BIOT）</a:t>
            </a:r>
          </a:p>
        </p:txBody>
      </p:sp>
      <p:sp>
        <p:nvSpPr>
          <p:cNvPr id="14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0CF49681-1FF7-463A-9FF6-FEEBC08F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53</a:t>
            </a:r>
          </a:p>
        </p:txBody>
      </p:sp>
      <p:pic>
        <p:nvPicPr>
          <p:cNvPr id="30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73e65e64774a1d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17" name="STOP_SIGN">
            <a:extLst xmlns:a="http://schemas.openxmlformats.org/drawingml/2006/main">
              <a:ext uri="{FF2B5EF4-FFF2-40B4-BE49-F238E27FC236}">
                <a16:creationId xmlns:a16="http://schemas.microsoft.com/office/drawing/2014/main" id="{BBCE7E2D-4595-4302-96BC-3039957E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1676400" cy="1676400"/>
          </a:xfrm>
          <a:prstGeom xmlns:a="http://schemas.openxmlformats.org/drawingml/2006/main" prst="octagon">
            <a:avLst/>
          </a:prstGeom>
          <a:solidFill xmlns:a="http://schemas.openxmlformats.org/drawingml/2006/main">
            <a:srgbClr val="D93838"/>
          </a:solidFill>
          <a:ln xmlns:a="http://schemas.openxmlformats.org/drawingml/2006/main" w="19050">
            <a:solidFill>
              <a:srgbClr val="B92323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停止</a:t>
            </a:r>
          </a:p>
        </p:txBody>
      </p:sp>
    </p:spTree>
    <p:extLst>
      <p:ext uri="{BB962C8B-B14F-4D97-AF65-F5344CB8AC3E}">
        <p14:creationId xmlns:p14="http://schemas.microsoft.com/office/powerpoint/2010/main" val="124930152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5DB24B-2DD4-4B52-B66F-BB26AD96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28536254-EB55-4679-A370-57103C5F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气体危险工作：气氛控制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DE6463-68BD-4E5A-9B44-F567921C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900568FD-C581-4EAB-85D0-7155CFAC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规范：《民事保护法》• 石油和天然气行业的安全</a:t>
            </a:r>
          </a:p>
        </p:txBody>
      </p:sp>
      <p:sp>
        <p:nvSpPr>
          <p:cNvPr id="27" name="DECK_FOOTER">
            <a:extLst xmlns:a="http://schemas.openxmlformats.org/drawingml/2006/main">
              <a:ext uri="{FF2B5EF4-FFF2-40B4-BE49-F238E27FC236}">
                <a16:creationId xmlns:a16="http://schemas.microsoft.com/office/drawing/2014/main" id="{3B29B800-4344-4B5B-A134-7FDF8D0C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职业安全与健康（BIOT）</a:t>
            </a:r>
          </a:p>
        </p:txBody>
      </p:sp>
      <p:sp>
        <p:nvSpPr>
          <p:cNvPr id="28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2A85736E-1F48-4F3F-995C-3459012B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54</a:t>
            </a:r>
          </a:p>
        </p:txBody>
      </p:sp>
      <p:pic>
        <p:nvPicPr>
          <p:cNvPr id="58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39c9c757ee4752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31" name="STEP_CONNECTOR">
            <a:extLst xmlns:a="http://schemas.openxmlformats.org/drawingml/2006/main">
              <a:ext uri="{FF2B5EF4-FFF2-40B4-BE49-F238E27FC236}">
                <a16:creationId xmlns:a16="http://schemas.microsoft.com/office/drawing/2014/main" id="{F1A4CD78-D3F3-428A-868B-DDF240521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247900"/>
            <a:ext cx="857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DEDB"/>
            </a:solidFill>
            <a:prstDash val="solid"/>
          </a:ln>
        </p:spPr>
      </p:sp>
      <p:sp>
        <p:nvSpPr>
          <p:cNvPr id="32" name="STEP_CARD_1">
            <a:extLst xmlns:a="http://schemas.openxmlformats.org/drawingml/2006/main">
              <a:ext uri="{FF2B5EF4-FFF2-40B4-BE49-F238E27FC236}">
                <a16:creationId xmlns:a16="http://schemas.microsoft.com/office/drawing/2014/main" id="{7E5E4ECE-DC86-4A1F-8EB5-FD7CFF11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09850"/>
            <a:ext cx="247650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33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2A8250FA-9E13-4F27-9314-6D11D11A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240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4" name="STEP_HEADING_1">
            <a:extLst xmlns:a="http://schemas.openxmlformats.org/drawingml/2006/main">
              <a:ext uri="{FF2B5EF4-FFF2-40B4-BE49-F238E27FC236}">
                <a16:creationId xmlns:a16="http://schemas.microsoft.com/office/drawing/2014/main" id="{1B2B3BD1-3F37-4D1C-BF5D-11F28D43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6B4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49"/>
                </a:solidFill>
                <a:latin typeface="Arial"/>
                <a:ea typeface="Arial"/>
                <a:cs typeface="Arial"/>
              </a:rPr>
              <a:t>准备</a:t>
            </a:r>
          </a:p>
        </p:txBody>
      </p:sp>
      <p:sp>
        <p:nvSpPr>
          <p:cNvPr id="35" name="STEP_BODY_1">
            <a:extLst xmlns:a="http://schemas.openxmlformats.org/drawingml/2006/main">
              <a:ext uri="{FF2B5EF4-FFF2-40B4-BE49-F238E27FC236}">
                <a16:creationId xmlns:a16="http://schemas.microsoft.com/office/drawing/2014/main" id="{D88BCFD9-0AD2-4EFA-9FC6-B2F8B1D8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71850"/>
            <a:ext cx="2095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202020"/>
                </a:solidFill>
                <a:latin typeface="Arial"/>
                <a:ea typeface="Arial"/>
                <a:cs typeface="Arial"/>
              </a:rPr>
              <a:t>作业许可证，隔离、通风、通讯、救援措施。</a:t>
            </a:r>
          </a:p>
        </p:txBody>
      </p:sp>
      <p:sp>
        <p:nvSpPr>
          <p:cNvPr id="36" name="STEP_CARD_2">
            <a:extLst xmlns:a="http://schemas.openxmlformats.org/drawingml/2006/main">
              <a:ext uri="{FF2B5EF4-FFF2-40B4-BE49-F238E27FC236}">
                <a16:creationId xmlns:a16="http://schemas.microsoft.com/office/drawing/2014/main" id="{944948C7-78CA-451E-9CA6-4DEE4623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09850"/>
            <a:ext cx="247650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37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DAB338B9-2F78-4D26-8B20-09FAFF2F2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9240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8" name="STEP_HEADING_2">
            <a:extLst xmlns:a="http://schemas.openxmlformats.org/drawingml/2006/main">
              <a:ext uri="{FF2B5EF4-FFF2-40B4-BE49-F238E27FC236}">
                <a16:creationId xmlns:a16="http://schemas.microsoft.com/office/drawing/2014/main" id="{3DA6F69E-9E2C-47EF-9F55-5E69767A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3845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6B4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49"/>
                </a:solidFill>
                <a:latin typeface="Arial"/>
                <a:ea typeface="Arial"/>
                <a:cs typeface="Arial"/>
              </a:rPr>
              <a:t>检查</a:t>
            </a:r>
          </a:p>
        </p:txBody>
      </p:sp>
      <p:sp>
        <p:nvSpPr>
          <p:cNvPr id="39" name="STEP_BODY_2">
            <a:extLst xmlns:a="http://schemas.openxmlformats.org/drawingml/2006/main">
              <a:ext uri="{FF2B5EF4-FFF2-40B4-BE49-F238E27FC236}">
                <a16:creationId xmlns:a16="http://schemas.microsoft.com/office/drawing/2014/main" id="{913E39AF-2DEF-4B31-911A-1BB47A95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71850"/>
            <a:ext cx="2095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202020"/>
                </a:solidFill>
                <a:latin typeface="Arial"/>
                <a:ea typeface="Arial"/>
                <a:cs typeface="Arial"/>
              </a:rPr>
              <a:t>空气成分 - 在正确的位置使用合适的经过验证的仪器。</a:t>
            </a:r>
          </a:p>
        </p:txBody>
      </p:sp>
      <p:sp>
        <p:nvSpPr>
          <p:cNvPr id="40" name="STEP_CARD_3">
            <a:extLst xmlns:a="http://schemas.openxmlformats.org/drawingml/2006/main">
              <a:ext uri="{FF2B5EF4-FFF2-40B4-BE49-F238E27FC236}">
                <a16:creationId xmlns:a16="http://schemas.microsoft.com/office/drawing/2014/main" id="{9DB38512-274C-4E67-AEBA-7BDAAA90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09850"/>
            <a:ext cx="247650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41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834D4F02-B8CA-40EB-AD13-099891CB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240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2" name="STEP_HEADING_3">
            <a:extLst xmlns:a="http://schemas.openxmlformats.org/drawingml/2006/main">
              <a:ext uri="{FF2B5EF4-FFF2-40B4-BE49-F238E27FC236}">
                <a16:creationId xmlns:a16="http://schemas.microsoft.com/office/drawing/2014/main" id="{8A300F61-B88D-4BE7-B614-A7A30221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3845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6B4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49"/>
                </a:solidFill>
                <a:latin typeface="Arial"/>
                <a:ea typeface="Arial"/>
                <a:cs typeface="Arial"/>
              </a:rPr>
              <a:t>执行</a:t>
            </a:r>
          </a:p>
        </p:txBody>
      </p:sp>
      <p:sp>
        <p:nvSpPr>
          <p:cNvPr id="43" name="STEP_BODY_3">
            <a:extLst xmlns:a="http://schemas.openxmlformats.org/drawingml/2006/main">
              <a:ext uri="{FF2B5EF4-FFF2-40B4-BE49-F238E27FC236}">
                <a16:creationId xmlns:a16="http://schemas.microsoft.com/office/drawing/2014/main" id="{B76BEB1B-D471-4713-859F-31526A09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71850"/>
            <a:ext cx="2095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202020"/>
                </a:solidFill>
                <a:latin typeface="Arial"/>
                <a:ea typeface="Arial"/>
                <a:cs typeface="Arial"/>
              </a:rPr>
              <a:t>对程序进行观察和定期或连续监控。</a:t>
            </a:r>
          </a:p>
        </p:txBody>
      </p:sp>
      <p:sp>
        <p:nvSpPr>
          <p:cNvPr id="44" name="STEP_CARD_4">
            <a:extLst xmlns:a="http://schemas.openxmlformats.org/drawingml/2006/main">
              <a:ext uri="{FF2B5EF4-FFF2-40B4-BE49-F238E27FC236}">
                <a16:creationId xmlns:a16="http://schemas.microsoft.com/office/drawing/2014/main" id="{E8C1F492-100C-4FFD-BA74-6A6DDFAC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09850"/>
            <a:ext cx="247650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45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408BCB09-10B3-4F68-B287-E4DAA00F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9240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6" name="STEP_HEADING_4">
            <a:extLst xmlns:a="http://schemas.openxmlformats.org/drawingml/2006/main">
              <a:ext uri="{FF2B5EF4-FFF2-40B4-BE49-F238E27FC236}">
                <a16:creationId xmlns:a16="http://schemas.microsoft.com/office/drawing/2014/main" id="{5FCBB618-3304-4A86-A7B5-2D824787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3845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6B4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49"/>
                </a:solidFill>
                <a:latin typeface="Arial"/>
                <a:ea typeface="Arial"/>
                <a:cs typeface="Arial"/>
              </a:rPr>
              <a:t>停止</a:t>
            </a:r>
          </a:p>
        </p:txBody>
      </p:sp>
      <p:sp>
        <p:nvSpPr>
          <p:cNvPr id="47" name="STEP_BODY_4">
            <a:extLst xmlns:a="http://schemas.openxmlformats.org/drawingml/2006/main">
              <a:ext uri="{FF2B5EF4-FFF2-40B4-BE49-F238E27FC236}">
                <a16:creationId xmlns:a16="http://schemas.microsoft.com/office/drawing/2014/main" id="{895DE36F-EDC4-4570-A9D8-00A91756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71850"/>
            <a:ext cx="2095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202020"/>
                </a:solidFill>
                <a:latin typeface="Arial"/>
                <a:ea typeface="Arial"/>
                <a:cs typeface="Arial"/>
              </a:rPr>
              <a:t>当有信号、通讯中断、通风不良或条件发生变化时。</a:t>
            </a:r>
          </a:p>
        </p:txBody>
      </p:sp>
      <p:sp>
        <p:nvSpPr>
          <p:cNvPr id="48" name="ATMOSPHERE_TAKEAWAY_BG">
            <a:extLst xmlns:a="http://schemas.openxmlformats.org/drawingml/2006/main">
              <a:ext uri="{FF2B5EF4-FFF2-40B4-BE49-F238E27FC236}">
                <a16:creationId xmlns:a16="http://schemas.microsoft.com/office/drawing/2014/main" id="{95E3F67B-473D-4C31-AFDF-1CFD1BBC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19700"/>
            <a:ext cx="11049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49" name="ATMOSPHERE_TAKEAWAY_ACCENT">
            <a:extLst xmlns:a="http://schemas.openxmlformats.org/drawingml/2006/main">
              <a:ext uri="{FF2B5EF4-FFF2-40B4-BE49-F238E27FC236}">
                <a16:creationId xmlns:a16="http://schemas.microsoft.com/office/drawing/2014/main" id="{DB279BD6-EF3E-4CA9-8292-C706628A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1970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694DF5EB-A41D-417A-94DB-5ECEDCFC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10515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6B4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6B49"/>
                </a:solidFill>
                <a:latin typeface="Arial"/>
                <a:ea typeface="Arial"/>
                <a:cs typeface="Arial"/>
              </a:rPr>
              <a:t>主要测量不能保证整个操作期间的安全气氛。</a:t>
            </a:r>
          </a:p>
        </p:txBody>
      </p:sp>
    </p:spTree>
    <p:extLst>
      <p:ext uri="{BB962C8B-B14F-4D97-AF65-F5344CB8AC3E}">
        <p14:creationId xmlns:p14="http://schemas.microsoft.com/office/powerpoint/2010/main" val="1471517057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D6FFDA-25CC-4CCF-8DBF-142A7F09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8FE4F877-6E39-45AD-825D-2F68B2B0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动火作业：点火控制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74C940-EDDB-4BAD-9598-AD68450C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识别火花和热量，移除或保护易燃材料。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根据需要发出作业许可证 并安排观察时间。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监测气体环境、设备绝缘和灭火剂的可用性。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完成后，将在当地程序规定的时间内对现场进行检查。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366EFC-F20B-4AD3-A0FB-E86457E7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FFB18C-FA25-4022-B060-61A25F9F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8063024C-1DCD-46AA-AD3A-C7C25F01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焊接结束并不意味着火灾风险的结束。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C4783C-3CFF-4861-A2B2-13F207E9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6A6AB81C-4EA5-4940-8842-CF3EE469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标准：消防安全规则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1DEB49B4-C90B-44DA-BF41-76540D3E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职业安全与健康（BIOT）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9D777015-FB42-4D27-A409-CA989758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55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f07eb23c63437f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376727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AB02FC-6DDA-4C9E-BF9F-6F4A1B22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16043C10-7392-4DDB-AE5F-9ACB9317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进入储罐作业必须配备外部监护人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75D9F4-6E4F-4424-8689-395F23E9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将容器与能源和相连管线可靠隔离，进行清理和通风，并持续监测内部气体环境。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进入作业必须按作业许可证执行，配备指定的外部监护人并保持可靠通信。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进入前应准备好救援设备和人员救出方式。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外部监护人不得擅离岗位，也不得在没有组织救援程序的情况下进入容器内部。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753642-F5A5-4F1F-AA99-7A539F4A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4757DB-B9A6-4D21-A3BD-15B00CF6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511EE995-2217-4567-B7A2-684370BC2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监视是一种主动控制和通信功能，而不是正式存在。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4F447B-4592-40F5-B6A6-2902FA80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00F9C568-8BE4-4C3F-93E4-6859B67F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标准：石油天然气行业安全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D2BD0247-AB73-4FFF-977B-4D1C20B0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职业安全与健康（BIOT）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69722AC4-CE61-4D13-AD6A-A7745BA4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56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2b164ea8cc4fa4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86837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75D6B0-75E3-4A0A-B738-9272FD9E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C8B33FC8-0C76-4A3E-A6F5-679CEEC8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整个系统维持压力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AD8E1C-3E3A-4BF2-B7B7-0ABE9482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压力容器、阀门管件、安全装置、仪表和管道作为一个系统协同运行。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投入运行许可、检验和标识应按适用规定执行。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作业人员应监控运行状态，并报告泄漏、振动、损坏或错误读数。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带压维修、开启或紧固只能按获准的工艺进行。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766A2B-F31A-45B7-BFAD-809F9C37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E29731-2BB3-4FFC-B578-58A78FF96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A11CC3B6-0F8F-4F28-ADCB-55DA0391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一台设备上的零读数并不总是能确认没有压力。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F56CC2-9F49-46FB-81AD-48471621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1C0F6CCD-CB64-48BF-941A-197BA79C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规范：《民事保护法》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80D7362C-523D-4722-9D34-816BDEA0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职业安全与健康（BIOT）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E0086A01-5006-421B-9A74-C26FA99C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57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13cc8c9b3443da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782804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402997-C04A-4BCE-8223-FDE532B1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4D236033-3E10-46C7-8E2D-15973A414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工业 风险 需要停止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4EDB16-2041-4EB2-B3F5-B1D9DA1A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EE3552-332A-4E64-96CC-38C99083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934700" cy="37147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EDBF23-0AAF-4417-BB92-67EA8635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90750"/>
            <a:ext cx="0" cy="289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B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4AC294-9F3D-4EC3-909E-3D5CACAA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95500"/>
            <a:ext cx="7810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气体检测仪、剂量计、防护系统或工艺联锁发出警报。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出现泄漏、异味、雾气、异常噪声、振动，或者压力或温度升高。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通信、通风、监护或规定的隔离失效。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缺少作业许可证、标识、检查，或人员不清楚自己的应急职责。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8F492A-A784-419A-B21A-4751196B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C62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62828"/>
                </a:solidFill>
                <a:latin typeface="Arial"/>
                <a:ea typeface="Arial"/>
                <a:cs typeface="Arial"/>
              </a:rPr>
              <a:t>如有疑问，停止工作并采取安全路线是正确的行动。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F5710A-F027-44A4-A12E-BF9651A7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47F00291-D761-483B-9DE4-9978870B5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规范：《民事保护法》</a:t>
            </a:r>
          </a:p>
        </p:txBody>
      </p:sp>
      <p:sp>
        <p:nvSpPr>
          <p:cNvPr id="13" name="DECK_FOOTER">
            <a:extLst xmlns:a="http://schemas.openxmlformats.org/drawingml/2006/main">
              <a:ext uri="{FF2B5EF4-FFF2-40B4-BE49-F238E27FC236}">
                <a16:creationId xmlns:a16="http://schemas.microsoft.com/office/drawing/2014/main" id="{37B73397-6069-487A-963D-D6B986B98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职业安全与健康（BIOT）</a:t>
            </a:r>
          </a:p>
        </p:txBody>
      </p:sp>
      <p:sp>
        <p:nvSpPr>
          <p:cNvPr id="14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3FC79B94-AC80-44C0-8739-8A7CEE51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58</a:t>
            </a:r>
          </a:p>
        </p:txBody>
      </p:sp>
      <p:pic>
        <p:nvPicPr>
          <p:cNvPr id="30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7a5261dcb84ffc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17" name="STOP_SIGN">
            <a:extLst xmlns:a="http://schemas.openxmlformats.org/drawingml/2006/main">
              <a:ext uri="{FF2B5EF4-FFF2-40B4-BE49-F238E27FC236}">
                <a16:creationId xmlns:a16="http://schemas.microsoft.com/office/drawing/2014/main" id="{A95F5639-EFDD-4A64-9E19-A1CBB68C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1676400" cy="1676400"/>
          </a:xfrm>
          <a:prstGeom xmlns:a="http://schemas.openxmlformats.org/drawingml/2006/main" prst="octagon">
            <a:avLst/>
          </a:prstGeom>
          <a:solidFill xmlns:a="http://schemas.openxmlformats.org/drawingml/2006/main">
            <a:srgbClr val="D93838"/>
          </a:solidFill>
          <a:ln xmlns:a="http://schemas.openxmlformats.org/drawingml/2006/main" w="19050">
            <a:solidFill>
              <a:srgbClr val="B92323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停止</a:t>
            </a:r>
          </a:p>
        </p:txBody>
      </p:sp>
    </p:spTree>
    <p:extLst>
      <p:ext uri="{BB962C8B-B14F-4D97-AF65-F5344CB8AC3E}">
        <p14:creationId xmlns:p14="http://schemas.microsoft.com/office/powerpoint/2010/main" val="1032862488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0098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CHECKLIST_TITLE">
            <a:extLst xmlns:a="http://schemas.openxmlformats.org/drawingml/2006/main">
              <a:ext uri="{FF2B5EF4-FFF2-40B4-BE49-F238E27FC236}">
                <a16:creationId xmlns:a16="http://schemas.microsoft.com/office/drawing/2014/main" id="{114C91E0-DB56-47E3-AD63-E2FE5EE5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最终 BIOT 检查表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08E500-676F-47D3-BD99-4FC75A7F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AD3565-579A-4B64-A8DD-470A65D5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669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9F25EE-9B9E-4269-999B-6AC991CB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识别危险，评估风险，根据层次结构选择措施。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97AC37-9532-4305-908C-BFF1925E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2934F1-51C1-4ED2-A6CF-02426149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527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CD1EE9-527A-49E0-86C2-652B6603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241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作业人员 经过培训、许可并了解任务和紧急程序。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88CE29-55F2-4860-9EC0-D8FE04F20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39B868-C792-4FED-9360-8ECA1EAB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385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8D9C92-1B32-4BC9-B8AF-EA2199A8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099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集体保护正在发挥作用，PPE 已安装并经过测试。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B69FA4-9C7E-4FEB-9AB6-50E67866D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33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130B39-9E85-460F-99F9-340A1AFF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7CB874-4F77-4A18-81F0-27FD3309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957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OPO 的信号、路线、PLA 和立即停止条件都很清楚。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EA189A-E350-4BB3-A993-14B25FF2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638BC6-4674-4874-BFDB-0AA75E9B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5CFEDA-ADFF-4410-A31C-B4203B88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815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及时报告任何变化或事件。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46F5EB-4E1F-49A9-9542-123045B5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点击“开始测试”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6C7F63-0082-4336-A23B-1E181A58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6578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更新日期：2026 年 8 月 21 日</a:t>
            </a:r>
          </a:p>
        </p:txBody>
      </p:sp>
      <p:pic>
        <p:nvPicPr>
          <p:cNvPr id="41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0f2446eca14286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469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2026-09-01T18:07:43.1730000Z</dcterms:created>
  <dcterms:modified xsi:type="dcterms:W3CDTF">2026-09-01T18:07:43.1740000Z</dcterms:modified>
</coreProperties>
</file>