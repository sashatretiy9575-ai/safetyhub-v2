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e9e86b46b1431e" /><Relationship Type="http://schemas.openxmlformats.org/officeDocument/2006/relationships/extended-properties" Target="/docProps/app.xml" Id="R4b3f6ac3a3704873" /><Relationship Type="http://schemas.openxmlformats.org/officeDocument/2006/relationships/officeDocument" Target="/ppt/presentation.xml" Id="R1f88c680d6414b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324e10dfc54312"/>
    <p:sldMasterId xmlns:r="http://schemas.openxmlformats.org/officeDocument/2006/relationships" id="2147483650" r:id="R87987419f802403a"/>
  </p:sldMasterIdLst>
  <p:notesMasterIdLst>
    <p:notesMasterId xmlns:r="http://schemas.openxmlformats.org/officeDocument/2006/relationships" r:id="Re6634fa4cb994169"/>
  </p:notesMasterIdLst>
  <p:sldIdLst>
    <p:sldId xmlns:r="http://schemas.openxmlformats.org/officeDocument/2006/relationships" id="256" r:id="R17ad6ee88dda466b"/>
    <p:sldId xmlns:r="http://schemas.openxmlformats.org/officeDocument/2006/relationships" id="257" r:id="R77d45417619b4f4b"/>
    <p:sldId xmlns:r="http://schemas.openxmlformats.org/officeDocument/2006/relationships" id="258" r:id="R72d30bc251be470a"/>
    <p:sldId xmlns:r="http://schemas.openxmlformats.org/officeDocument/2006/relationships" id="259" r:id="Rbb5edbe01d244682"/>
    <p:sldId xmlns:r="http://schemas.openxmlformats.org/officeDocument/2006/relationships" id="260" r:id="R4b01888e333f4695"/>
    <p:sldId xmlns:r="http://schemas.openxmlformats.org/officeDocument/2006/relationships" id="261" r:id="R97077d49d74c48f1"/>
    <p:sldId xmlns:r="http://schemas.openxmlformats.org/officeDocument/2006/relationships" id="262" r:id="R5f044b38526d44b9"/>
    <p:sldId xmlns:r="http://schemas.openxmlformats.org/officeDocument/2006/relationships" id="263" r:id="R3a7588716bc646f0"/>
    <p:sldId xmlns:r="http://schemas.openxmlformats.org/officeDocument/2006/relationships" id="264" r:id="Re35af583b9db4a1b"/>
    <p:sldId xmlns:r="http://schemas.openxmlformats.org/officeDocument/2006/relationships" id="265" r:id="Rf88e26579e054e1f"/>
    <p:sldId xmlns:r="http://schemas.openxmlformats.org/officeDocument/2006/relationships" id="266" r:id="R3154621a366049df"/>
    <p:sldId xmlns:r="http://schemas.openxmlformats.org/officeDocument/2006/relationships" id="267" r:id="R7574ea14691d4acd"/>
    <p:sldId xmlns:r="http://schemas.openxmlformats.org/officeDocument/2006/relationships" id="268" r:id="R0132a6f85d3d4e68"/>
    <p:sldId xmlns:r="http://schemas.openxmlformats.org/officeDocument/2006/relationships" id="269" r:id="Re57d86ec7c914f1a"/>
    <p:sldId xmlns:r="http://schemas.openxmlformats.org/officeDocument/2006/relationships" id="270" r:id="Read3702613ae43f7"/>
    <p:sldId xmlns:r="http://schemas.openxmlformats.org/officeDocument/2006/relationships" id="271" r:id="R27707708d7b840f2"/>
    <p:sldId xmlns:r="http://schemas.openxmlformats.org/officeDocument/2006/relationships" id="272" r:id="Rcc8efe12e599453b"/>
    <p:sldId xmlns:r="http://schemas.openxmlformats.org/officeDocument/2006/relationships" id="273" r:id="Rf9b07922071f45ae"/>
    <p:sldId xmlns:r="http://schemas.openxmlformats.org/officeDocument/2006/relationships" id="274" r:id="Ra99621ce79644aac"/>
    <p:sldId xmlns:r="http://schemas.openxmlformats.org/officeDocument/2006/relationships" id="275" r:id="R5f9ebf49d8104e29"/>
    <p:sldId xmlns:r="http://schemas.openxmlformats.org/officeDocument/2006/relationships" id="276" r:id="Rfde9a3270f3946ff"/>
    <p:sldId xmlns:r="http://schemas.openxmlformats.org/officeDocument/2006/relationships" id="277" r:id="R4a389149e5ff40e3"/>
    <p:sldId xmlns:r="http://schemas.openxmlformats.org/officeDocument/2006/relationships" id="278" r:id="R9c4536d1b97645ce"/>
    <p:sldId xmlns:r="http://schemas.openxmlformats.org/officeDocument/2006/relationships" id="279" r:id="Rb0df15795f7a48ed"/>
    <p:sldId xmlns:r="http://schemas.openxmlformats.org/officeDocument/2006/relationships" id="280" r:id="R283f10fb61a2470d"/>
    <p:sldId xmlns:r="http://schemas.openxmlformats.org/officeDocument/2006/relationships" id="281" r:id="Re8553b542795486f"/>
    <p:sldId xmlns:r="http://schemas.openxmlformats.org/officeDocument/2006/relationships" id="282" r:id="R0cb99bddae674621"/>
    <p:sldId xmlns:r="http://schemas.openxmlformats.org/officeDocument/2006/relationships" id="283" r:id="Rf84262b7b25a4185"/>
    <p:sldId xmlns:r="http://schemas.openxmlformats.org/officeDocument/2006/relationships" id="284" r:id="Rfad501062c50429f"/>
    <p:sldId xmlns:r="http://schemas.openxmlformats.org/officeDocument/2006/relationships" id="285" r:id="Rb1e65fa069df49cb"/>
    <p:sldId xmlns:r="http://schemas.openxmlformats.org/officeDocument/2006/relationships" id="286" r:id="Rfa80494e1fb74e86"/>
    <p:sldId xmlns:r="http://schemas.openxmlformats.org/officeDocument/2006/relationships" id="287" r:id="R44985a93662e420c"/>
    <p:sldId xmlns:r="http://schemas.openxmlformats.org/officeDocument/2006/relationships" id="288" r:id="R21317dc29b084266"/>
    <p:sldId xmlns:r="http://schemas.openxmlformats.org/officeDocument/2006/relationships" id="289" r:id="Rfaac34f41a6d422e"/>
    <p:sldId xmlns:r="http://schemas.openxmlformats.org/officeDocument/2006/relationships" id="290" r:id="R7cd0dd3386414b9c"/>
    <p:sldId xmlns:r="http://schemas.openxmlformats.org/officeDocument/2006/relationships" id="291" r:id="Ra5ff8c425a5d40d5"/>
    <p:sldId xmlns:r="http://schemas.openxmlformats.org/officeDocument/2006/relationships" id="292" r:id="Reaa3726b860c4616"/>
    <p:sldId xmlns:r="http://schemas.openxmlformats.org/officeDocument/2006/relationships" id="293" r:id="Rffb29cc8378e4320"/>
    <p:sldId xmlns:r="http://schemas.openxmlformats.org/officeDocument/2006/relationships" id="294" r:id="Rfe639478b71c4648"/>
    <p:sldId xmlns:r="http://schemas.openxmlformats.org/officeDocument/2006/relationships" id="295" r:id="R584262ce71a74841"/>
    <p:sldId xmlns:r="http://schemas.openxmlformats.org/officeDocument/2006/relationships" id="296" r:id="R43d5b6d68e7f46d9"/>
    <p:sldId xmlns:r="http://schemas.openxmlformats.org/officeDocument/2006/relationships" id="297" r:id="R3c5156291b884916"/>
    <p:sldId xmlns:r="http://schemas.openxmlformats.org/officeDocument/2006/relationships" id="298" r:id="R38e078c7043040ab"/>
    <p:sldId xmlns:r="http://schemas.openxmlformats.org/officeDocument/2006/relationships" id="299" r:id="R337a73eb81cb49a6"/>
    <p:sldId xmlns:r="http://schemas.openxmlformats.org/officeDocument/2006/relationships" id="300" r:id="Rb15d201c3b684e2a"/>
    <p:sldId xmlns:r="http://schemas.openxmlformats.org/officeDocument/2006/relationships" id="301" r:id="Re7893d250c3d40ae"/>
    <p:sldId xmlns:r="http://schemas.openxmlformats.org/officeDocument/2006/relationships" id="302" r:id="R99bd4cf5445d492f"/>
    <p:sldId xmlns:r="http://schemas.openxmlformats.org/officeDocument/2006/relationships" id="303" r:id="R5024882550334ce7"/>
    <p:sldId xmlns:r="http://schemas.openxmlformats.org/officeDocument/2006/relationships" id="304" r:id="R0de7045faae54215"/>
    <p:sldId xmlns:r="http://schemas.openxmlformats.org/officeDocument/2006/relationships" id="305" r:id="Rf44ad219550444c2"/>
    <p:sldId xmlns:r="http://schemas.openxmlformats.org/officeDocument/2006/relationships" id="306" r:id="R12628cc7469c47c8"/>
    <p:sldId xmlns:r="http://schemas.openxmlformats.org/officeDocument/2006/relationships" id="307" r:id="Rad8287284e7b423a"/>
    <p:sldId xmlns:r="http://schemas.openxmlformats.org/officeDocument/2006/relationships" id="308" r:id="R61c1c6d8090e4ff4"/>
    <p:sldId xmlns:r="http://schemas.openxmlformats.org/officeDocument/2006/relationships" id="309" r:id="Rb6b6b472162243ea"/>
    <p:sldId xmlns:r="http://schemas.openxmlformats.org/officeDocument/2006/relationships" id="310" r:id="R1a2c9c31a89a492b"/>
    <p:sldId xmlns:r="http://schemas.openxmlformats.org/officeDocument/2006/relationships" id="311" r:id="R7752d65d2b3346d2"/>
    <p:sldId xmlns:r="http://schemas.openxmlformats.org/officeDocument/2006/relationships" id="312" r:id="R81f7f7a4991b48e3"/>
    <p:sldId xmlns:r="http://schemas.openxmlformats.org/officeDocument/2006/relationships" id="313" r:id="R9b10a40ea255490c"/>
    <p:sldId xmlns:r="http://schemas.openxmlformats.org/officeDocument/2006/relationships" id="314" r:id="Rf44b52ed00e44a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76714512074d07" /><Relationship Type="http://schemas.openxmlformats.org/officeDocument/2006/relationships/slideMaster" Target="/ppt/slideMasters/slideMaster1.xml" Id="Re6324e10dfc54312" /><Relationship Type="http://schemas.openxmlformats.org/officeDocument/2006/relationships/slideMaster" Target="/ppt/slideMasters/slideMaster2.xml" Id="R87987419f802403a" /><Relationship Type="http://schemas.openxmlformats.org/officeDocument/2006/relationships/notesMaster" Target="/ppt/notesMasters/notesMaster1.xml" Id="Re6634fa4cb994169" /><Relationship Type="http://schemas.openxmlformats.org/officeDocument/2006/relationships/presProps" Target="/ppt/presProps.xml" Id="R672572e4b89f49d4" /><Relationship Type="http://schemas.openxmlformats.org/officeDocument/2006/relationships/tableStyles" Target="/ppt/tableStyles.xml" Id="Re0d28af2a7d44eed" /><Relationship Type="http://schemas.openxmlformats.org/officeDocument/2006/relationships/slide" Target="/ppt/slides/slide1.xml" Id="R17ad6ee88dda466b" /><Relationship Type="http://schemas.openxmlformats.org/officeDocument/2006/relationships/slide" Target="/ppt/slides/slide2.xml" Id="R77d45417619b4f4b" /><Relationship Type="http://schemas.openxmlformats.org/officeDocument/2006/relationships/slide" Target="/ppt/slides/slide3.xml" Id="R72d30bc251be470a" /><Relationship Type="http://schemas.openxmlformats.org/officeDocument/2006/relationships/slide" Target="/ppt/slides/slide4.xml" Id="Rbb5edbe01d244682" /><Relationship Type="http://schemas.openxmlformats.org/officeDocument/2006/relationships/slide" Target="/ppt/slides/slide5.xml" Id="R4b01888e333f4695" /><Relationship Type="http://schemas.openxmlformats.org/officeDocument/2006/relationships/slide" Target="/ppt/slides/slide6.xml" Id="R97077d49d74c48f1" /><Relationship Type="http://schemas.openxmlformats.org/officeDocument/2006/relationships/slide" Target="/ppt/slides/slide7.xml" Id="R5f044b38526d44b9" /><Relationship Type="http://schemas.openxmlformats.org/officeDocument/2006/relationships/slide" Target="/ppt/slides/slide8.xml" Id="R3a7588716bc646f0" /><Relationship Type="http://schemas.openxmlformats.org/officeDocument/2006/relationships/slide" Target="/ppt/slides/slide9.xml" Id="Re35af583b9db4a1b" /><Relationship Type="http://schemas.openxmlformats.org/officeDocument/2006/relationships/slide" Target="/ppt/slides/slide10.xml" Id="Rf88e26579e054e1f" /><Relationship Type="http://schemas.openxmlformats.org/officeDocument/2006/relationships/slide" Target="/ppt/slides/slide11.xml" Id="R3154621a366049df" /><Relationship Type="http://schemas.openxmlformats.org/officeDocument/2006/relationships/slide" Target="/ppt/slides/slide12.xml" Id="R7574ea14691d4acd" /><Relationship Type="http://schemas.openxmlformats.org/officeDocument/2006/relationships/slide" Target="/ppt/slides/slide13.xml" Id="R0132a6f85d3d4e68" /><Relationship Type="http://schemas.openxmlformats.org/officeDocument/2006/relationships/slide" Target="/ppt/slides/slide14.xml" Id="Re57d86ec7c914f1a" /><Relationship Type="http://schemas.openxmlformats.org/officeDocument/2006/relationships/slide" Target="/ppt/slides/slide15.xml" Id="Read3702613ae43f7" /><Relationship Type="http://schemas.openxmlformats.org/officeDocument/2006/relationships/slide" Target="/ppt/slides/slide16.xml" Id="R27707708d7b840f2" /><Relationship Type="http://schemas.openxmlformats.org/officeDocument/2006/relationships/slide" Target="/ppt/slides/slide17.xml" Id="Rcc8efe12e599453b" /><Relationship Type="http://schemas.openxmlformats.org/officeDocument/2006/relationships/slide" Target="/ppt/slides/slide18.xml" Id="Rf9b07922071f45ae" /><Relationship Type="http://schemas.openxmlformats.org/officeDocument/2006/relationships/slide" Target="/ppt/slides/slide19.xml" Id="Ra99621ce79644aac" /><Relationship Type="http://schemas.openxmlformats.org/officeDocument/2006/relationships/slide" Target="/ppt/slides/slide20.xml" Id="R5f9ebf49d8104e29" /><Relationship Type="http://schemas.openxmlformats.org/officeDocument/2006/relationships/slide" Target="/ppt/slides/slide21.xml" Id="Rfde9a3270f3946ff" /><Relationship Type="http://schemas.openxmlformats.org/officeDocument/2006/relationships/slide" Target="/ppt/slides/slide22.xml" Id="R4a389149e5ff40e3" /><Relationship Type="http://schemas.openxmlformats.org/officeDocument/2006/relationships/slide" Target="/ppt/slides/slide23.xml" Id="R9c4536d1b97645ce" /><Relationship Type="http://schemas.openxmlformats.org/officeDocument/2006/relationships/slide" Target="/ppt/slides/slide24.xml" Id="Rb0df15795f7a48ed" /><Relationship Type="http://schemas.openxmlformats.org/officeDocument/2006/relationships/slide" Target="/ppt/slides/slide25.xml" Id="R283f10fb61a2470d" /><Relationship Type="http://schemas.openxmlformats.org/officeDocument/2006/relationships/slide" Target="/ppt/slides/slide26.xml" Id="Re8553b542795486f" /><Relationship Type="http://schemas.openxmlformats.org/officeDocument/2006/relationships/slide" Target="/ppt/slides/slide27.xml" Id="R0cb99bddae674621" /><Relationship Type="http://schemas.openxmlformats.org/officeDocument/2006/relationships/slide" Target="/ppt/slides/slide28.xml" Id="Rf84262b7b25a4185" /><Relationship Type="http://schemas.openxmlformats.org/officeDocument/2006/relationships/slide" Target="/ppt/slides/slide29.xml" Id="Rfad501062c50429f" /><Relationship Type="http://schemas.openxmlformats.org/officeDocument/2006/relationships/slide" Target="/ppt/slides/slide30.xml" Id="Rb1e65fa069df49cb" /><Relationship Type="http://schemas.openxmlformats.org/officeDocument/2006/relationships/slide" Target="/ppt/slides/slide31.xml" Id="Rfa80494e1fb74e86" /><Relationship Type="http://schemas.openxmlformats.org/officeDocument/2006/relationships/slide" Target="/ppt/slides/slide32.xml" Id="R44985a93662e420c" /><Relationship Type="http://schemas.openxmlformats.org/officeDocument/2006/relationships/slide" Target="/ppt/slides/slide33.xml" Id="R21317dc29b084266" /><Relationship Type="http://schemas.openxmlformats.org/officeDocument/2006/relationships/slide" Target="/ppt/slides/slide34.xml" Id="Rfaac34f41a6d422e" /><Relationship Type="http://schemas.openxmlformats.org/officeDocument/2006/relationships/slide" Target="/ppt/slides/slide35.xml" Id="R7cd0dd3386414b9c" /><Relationship Type="http://schemas.openxmlformats.org/officeDocument/2006/relationships/slide" Target="/ppt/slides/slide36.xml" Id="Ra5ff8c425a5d40d5" /><Relationship Type="http://schemas.openxmlformats.org/officeDocument/2006/relationships/slide" Target="/ppt/slides/slide37.xml" Id="Reaa3726b860c4616" /><Relationship Type="http://schemas.openxmlformats.org/officeDocument/2006/relationships/slide" Target="/ppt/slides/slide38.xml" Id="Rffb29cc8378e4320" /><Relationship Type="http://schemas.openxmlformats.org/officeDocument/2006/relationships/slide" Target="/ppt/slides/slide39.xml" Id="Rfe639478b71c4648" /><Relationship Type="http://schemas.openxmlformats.org/officeDocument/2006/relationships/slide" Target="/ppt/slides/slide40.xml" Id="R584262ce71a74841" /><Relationship Type="http://schemas.openxmlformats.org/officeDocument/2006/relationships/slide" Target="/ppt/slides/slide41.xml" Id="R43d5b6d68e7f46d9" /><Relationship Type="http://schemas.openxmlformats.org/officeDocument/2006/relationships/slide" Target="/ppt/slides/slide42.xml" Id="R3c5156291b884916" /><Relationship Type="http://schemas.openxmlformats.org/officeDocument/2006/relationships/slide" Target="/ppt/slides/slide43.xml" Id="R38e078c7043040ab" /><Relationship Type="http://schemas.openxmlformats.org/officeDocument/2006/relationships/slide" Target="/ppt/slides/slide44.xml" Id="R337a73eb81cb49a6" /><Relationship Type="http://schemas.openxmlformats.org/officeDocument/2006/relationships/slide" Target="/ppt/slides/slide45.xml" Id="Rb15d201c3b684e2a" /><Relationship Type="http://schemas.openxmlformats.org/officeDocument/2006/relationships/slide" Target="/ppt/slides/slide46.xml" Id="Re7893d250c3d40ae" /><Relationship Type="http://schemas.openxmlformats.org/officeDocument/2006/relationships/slide" Target="/ppt/slides/slide47.xml" Id="R99bd4cf5445d492f" /><Relationship Type="http://schemas.openxmlformats.org/officeDocument/2006/relationships/slide" Target="/ppt/slides/slide48.xml" Id="R5024882550334ce7" /><Relationship Type="http://schemas.openxmlformats.org/officeDocument/2006/relationships/slide" Target="/ppt/slides/slide49.xml" Id="R0de7045faae54215" /><Relationship Type="http://schemas.openxmlformats.org/officeDocument/2006/relationships/slide" Target="/ppt/slides/slide50.xml" Id="Rf44ad219550444c2" /><Relationship Type="http://schemas.openxmlformats.org/officeDocument/2006/relationships/slide" Target="/ppt/slides/slide51.xml" Id="R12628cc7469c47c8" /><Relationship Type="http://schemas.openxmlformats.org/officeDocument/2006/relationships/slide" Target="/ppt/slides/slide52.xml" Id="Rad8287284e7b423a" /><Relationship Type="http://schemas.openxmlformats.org/officeDocument/2006/relationships/slide" Target="/ppt/slides/slide53.xml" Id="R61c1c6d8090e4ff4" /><Relationship Type="http://schemas.openxmlformats.org/officeDocument/2006/relationships/slide" Target="/ppt/slides/slide54.xml" Id="Rb6b6b472162243ea" /><Relationship Type="http://schemas.openxmlformats.org/officeDocument/2006/relationships/slide" Target="/ppt/slides/slide55.xml" Id="R1a2c9c31a89a492b" /><Relationship Type="http://schemas.openxmlformats.org/officeDocument/2006/relationships/slide" Target="/ppt/slides/slide56.xml" Id="R7752d65d2b3346d2" /><Relationship Type="http://schemas.openxmlformats.org/officeDocument/2006/relationships/slide" Target="/ppt/slides/slide57.xml" Id="R81f7f7a4991b48e3" /><Relationship Type="http://schemas.openxmlformats.org/officeDocument/2006/relationships/slide" Target="/ppt/slides/slide58.xml" Id="R9b10a40ea255490c" /><Relationship Type="http://schemas.openxmlformats.org/officeDocument/2006/relationships/slide" Target="/ppt/slides/slide59.xml" Id="Rf44b52ed00e44a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6426c6b0a0f45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cfc65d7bcf4bef" /><Relationship Type="http://schemas.openxmlformats.org/officeDocument/2006/relationships/notesMaster" Target="/ppt/notesMasters/notesMaster1.xml" Id="Red3467fa543f4b4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bb135622d84871" /><Relationship Type="http://schemas.openxmlformats.org/officeDocument/2006/relationships/notesMaster" Target="/ppt/notesMasters/notesMaster1.xml" Id="R05153576f2d14b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0c1818699c4246" /><Relationship Type="http://schemas.openxmlformats.org/officeDocument/2006/relationships/notesMaster" Target="/ppt/notesMasters/notesMaster1.xml" Id="Rc51e350f46e54e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30584bebd14081" /><Relationship Type="http://schemas.openxmlformats.org/officeDocument/2006/relationships/notesMaster" Target="/ppt/notesMasters/notesMaster1.xml" Id="Rbb2d4e3ef9d743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a5f8c21ecd4919" /><Relationship Type="http://schemas.openxmlformats.org/officeDocument/2006/relationships/notesMaster" Target="/ppt/notesMasters/notesMaster1.xml" Id="R88df7a27e81542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1a084773154948" /><Relationship Type="http://schemas.openxmlformats.org/officeDocument/2006/relationships/notesMaster" Target="/ppt/notesMasters/notesMaster1.xml" Id="R2d80a09ac02848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0a2bec96a814166" /><Relationship Type="http://schemas.openxmlformats.org/officeDocument/2006/relationships/notesMaster" Target="/ppt/notesMasters/notesMaster1.xml" Id="R0630b7add0a245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92d5bbfeb34b11" /><Relationship Type="http://schemas.openxmlformats.org/officeDocument/2006/relationships/notesMaster" Target="/ppt/notesMasters/notesMaster1.xml" Id="R2507064de0a74d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cda45899974b8f" /><Relationship Type="http://schemas.openxmlformats.org/officeDocument/2006/relationships/notesMaster" Target="/ppt/notesMasters/notesMaster1.xml" Id="R12f95d29f9c545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ee358acbfb4bec" /><Relationship Type="http://schemas.openxmlformats.org/officeDocument/2006/relationships/notesMaster" Target="/ppt/notesMasters/notesMaster1.xml" Id="Rf875a8763d4b48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27d949191a48ae" /><Relationship Type="http://schemas.openxmlformats.org/officeDocument/2006/relationships/notesMaster" Target="/ppt/notesMasters/notesMaster1.xml" Id="Re55be8bb2993499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d2fe138fdb4102" /><Relationship Type="http://schemas.openxmlformats.org/officeDocument/2006/relationships/notesMaster" Target="/ppt/notesMasters/notesMaster1.xml" Id="R424a7e3fe08a487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2b2528f024645e3" /><Relationship Type="http://schemas.openxmlformats.org/officeDocument/2006/relationships/notesMaster" Target="/ppt/notesMasters/notesMaster1.xml" Id="Rff4916a6f1e7465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c9af499d6d45e3" /><Relationship Type="http://schemas.openxmlformats.org/officeDocument/2006/relationships/notesMaster" Target="/ppt/notesMasters/notesMaster1.xml" Id="R931e0be1681c4d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11b1ba6a78d42b8" /><Relationship Type="http://schemas.openxmlformats.org/officeDocument/2006/relationships/notesMaster" Target="/ppt/notesMasters/notesMaster1.xml" Id="Re756b2d152fa4a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3a81f230a848d0" /><Relationship Type="http://schemas.openxmlformats.org/officeDocument/2006/relationships/notesMaster" Target="/ppt/notesMasters/notesMaster1.xml" Id="Rb06fd0f3eaba472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268e7d2a5d94268" /><Relationship Type="http://schemas.openxmlformats.org/officeDocument/2006/relationships/notesMaster" Target="/ppt/notesMasters/notesMaster1.xml" Id="Rb596e50b3c83485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f5f26b0813044d6" /><Relationship Type="http://schemas.openxmlformats.org/officeDocument/2006/relationships/notesMaster" Target="/ppt/notesMasters/notesMaster1.xml" Id="Ra07e8bd21ca448b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a81ac7f5cc541d8" /><Relationship Type="http://schemas.openxmlformats.org/officeDocument/2006/relationships/notesMaster" Target="/ppt/notesMasters/notesMaster1.xml" Id="Rc27cfaf0b90d447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e6c291291c54813" /><Relationship Type="http://schemas.openxmlformats.org/officeDocument/2006/relationships/notesMaster" Target="/ppt/notesMasters/notesMaster1.xml" Id="R02f03a46b2644fd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b45c6903806478f" /><Relationship Type="http://schemas.openxmlformats.org/officeDocument/2006/relationships/notesMaster" Target="/ppt/notesMasters/notesMaster1.xml" Id="R2ae22d4c8b8b4d5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75fc2d1e04145bc" /><Relationship Type="http://schemas.openxmlformats.org/officeDocument/2006/relationships/notesMaster" Target="/ppt/notesMasters/notesMaster1.xml" Id="Rbf34b91e0b11494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cd066d91c834435" /><Relationship Type="http://schemas.openxmlformats.org/officeDocument/2006/relationships/notesMaster" Target="/ppt/notesMasters/notesMaster1.xml" Id="R1666a1354391433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2ab62aa746b414c" /><Relationship Type="http://schemas.openxmlformats.org/officeDocument/2006/relationships/notesMaster" Target="/ppt/notesMasters/notesMaster1.xml" Id="Rcbed8f150cf744e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ee3fc161dbc48f7" /><Relationship Type="http://schemas.openxmlformats.org/officeDocument/2006/relationships/notesMaster" Target="/ppt/notesMasters/notesMaster1.xml" Id="R9095d527253d41e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028131698dd4b3f" /><Relationship Type="http://schemas.openxmlformats.org/officeDocument/2006/relationships/notesMaster" Target="/ppt/notesMasters/notesMaster1.xml" Id="R56e7dc4b0c8e462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1c33247171f4af0" /><Relationship Type="http://schemas.openxmlformats.org/officeDocument/2006/relationships/notesMaster" Target="/ppt/notesMasters/notesMaster1.xml" Id="R86c54aaf88f4456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370e1e511bf34fc8" /><Relationship Type="http://schemas.openxmlformats.org/officeDocument/2006/relationships/notesMaster" Target="/ppt/notesMasters/notesMaster1.xml" Id="R21cc27e4dcac4f9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92911a9fa3e4661" /><Relationship Type="http://schemas.openxmlformats.org/officeDocument/2006/relationships/notesMaster" Target="/ppt/notesMasters/notesMaster1.xml" Id="Rd3a1f53346484f8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c5a932d44d245e8" /><Relationship Type="http://schemas.openxmlformats.org/officeDocument/2006/relationships/notesMaster" Target="/ppt/notesMasters/notesMaster1.xml" Id="R76b21a3eb5a74ea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bfe5a7d98514274" /><Relationship Type="http://schemas.openxmlformats.org/officeDocument/2006/relationships/notesMaster" Target="/ppt/notesMasters/notesMaster1.xml" Id="R79182fa757f44995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f0a269300aa4867" /><Relationship Type="http://schemas.openxmlformats.org/officeDocument/2006/relationships/notesMaster" Target="/ppt/notesMasters/notesMaster1.xml" Id="R7945f6b4ff5c478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10db8581b5a481c" /><Relationship Type="http://schemas.openxmlformats.org/officeDocument/2006/relationships/notesMaster" Target="/ppt/notesMasters/notesMaster1.xml" Id="R25a0bfd0f481481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4f896c2480c4eae" /><Relationship Type="http://schemas.openxmlformats.org/officeDocument/2006/relationships/notesMaster" Target="/ppt/notesMasters/notesMaster1.xml" Id="Rb17ba8deb9ce4c6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1ab5e46844f4834" /><Relationship Type="http://schemas.openxmlformats.org/officeDocument/2006/relationships/notesMaster" Target="/ppt/notesMasters/notesMaster1.xml" Id="R131b00e326c5482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789925619414308" /><Relationship Type="http://schemas.openxmlformats.org/officeDocument/2006/relationships/notesMaster" Target="/ppt/notesMasters/notesMaster1.xml" Id="R6adede00ee574f7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c30f79a42694629" /><Relationship Type="http://schemas.openxmlformats.org/officeDocument/2006/relationships/notesMaster" Target="/ppt/notesMasters/notesMaster1.xml" Id="R5042e743e339498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a7e6b6c328b401d" /><Relationship Type="http://schemas.openxmlformats.org/officeDocument/2006/relationships/notesMaster" Target="/ppt/notesMasters/notesMaster1.xml" Id="Rbc5896890a29489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08cb3cc56f5b461a" /><Relationship Type="http://schemas.openxmlformats.org/officeDocument/2006/relationships/notesMaster" Target="/ppt/notesMasters/notesMaster1.xml" Id="Rf0ae4feb227a49f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1034ab7f55f498e" /><Relationship Type="http://schemas.openxmlformats.org/officeDocument/2006/relationships/notesMaster" Target="/ppt/notesMasters/notesMaster1.xml" Id="R9920cc176c6547b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f73ec804ba942af" /><Relationship Type="http://schemas.openxmlformats.org/officeDocument/2006/relationships/notesMaster" Target="/ppt/notesMasters/notesMaster1.xml" Id="R8a038df18507446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28bc793bb92f466c" /><Relationship Type="http://schemas.openxmlformats.org/officeDocument/2006/relationships/notesMaster" Target="/ppt/notesMasters/notesMaster1.xml" Id="R1f4efce3e6f247b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96f2e1071484fa5" /><Relationship Type="http://schemas.openxmlformats.org/officeDocument/2006/relationships/notesMaster" Target="/ppt/notesMasters/notesMaster1.xml" Id="R8448d676c85f4be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731621d1fe24bda" /><Relationship Type="http://schemas.openxmlformats.org/officeDocument/2006/relationships/notesMaster" Target="/ppt/notesMasters/notesMaster1.xml" Id="R24abce510691436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bbb35e735754415a" /><Relationship Type="http://schemas.openxmlformats.org/officeDocument/2006/relationships/notesMaster" Target="/ppt/notesMasters/notesMaster1.xml" Id="R9caae02ba6374910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f77e1795a3643f2" /><Relationship Type="http://schemas.openxmlformats.org/officeDocument/2006/relationships/notesMaster" Target="/ppt/notesMasters/notesMaster1.xml" Id="Rbfa7f517f1744bc6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68e0ed7d6c73414a" /><Relationship Type="http://schemas.openxmlformats.org/officeDocument/2006/relationships/notesMaster" Target="/ppt/notesMasters/notesMaster1.xml" Id="R6eb51fe10e5b48c2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064d490a54d4be4" /><Relationship Type="http://schemas.openxmlformats.org/officeDocument/2006/relationships/notesMaster" Target="/ppt/notesMasters/notesMaster1.xml" Id="Rb5280e99efc543f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b1749690fbd4d25" /><Relationship Type="http://schemas.openxmlformats.org/officeDocument/2006/relationships/notesMaster" Target="/ppt/notesMasters/notesMaster1.xml" Id="Rfb411e266ac445e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da28542467240ab" /><Relationship Type="http://schemas.openxmlformats.org/officeDocument/2006/relationships/notesMaster" Target="/ppt/notesMasters/notesMaster1.xml" Id="Rb3154d696bdd4d0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187e89c6304e4f98" /><Relationship Type="http://schemas.openxmlformats.org/officeDocument/2006/relationships/notesMaster" Target="/ppt/notesMasters/notesMaster1.xml" Id="R44d50b2f2e534580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d997368676d24001" /><Relationship Type="http://schemas.openxmlformats.org/officeDocument/2006/relationships/notesMaster" Target="/ppt/notesMasters/notesMaster1.xml" Id="Rcd1e241f951f4c1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ac0ed4a98a0b476d" /><Relationship Type="http://schemas.openxmlformats.org/officeDocument/2006/relationships/notesMaster" Target="/ppt/notesMasters/notesMaster1.xml" Id="Rbdb776157df343d8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3d7ad7aafe54308" /><Relationship Type="http://schemas.openxmlformats.org/officeDocument/2006/relationships/notesMaster" Target="/ppt/notesMasters/notesMaster1.xml" Id="R49022cdd1bf84fc5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bf6dbddef22943e1" /><Relationship Type="http://schemas.openxmlformats.org/officeDocument/2006/relationships/notesMaster" Target="/ppt/notesMasters/notesMaster1.xml" Id="Rf1c4005e88d847d2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c105f219fd324a3a" /><Relationship Type="http://schemas.openxmlformats.org/officeDocument/2006/relationships/notesMaster" Target="/ppt/notesMasters/notesMaster1.xml" Id="R821178a931fd4176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2d234842d3a44789" /><Relationship Type="http://schemas.openxmlformats.org/officeDocument/2006/relationships/notesMaster" Target="/ppt/notesMasters/notesMaster1.xml" Id="Re82d49155d72492a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99b8be0f65414534" /><Relationship Type="http://schemas.openxmlformats.org/officeDocument/2006/relationships/notesMaster" Target="/ppt/notesMasters/notesMaster1.xml" Id="R05ca1e2bc3304887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0857ef3e371e4554" /><Relationship Type="http://schemas.openxmlformats.org/officeDocument/2006/relationships/notesMaster" Target="/ppt/notesMasters/notesMaster1.xml" Id="Rfca24906560747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SafetyHub canonical RU slide source: content/source-materials/derived/biot/presentation.pptx</a:t>
            </a:r>
          </a:p>
          <a:p xmlns:a="http://schemas.openxmlformats.org/drawingml/2006/main">
            <a:r>
              <a:t>- Reviewed EN text map: content/localizations/staged-2026-09-01/presentations/biot/en/text-map.json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cc8decc5bf44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342def714e648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>
  <p:cSld name="Work Safety — базовы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3dd5a88271413a" /><Relationship Type="http://schemas.openxmlformats.org/officeDocument/2006/relationships/slideLayout" Target="/ppt/slideLayouts/slideLayout1.xml" Id="Rcf11a0a7c77a40c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036c33e19f564dfa" /><Relationship Type="http://schemas.openxmlformats.org/officeDocument/2006/relationships/slideLayout" Target="/ppt/slideLayouts/slideLayout2.xml" Id="Rc5bdc5a7aee444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11a0a7c77a40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Work Safety Mast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c5bdc5a7aee4448d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2e637435c0401b" /><Relationship Type="http://schemas.openxmlformats.org/officeDocument/2006/relationships/image" Target="/ppt/media/image.jpeg" Id="R77f9028146314a4e" /><Relationship Type="http://schemas.openxmlformats.org/officeDocument/2006/relationships/image" Target="/ppt/media/image.png" Id="R67c0abd952a9416e" /><Relationship Type="http://schemas.openxmlformats.org/officeDocument/2006/relationships/notesSlide" Target="/ppt/notesSlides/notesSlide1.xml" Id="R75303fe0cfb04c4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e025078b7a4954" /><Relationship Type="http://schemas.openxmlformats.org/officeDocument/2006/relationships/image" Target="/ppt/media/image2.png" Id="Rcc687e6e284a4ce1" /><Relationship Type="http://schemas.openxmlformats.org/officeDocument/2006/relationships/notesSlide" Target="/ppt/notesSlides/notesSlide2.xml" Id="Ra20e6fb6a91048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79c7498b9640ad" /><Relationship Type="http://schemas.openxmlformats.org/officeDocument/2006/relationships/image" Target="/ppt/media/image3.png" Id="Rfd94e3ca3bb34bbd" /><Relationship Type="http://schemas.openxmlformats.org/officeDocument/2006/relationships/notesSlide" Target="/ppt/notesSlides/notesSlide3.xml" Id="R3a821c5043a449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4bdf97a290b4297" /><Relationship Type="http://schemas.openxmlformats.org/officeDocument/2006/relationships/image" Target="/ppt/media/image2.jpeg" Id="R0470f41ab52f4843" /><Relationship Type="http://schemas.openxmlformats.org/officeDocument/2006/relationships/image" Target="/ppt/media/image4.png" Id="R76adb4e16af048d3" /><Relationship Type="http://schemas.openxmlformats.org/officeDocument/2006/relationships/notesSlide" Target="/ppt/notesSlides/notesSlide4.xml" Id="R73d0172d1a4e4d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5d452c079145ed" /><Relationship Type="http://schemas.openxmlformats.org/officeDocument/2006/relationships/image" Target="/ppt/media/image5.png" Id="R3514e555fdea4f07" /><Relationship Type="http://schemas.openxmlformats.org/officeDocument/2006/relationships/notesSlide" Target="/ppt/notesSlides/notesSlide5.xml" Id="Rbec9b97c57d248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0dda654d9d400d" /><Relationship Type="http://schemas.openxmlformats.org/officeDocument/2006/relationships/image" Target="/ppt/media/image6.png" Id="R4a7af56e17af4448" /><Relationship Type="http://schemas.openxmlformats.org/officeDocument/2006/relationships/notesSlide" Target="/ppt/notesSlides/notesSlide6.xml" Id="Rd3ca2ca14ad74c3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44bb6c7cfb4cb2" /><Relationship Type="http://schemas.openxmlformats.org/officeDocument/2006/relationships/image" Target="/ppt/media/image7.png" Id="Rc812fd29d9e64be0" /><Relationship Type="http://schemas.openxmlformats.org/officeDocument/2006/relationships/notesSlide" Target="/ppt/notesSlides/notesSlide7.xml" Id="R54c0c2dc62bc45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7e802a737e4c01" /><Relationship Type="http://schemas.openxmlformats.org/officeDocument/2006/relationships/image" Target="/ppt/media/image8.png" Id="R719872f9cd3e4494" /><Relationship Type="http://schemas.openxmlformats.org/officeDocument/2006/relationships/notesSlide" Target="/ppt/notesSlides/notesSlide8.xml" Id="R524cf910ff074e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934aa8aadd471c" /><Relationship Type="http://schemas.openxmlformats.org/officeDocument/2006/relationships/image" Target="/ppt/media/image9.png" Id="R022cb5a532e44e9c" /><Relationship Type="http://schemas.openxmlformats.org/officeDocument/2006/relationships/notesSlide" Target="/ppt/notesSlides/notesSlide9.xml" Id="Ra86e69e3de9b45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430121f1164b93" /><Relationship Type="http://schemas.openxmlformats.org/officeDocument/2006/relationships/image" Target="/ppt/media/image10.png" Id="Re7165b729d264912" /><Relationship Type="http://schemas.openxmlformats.org/officeDocument/2006/relationships/notesSlide" Target="/ppt/notesSlides/notesSlide10.xml" Id="R87c96380a7754a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c0af6c19034279" /><Relationship Type="http://schemas.openxmlformats.org/officeDocument/2006/relationships/image" Target="/ppt/media/image11.png" Id="Rd40657ab902c402d" /><Relationship Type="http://schemas.openxmlformats.org/officeDocument/2006/relationships/notesSlide" Target="/ppt/notesSlides/notesSlide11.xml" Id="R432b781e00f24c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36ec735fee464e" /><Relationship Type="http://schemas.openxmlformats.org/officeDocument/2006/relationships/image" Target="/ppt/media/image12.png" Id="R60b78d88fd844cbc" /><Relationship Type="http://schemas.openxmlformats.org/officeDocument/2006/relationships/notesSlide" Target="/ppt/notesSlides/notesSlide12.xml" Id="Rf65d911135b940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01dac2e89045ff" /><Relationship Type="http://schemas.openxmlformats.org/officeDocument/2006/relationships/image" Target="/ppt/media/image13.png" Id="R4eeee4f051c14dab" /><Relationship Type="http://schemas.openxmlformats.org/officeDocument/2006/relationships/notesSlide" Target="/ppt/notesSlides/notesSlide13.xml" Id="R4623af4b101847f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b1b57876224363" /><Relationship Type="http://schemas.openxmlformats.org/officeDocument/2006/relationships/image" Target="/ppt/media/image3.jpeg" Id="R8a178616693b4599" /><Relationship Type="http://schemas.openxmlformats.org/officeDocument/2006/relationships/image" Target="/ppt/media/image14.png" Id="R03f1601eca50490c" /><Relationship Type="http://schemas.openxmlformats.org/officeDocument/2006/relationships/notesSlide" Target="/ppt/notesSlides/notesSlide14.xml" Id="R97fbd62e11ea48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a3dcc5e5564c72" /><Relationship Type="http://schemas.openxmlformats.org/officeDocument/2006/relationships/image" Target="/ppt/media/image15.png" Id="R77e7cfeccb6a4f99" /><Relationship Type="http://schemas.openxmlformats.org/officeDocument/2006/relationships/notesSlide" Target="/ppt/notesSlides/notesSlide15.xml" Id="Rbe12bf31e57747a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9b68af80cf44c7" /><Relationship Type="http://schemas.openxmlformats.org/officeDocument/2006/relationships/image" Target="/ppt/media/image16.png" Id="R23b6e749beff4897" /><Relationship Type="http://schemas.openxmlformats.org/officeDocument/2006/relationships/notesSlide" Target="/ppt/notesSlides/notesSlide16.xml" Id="R6621a9de88ca41a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909aca67d94d5d" /><Relationship Type="http://schemas.openxmlformats.org/officeDocument/2006/relationships/image" Target="/ppt/media/image17.png" Id="R15e7d68ed4df48f3" /><Relationship Type="http://schemas.openxmlformats.org/officeDocument/2006/relationships/notesSlide" Target="/ppt/notesSlides/notesSlide17.xml" Id="Raddff5f4229744f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127bd9a83e4ebc" /><Relationship Type="http://schemas.openxmlformats.org/officeDocument/2006/relationships/image" Target="/ppt/media/image18.png" Id="R9b63edacc250419c" /><Relationship Type="http://schemas.openxmlformats.org/officeDocument/2006/relationships/notesSlide" Target="/ppt/notesSlides/notesSlide18.xml" Id="R45e3cd3a8a5941c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3ac8a04d424ce6" /><Relationship Type="http://schemas.openxmlformats.org/officeDocument/2006/relationships/image" Target="/ppt/media/image19.png" Id="Rf61a4923b838476b" /><Relationship Type="http://schemas.openxmlformats.org/officeDocument/2006/relationships/notesSlide" Target="/ppt/notesSlides/notesSlide19.xml" Id="Rba92a79a471345c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bb23fc3f5544c1a" /><Relationship Type="http://schemas.openxmlformats.org/officeDocument/2006/relationships/image" Target="/ppt/media/image4.jpeg" Id="R7bf99f1245b144ab" /><Relationship Type="http://schemas.openxmlformats.org/officeDocument/2006/relationships/image" Target="/ppt/media/image20.png" Id="R9d1acdfb5b8f4222" /><Relationship Type="http://schemas.openxmlformats.org/officeDocument/2006/relationships/notesSlide" Target="/ppt/notesSlides/notesSlide20.xml" Id="R4a37376ffdaf4c9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d6a6dabebe4f4a" /><Relationship Type="http://schemas.openxmlformats.org/officeDocument/2006/relationships/image" Target="/ppt/media/image21.png" Id="R7b066cfd81f04ba4" /><Relationship Type="http://schemas.openxmlformats.org/officeDocument/2006/relationships/notesSlide" Target="/ppt/notesSlides/notesSlide21.xml" Id="R09e791d13f764b6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15b2fad2784d33" /><Relationship Type="http://schemas.openxmlformats.org/officeDocument/2006/relationships/image" Target="/ppt/media/image22.png" Id="Rc3692ff94e2745ce" /><Relationship Type="http://schemas.openxmlformats.org/officeDocument/2006/relationships/notesSlide" Target="/ppt/notesSlides/notesSlide22.xml" Id="R17e063599ef44d0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23eaf635e584348" /><Relationship Type="http://schemas.openxmlformats.org/officeDocument/2006/relationships/image" Target="/ppt/media/image23.png" Id="R3d304a6d5778403f" /><Relationship Type="http://schemas.openxmlformats.org/officeDocument/2006/relationships/notesSlide" Target="/ppt/notesSlides/notesSlide23.xml" Id="Re53f5015caed4e8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510e019c9b4d7a" /><Relationship Type="http://schemas.openxmlformats.org/officeDocument/2006/relationships/image" Target="/ppt/media/image24.png" Id="Rba9b5f7782ee46cd" /><Relationship Type="http://schemas.openxmlformats.org/officeDocument/2006/relationships/notesSlide" Target="/ppt/notesSlides/notesSlide24.xml" Id="R2b4df8e1e91946d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686e84522b470e" /><Relationship Type="http://schemas.openxmlformats.org/officeDocument/2006/relationships/image" Target="/ppt/media/image25.png" Id="Rdd3fefbb56014180" /><Relationship Type="http://schemas.openxmlformats.org/officeDocument/2006/relationships/notesSlide" Target="/ppt/notesSlides/notesSlide25.xml" Id="R39b027467d4348b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12826a8bde4e59" /><Relationship Type="http://schemas.openxmlformats.org/officeDocument/2006/relationships/image" Target="/ppt/media/image26.png" Id="R106ee2285d8149fd" /><Relationship Type="http://schemas.openxmlformats.org/officeDocument/2006/relationships/notesSlide" Target="/ppt/notesSlides/notesSlide26.xml" Id="R2326f8132e54458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216860b356414d" /><Relationship Type="http://schemas.openxmlformats.org/officeDocument/2006/relationships/image" Target="/ppt/media/image27.png" Id="R53af00f7cb644466" /><Relationship Type="http://schemas.openxmlformats.org/officeDocument/2006/relationships/notesSlide" Target="/ppt/notesSlides/notesSlide27.xml" Id="R265d1f56d3b14ab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c73458804c4127" /><Relationship Type="http://schemas.openxmlformats.org/officeDocument/2006/relationships/image" Target="/ppt/media/image28.png" Id="R44340ad4acb24dd6" /><Relationship Type="http://schemas.openxmlformats.org/officeDocument/2006/relationships/notesSlide" Target="/ppt/notesSlides/notesSlide28.xml" Id="R8fb09f7a000e49e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6b5e8b49304385" /><Relationship Type="http://schemas.openxmlformats.org/officeDocument/2006/relationships/image" Target="/ppt/media/image29.png" Id="Re4198adecae84001" /><Relationship Type="http://schemas.openxmlformats.org/officeDocument/2006/relationships/notesSlide" Target="/ppt/notesSlides/notesSlide29.xml" Id="Re90e5fe3b7b14eb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0f6832887a437c" /><Relationship Type="http://schemas.openxmlformats.org/officeDocument/2006/relationships/image" Target="/ppt/media/image30.png" Id="R813e3026feac4125" /><Relationship Type="http://schemas.openxmlformats.org/officeDocument/2006/relationships/notesSlide" Target="/ppt/notesSlides/notesSlide30.xml" Id="R9609d6dc7970492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e0ab3d919a4df5" /><Relationship Type="http://schemas.openxmlformats.org/officeDocument/2006/relationships/image" Target="/ppt/media/image5.jpeg" Id="Rae7d99e0206a4a2a" /><Relationship Type="http://schemas.openxmlformats.org/officeDocument/2006/relationships/image" Target="/ppt/media/image31.png" Id="Rc8981c2487ff4920" /><Relationship Type="http://schemas.openxmlformats.org/officeDocument/2006/relationships/notesSlide" Target="/ppt/notesSlides/notesSlide31.xml" Id="R8358f16566c0451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3db8b08594403e" /><Relationship Type="http://schemas.openxmlformats.org/officeDocument/2006/relationships/image" Target="/ppt/media/image6.jpeg" Id="R7a2fcae8cc1d4ccd" /><Relationship Type="http://schemas.openxmlformats.org/officeDocument/2006/relationships/image" Target="/ppt/media/image32.png" Id="R7d35747861104a60" /><Relationship Type="http://schemas.openxmlformats.org/officeDocument/2006/relationships/notesSlide" Target="/ppt/notesSlides/notesSlide32.xml" Id="R392656ae9b5a47b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2afa08f9224def" /><Relationship Type="http://schemas.openxmlformats.org/officeDocument/2006/relationships/image" Target="/ppt/media/image33.png" Id="R7b3f82a56aa1432d" /><Relationship Type="http://schemas.openxmlformats.org/officeDocument/2006/relationships/notesSlide" Target="/ppt/notesSlides/notesSlide33.xml" Id="R77c40ebcac874c1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dc757e00994bae" /><Relationship Type="http://schemas.openxmlformats.org/officeDocument/2006/relationships/image" Target="/ppt/media/image7.jpeg" Id="R9bde9104c6114f0f" /><Relationship Type="http://schemas.openxmlformats.org/officeDocument/2006/relationships/image" Target="/ppt/media/image34.png" Id="R0750aa5574f94078" /><Relationship Type="http://schemas.openxmlformats.org/officeDocument/2006/relationships/notesSlide" Target="/ppt/notesSlides/notesSlide34.xml" Id="R99584b9096d94af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3e0516209e4b59" /><Relationship Type="http://schemas.openxmlformats.org/officeDocument/2006/relationships/image" Target="/ppt/media/image35.png" Id="Ra2e4d2da05d44d0e" /><Relationship Type="http://schemas.openxmlformats.org/officeDocument/2006/relationships/notesSlide" Target="/ppt/notesSlides/notesSlide35.xml" Id="Ra33908953110484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46560b485b4b0d" /><Relationship Type="http://schemas.openxmlformats.org/officeDocument/2006/relationships/image" Target="/ppt/media/image36.png" Id="R62868fb15fc642cf" /><Relationship Type="http://schemas.openxmlformats.org/officeDocument/2006/relationships/notesSlide" Target="/ppt/notesSlides/notesSlide36.xml" Id="R407c69905b08473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6fd7c407a1485e" /><Relationship Type="http://schemas.openxmlformats.org/officeDocument/2006/relationships/image" Target="/ppt/media/image37.png" Id="R350ac867f7ed46f7" /><Relationship Type="http://schemas.openxmlformats.org/officeDocument/2006/relationships/notesSlide" Target="/ppt/notesSlides/notesSlide37.xml" Id="Rb78959b6aeae4ed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ee0f0010174e53" /><Relationship Type="http://schemas.openxmlformats.org/officeDocument/2006/relationships/image" Target="/ppt/media/image38.png" Id="R3876528cc33c4321" /><Relationship Type="http://schemas.openxmlformats.org/officeDocument/2006/relationships/notesSlide" Target="/ppt/notesSlides/notesSlide38.xml" Id="Rc7afae6a4c6844e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9b885b06654633" /><Relationship Type="http://schemas.openxmlformats.org/officeDocument/2006/relationships/image" Target="/ppt/media/image39.png" Id="R567c37d8c0a3455a" /><Relationship Type="http://schemas.openxmlformats.org/officeDocument/2006/relationships/notesSlide" Target="/ppt/notesSlides/notesSlide39.xml" Id="R7140f7e989e84d0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304064570f40db" /><Relationship Type="http://schemas.openxmlformats.org/officeDocument/2006/relationships/image" Target="/ppt/media/image40.png" Id="R6f25472e361f4a41" /><Relationship Type="http://schemas.openxmlformats.org/officeDocument/2006/relationships/notesSlide" Target="/ppt/notesSlides/notesSlide40.xml" Id="R4939484cf8164ac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ac90e44e2b4d0c" /><Relationship Type="http://schemas.openxmlformats.org/officeDocument/2006/relationships/image" Target="/ppt/media/image41.png" Id="R6361e8240ee5430f" /><Relationship Type="http://schemas.openxmlformats.org/officeDocument/2006/relationships/notesSlide" Target="/ppt/notesSlides/notesSlide41.xml" Id="R9a7cfbe35c7f499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c4b59cf7564911" /><Relationship Type="http://schemas.openxmlformats.org/officeDocument/2006/relationships/image" Target="/ppt/media/image8.jpeg" Id="Rdaaff672adc740e0" /><Relationship Type="http://schemas.openxmlformats.org/officeDocument/2006/relationships/image" Target="/ppt/media/image42.png" Id="Rcd89835776704c4b" /><Relationship Type="http://schemas.openxmlformats.org/officeDocument/2006/relationships/notesSlide" Target="/ppt/notesSlides/notesSlide42.xml" Id="R1c160c0fbc2a449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f6d04c75694499" /><Relationship Type="http://schemas.openxmlformats.org/officeDocument/2006/relationships/image" Target="/ppt/media/image43.png" Id="R42e44320108842a3" /><Relationship Type="http://schemas.openxmlformats.org/officeDocument/2006/relationships/notesSlide" Target="/ppt/notesSlides/notesSlide43.xml" Id="R4726edb3ad674607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bf14d79ebe429c" /><Relationship Type="http://schemas.openxmlformats.org/officeDocument/2006/relationships/image" Target="/ppt/media/image44.png" Id="Rffcc241aa542454f" /><Relationship Type="http://schemas.openxmlformats.org/officeDocument/2006/relationships/notesSlide" Target="/ppt/notesSlides/notesSlide44.xml" Id="R2f6cfaef3ee4486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a15706a1cf4df5" /><Relationship Type="http://schemas.openxmlformats.org/officeDocument/2006/relationships/image" Target="/ppt/media/image45.png" Id="R26b234dfd47840e8" /><Relationship Type="http://schemas.openxmlformats.org/officeDocument/2006/relationships/notesSlide" Target="/ppt/notesSlides/notesSlide45.xml" Id="R90e6078e340c442b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e4ee8ea32741c6" /><Relationship Type="http://schemas.openxmlformats.org/officeDocument/2006/relationships/image" Target="/ppt/media/image46.png" Id="R72c3034f92544327" /><Relationship Type="http://schemas.openxmlformats.org/officeDocument/2006/relationships/notesSlide" Target="/ppt/notesSlides/notesSlide46.xml" Id="R3d1bcfb9f34e499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ca673cc7814b80" /><Relationship Type="http://schemas.openxmlformats.org/officeDocument/2006/relationships/image" Target="/ppt/media/image47.png" Id="Rfde3f000334348c8" /><Relationship Type="http://schemas.openxmlformats.org/officeDocument/2006/relationships/notesSlide" Target="/ppt/notesSlides/notesSlide47.xml" Id="R285ef7da8f114ef8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37d317c9984afe" /><Relationship Type="http://schemas.openxmlformats.org/officeDocument/2006/relationships/image" Target="/ppt/media/image48.png" Id="R8a040a4709424009" /><Relationship Type="http://schemas.openxmlformats.org/officeDocument/2006/relationships/notesSlide" Target="/ppt/notesSlides/notesSlide48.xml" Id="R5a737f7bd0664560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1b8d3f723c48e9" /><Relationship Type="http://schemas.openxmlformats.org/officeDocument/2006/relationships/image" Target="/ppt/media/image49.png" Id="R6393f32ce3504b98" /><Relationship Type="http://schemas.openxmlformats.org/officeDocument/2006/relationships/notesSlide" Target="/ppt/notesSlides/notesSlide49.xml" Id="R49dfc4e931924404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f04e9551dd44668" /><Relationship Type="http://schemas.openxmlformats.org/officeDocument/2006/relationships/image" Target="/ppt/media/image50.png" Id="R28641106c0df44cf" /><Relationship Type="http://schemas.openxmlformats.org/officeDocument/2006/relationships/notesSlide" Target="/ppt/notesSlides/notesSlide50.xml" Id="Ra24dfc044ef4491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a1cd0f9cd14785" /><Relationship Type="http://schemas.openxmlformats.org/officeDocument/2006/relationships/image" Target="/ppt/media/image51.png" Id="R6fb38c0ae4a44fe0" /><Relationship Type="http://schemas.openxmlformats.org/officeDocument/2006/relationships/notesSlide" Target="/ppt/notesSlides/notesSlide51.xml" Id="Rc955f15ade294e7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6f3e72a7f44c59" /><Relationship Type="http://schemas.openxmlformats.org/officeDocument/2006/relationships/image" Target="/ppt/media/image52.png" Id="R8f11f066bc8b439d" /><Relationship Type="http://schemas.openxmlformats.org/officeDocument/2006/relationships/notesSlide" Target="/ppt/notesSlides/notesSlide52.xml" Id="R259a5d2ec68f492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4fee07c11947c6" /><Relationship Type="http://schemas.openxmlformats.org/officeDocument/2006/relationships/image" Target="/ppt/media/image53.png" Id="R9e394735646d4b0a" /><Relationship Type="http://schemas.openxmlformats.org/officeDocument/2006/relationships/notesSlide" Target="/ppt/notesSlides/notesSlide53.xml" Id="R5d91cf4ca2af4363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0870ae0fd004c1b" /><Relationship Type="http://schemas.openxmlformats.org/officeDocument/2006/relationships/image" Target="/ppt/media/image54.png" Id="R9bfbf781adaf4ece" /><Relationship Type="http://schemas.openxmlformats.org/officeDocument/2006/relationships/notesSlide" Target="/ppt/notesSlides/notesSlide54.xml" Id="R04609dd40a69487c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2eb9faa0a64805" /><Relationship Type="http://schemas.openxmlformats.org/officeDocument/2006/relationships/image" Target="/ppt/media/image55.png" Id="R212dfd8045e04e5e" /><Relationship Type="http://schemas.openxmlformats.org/officeDocument/2006/relationships/notesSlide" Target="/ppt/notesSlides/notesSlide55.xml" Id="R5c67f8c0e9bb4735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53a2caca6db4287" /><Relationship Type="http://schemas.openxmlformats.org/officeDocument/2006/relationships/image" Target="/ppt/media/image56.png" Id="Refa37c30a3ad4e45" /><Relationship Type="http://schemas.openxmlformats.org/officeDocument/2006/relationships/notesSlide" Target="/ppt/notesSlides/notesSlide56.xml" Id="R1342369ad7a74a89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617666fee348db" /><Relationship Type="http://schemas.openxmlformats.org/officeDocument/2006/relationships/image" Target="/ppt/media/image57.png" Id="R9e7fbd5a256f446e" /><Relationship Type="http://schemas.openxmlformats.org/officeDocument/2006/relationships/notesSlide" Target="/ppt/notesSlides/notesSlide57.xml" Id="Rfd2aa15b643d4134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3a7971232744c2" /><Relationship Type="http://schemas.openxmlformats.org/officeDocument/2006/relationships/image" Target="/ppt/media/image58.png" Id="Rb8d831af3635448a" /><Relationship Type="http://schemas.openxmlformats.org/officeDocument/2006/relationships/notesSlide" Target="/ppt/notesSlides/notesSlide58.xml" Id="Ra525eba0e3854654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319529097f8498c" /><Relationship Type="http://schemas.openxmlformats.org/officeDocument/2006/relationships/image" Target="/ppt/media/image59.png" Id="R7d7e299528b744cc" /><Relationship Type="http://schemas.openxmlformats.org/officeDocument/2006/relationships/notesSlide" Target="/ppt/notesSlides/notesSlide59.xml" Id="R49ac399dd35e42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23411B-E722-4CD4-9EC0-A6CBBE24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VISUAL_04_s0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f9028146314a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24750" y="1104900"/>
            <a:ext cx="4095750" cy="4762500"/>
          </a:xfrm>
          <a:prstGeom xmlns:a="http://schemas.openxmlformats.org/drawingml/2006/main" prst="roundRect">
            <a:avLst>
              <a:gd name="adj" fmla="val 2791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4AC75-32AE-4C41-B4F5-92C7CB681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04900"/>
            <a:ext cx="762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URSE_KICKER">
            <a:extLst xmlns:a="http://schemas.openxmlformats.org/drawingml/2006/main">
              <a:ext uri="{FF2B5EF4-FFF2-40B4-BE49-F238E27FC236}">
                <a16:creationId xmlns:a16="http://schemas.microsoft.com/office/drawing/2014/main" id="{071337B5-F3E9-4F8A-95E3-3DC8FE67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TRAINING COURSE</a:t>
            </a:r>
          </a:p>
        </p:txBody>
      </p:sp>
      <p:sp>
        <p:nvSpPr>
          <p:cNvPr id="5" name="DECK_TITLE">
            <a:extLst xmlns:a="http://schemas.openxmlformats.org/drawingml/2006/main">
              <a:ext uri="{FF2B5EF4-FFF2-40B4-BE49-F238E27FC236}">
                <a16:creationId xmlns:a16="http://schemas.microsoft.com/office/drawing/2014/main" id="{5BFA5B0B-DA53-478F-81D3-714CC353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191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52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787C9-9560-4499-9C72-70E01D00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CK_SUBTITLE">
            <a:extLst xmlns:a="http://schemas.openxmlformats.org/drawingml/2006/main">
              <a:ext uri="{FF2B5EF4-FFF2-40B4-BE49-F238E27FC236}">
                <a16:creationId xmlns:a16="http://schemas.microsoft.com/office/drawing/2014/main" id="{A53A70B4-237C-4803-B88F-8C53A4E6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3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325">
                <a:solidFill>
                  <a:srgbClr val="5D625F"/>
                </a:solidFill>
                <a:latin typeface="Arial"/>
                <a:ea typeface="Arial"/>
                <a:cs typeface="Arial"/>
              </a:rPr>
              <a:t>Practical principles of safe work and industrial safety</a:t>
            </a:r>
          </a:p>
        </p:txBody>
      </p:sp>
      <p:sp>
        <p:nvSpPr>
          <p:cNvPr id="8" name="DECK_AUDIENCE">
            <a:extLst xmlns:a="http://schemas.openxmlformats.org/drawingml/2006/main">
              <a:ext uri="{FF2B5EF4-FFF2-40B4-BE49-F238E27FC236}">
                <a16:creationId xmlns:a16="http://schemas.microsoft.com/office/drawing/2014/main" id="{53A93565-D2CD-4419-98EF-52CC5BCB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D625F"/>
                </a:solidFill>
                <a:latin typeface="Arial"/>
                <a:ea typeface="Arial"/>
                <a:cs typeface="Arial"/>
              </a:rPr>
              <a:t>Training course for workers and line personnel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3635A2-2A9B-46B1-87CA-B82D5368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AFB1232-87F8-4C51-B4F8-34B44B4C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8A215B7-1824-4CF1-B2AA-5198C3F8B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pic>
        <p:nvPicPr>
          <p:cNvPr id="2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c0abd952a9416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1128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BE5C3B-EEA0-41AC-814E-A2765F53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9F9439B-856D-4853-A4E8-9CDF8E79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After the course worker will be able to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F600CD3F-208D-4BE5-9917-2534996A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A25E5-917C-42CB-BFB6-DE8B5FAD1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7A771C12-1906-49F4-B5AA-D61C5DB0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Recognize hazards, evaluate risk and select control measures.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BBB7AD55-6704-4B53-AE51-45018687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51DD72-BB18-47A0-A629-14E10205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146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31DE1CF8-732C-4C4E-9EA1-2DCBB94F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6860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Understand the responsibilities of the employee, employer and manager.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7177A5C7-364F-42D5-8A55-9A5823A0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195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DE2C0-051C-4B88-B1E9-665B0F0C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290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2FE0FC75-9DEB-494C-A38E-8BBB1E49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004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Properly report hazards, incidents, injuries and accidents.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08A7229F-93A4-45CF-8B0F-14367B7DE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45C9D-46A0-4348-A998-D78FB170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43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5D1869EE-18B5-4E12-83CC-B7F4DBF9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148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Perform basic actions at a hazardous production facility.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E9987-D3BF-4D8E-B2C2-EB9C0525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3048000"/>
          </a:xfrm>
          <a:prstGeom xmlns:a="http://schemas.openxmlformats.org/drawingml/2006/main" prst="roundRect">
            <a:avLst>
              <a:gd name="adj" fmla="val 5625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9E01C-F452-4C17-9B7A-2E38E9DA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4359804-AF2F-450E-9890-10FD616E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29718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main goal of BIOT is to prevent injury, accident and occupational disease.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71427-90E9-4AA1-9AC6-CEB18D17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1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E427C599-EEB2-429F-831C-583F3CBF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Labor Code of the Republic of Kazakhstan • Law “On Civil Protection”</a:t>
            </a:r>
          </a:p>
        </p:txBody>
      </p:sp>
      <p:sp>
        <p:nvSpPr>
          <p:cNvPr id="22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25A84D3-B085-4665-B1EA-822E056B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23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8B2D792-AE35-4FE8-84FA-11E83D89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4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87e6e284a4ce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347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2E5131-D1EE-4980-951A-AC6E26CE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60C0C74-099B-42D4-87AA-7CFD753D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Five parts of the course</a:t>
            </a:r>
          </a:p>
        </p:txBody>
      </p:sp>
      <p:sp>
        <p:nvSpPr>
          <p:cNvPr id="3" name="LIST_NUMBER_1">
            <a:extLst xmlns:a="http://schemas.openxmlformats.org/drawingml/2006/main">
              <a:ext uri="{FF2B5EF4-FFF2-40B4-BE49-F238E27FC236}">
                <a16:creationId xmlns:a16="http://schemas.microsoft.com/office/drawing/2014/main" id="{70C49BDC-DF60-4E30-BF17-1EF842BD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CC563D-9499-49BE-992B-DFFB39CB7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002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5" name="LIST_ITEM_1">
            <a:extLst xmlns:a="http://schemas.openxmlformats.org/drawingml/2006/main">
              <a:ext uri="{FF2B5EF4-FFF2-40B4-BE49-F238E27FC236}">
                <a16:creationId xmlns:a16="http://schemas.microsoft.com/office/drawing/2014/main" id="{A0EBADB1-21D9-4C45-94D7-29B377FF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716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Fundamentals of occupational safety and health.</a:t>
            </a:r>
          </a:p>
        </p:txBody>
      </p:sp>
      <p:sp>
        <p:nvSpPr>
          <p:cNvPr id="6" name="LIST_NUMBER_2">
            <a:extLst xmlns:a="http://schemas.openxmlformats.org/drawingml/2006/main">
              <a:ext uri="{FF2B5EF4-FFF2-40B4-BE49-F238E27FC236}">
                <a16:creationId xmlns:a16="http://schemas.microsoft.com/office/drawing/2014/main" id="{2842B818-9212-4E6F-A109-DAA9E170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CAD24-E998-40A4-8E3F-A4BE1F5E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813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8" name="LIST_ITEM_2">
            <a:extLst xmlns:a="http://schemas.openxmlformats.org/drawingml/2006/main">
              <a:ext uri="{FF2B5EF4-FFF2-40B4-BE49-F238E27FC236}">
                <a16:creationId xmlns:a16="http://schemas.microsoft.com/office/drawing/2014/main" id="{50765117-E86F-42D1-9029-165B92A7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527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Labor legislation in a practical context.</a:t>
            </a:r>
          </a:p>
        </p:txBody>
      </p:sp>
      <p:sp>
        <p:nvSpPr>
          <p:cNvPr id="9" name="LIST_NUMBER_3">
            <a:extLst xmlns:a="http://schemas.openxmlformats.org/drawingml/2006/main">
              <a:ext uri="{FF2B5EF4-FFF2-40B4-BE49-F238E27FC236}">
                <a16:creationId xmlns:a16="http://schemas.microsoft.com/office/drawing/2014/main" id="{D7CFF7D3-A5FB-4DD7-8084-552E9676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528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65016-5476-4F0D-B038-83ECB72A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1" name="LIST_ITEM_3">
            <a:extLst xmlns:a="http://schemas.openxmlformats.org/drawingml/2006/main">
              <a:ext uri="{FF2B5EF4-FFF2-40B4-BE49-F238E27FC236}">
                <a16:creationId xmlns:a16="http://schemas.microsoft.com/office/drawing/2014/main" id="{7E6A9315-FC22-4540-9700-C0119AEB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Occupational safety and health management system.</a:t>
            </a:r>
          </a:p>
        </p:txBody>
      </p:sp>
      <p:sp>
        <p:nvSpPr>
          <p:cNvPr id="12" name="LIST_NUMBER_4">
            <a:extLst xmlns:a="http://schemas.openxmlformats.org/drawingml/2006/main">
              <a:ext uri="{FF2B5EF4-FFF2-40B4-BE49-F238E27FC236}">
                <a16:creationId xmlns:a16="http://schemas.microsoft.com/office/drawing/2014/main" id="{25D9EE9B-88C9-46A6-BA67-88B1DE45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82156-105A-4164-8236-B61DADC6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4340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4" name="LIST_ITEM_4">
            <a:extLst xmlns:a="http://schemas.openxmlformats.org/drawingml/2006/main">
              <a:ext uri="{FF2B5EF4-FFF2-40B4-BE49-F238E27FC236}">
                <a16:creationId xmlns:a16="http://schemas.microsoft.com/office/drawing/2014/main" id="{661555F1-0C29-4F88-B849-08359F9E8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14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Accidents and emergency preparedness.</a:t>
            </a:r>
          </a:p>
        </p:txBody>
      </p:sp>
      <p:sp>
        <p:nvSpPr>
          <p:cNvPr id="15" name="LIST_NUMBER_5">
            <a:extLst xmlns:a="http://schemas.openxmlformats.org/drawingml/2006/main">
              <a:ext uri="{FF2B5EF4-FFF2-40B4-BE49-F238E27FC236}">
                <a16:creationId xmlns:a16="http://schemas.microsoft.com/office/drawing/2014/main" id="{3FE62A71-F651-4416-BA6E-AEE82C8D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C49893-DE4B-4D96-A87E-5EE44E6C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24450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DB"/>
            </a:solidFill>
            <a:prstDash val="solid"/>
          </a:ln>
        </p:spPr>
      </p:sp>
      <p:sp>
        <p:nvSpPr>
          <p:cNvPr id="17" name="LIST_ITEM_5">
            <a:extLst xmlns:a="http://schemas.openxmlformats.org/drawingml/2006/main">
              <a:ext uri="{FF2B5EF4-FFF2-40B4-BE49-F238E27FC236}">
                <a16:creationId xmlns:a16="http://schemas.microsoft.com/office/drawing/2014/main" id="{2561C253-C621-41AF-AE26-A564FD31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9585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Fundamentals of industrial safety.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5E6AE-B8A4-4967-805F-B3CBB0E5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381250" cy="2952750"/>
          </a:xfrm>
          <a:prstGeom xmlns:a="http://schemas.openxmlformats.org/drawingml/2006/main" prst="roundRect">
            <a:avLst>
              <a:gd name="adj" fmla="val 8800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FEB57E-4FBD-474C-8B11-61E6755D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812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COURSE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5B592A-3E68-49BA-8052-C7E4607B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095750"/>
            <a:ext cx="171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5D625F"/>
                </a:solidFill>
                <a:latin typeface="Arial"/>
                <a:ea typeface="Arial"/>
                <a:cs typeface="Arial"/>
              </a:rPr>
              <a:t>semantic blocks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C1AAB5-9A5C-4BFC-B39F-AC29224F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BD08BF3-EE1C-49C3-8E9E-954E7E0F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26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799D4D7-D4C7-4F3C-B59E-55F81FBC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5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94e3ca3bb34bb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29" name="AGENDA_COUNT_CIRCLE">
            <a:extLst xmlns:a="http://schemas.openxmlformats.org/drawingml/2006/main">
              <a:ext uri="{FF2B5EF4-FFF2-40B4-BE49-F238E27FC236}">
                <a16:creationId xmlns:a16="http://schemas.microsoft.com/office/drawing/2014/main" id="{09D989DE-7A9E-4797-9476-BB65A5A3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667797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7A25CE-5F7A-4AAF-AA89-2A864FEB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4_s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0f41ab52f484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CEAFA73A-B501-4ECE-9D4C-18200535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54B68-C3CF-43DF-A2A2-54B42E0A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18B179D6-31D0-447A-9928-ACACAF05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BIOT Basics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FA956993-101B-4E8C-84FE-C3154055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Safety is created by the joint actions of the employee, employer and manager.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782E04-2A36-415E-92FF-D73C705F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3169150-0C7D-4C24-88CD-7D216172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3C5570D-7E58-4914-9F74-9BD7F93F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db4e16af048d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849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598B6-F0A9-4448-8145-2A31959A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BF260BC-74A9-43F6-BB64-B0716BB7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Working conditions - entire work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70967-E052-435C-8D21-DF1D3BCB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Work environment: equipment, materials, air, noise, lighting and temperature.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Work process: actions, load, pace, posture, shift and interaction of people.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Organization: instructions, training, supervision, maintenance and emergency preparedness.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Changing any element can change risk.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722D5-43AD-479A-9AE1-8275BD70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17933-9157-44B4-8D52-F51F6A3D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97DE548-BC59-44BF-BE98-D1F332D7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Safe equipment does not guarantee safe operation if poorly organized.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B95467-7744-4AC1-9AD5-B7ED95C2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B8B366A9-1D2F-4D06-BAF9-306289A4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3B29B13-C280-462B-BE84-8B5D1D330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14e555fdea4f0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2822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2BE5AB-7DD5-4143-8526-08C68EA2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ECE5051-50F8-40A1-9880-F28655EC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Hazardous factors act in different ways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19B1E1-B7A4-405B-A69D-6B10E8E6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risk / SOURCE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63739-A582-4D52-BAC6-BF374E2DB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76400"/>
            <a:ext cx="3067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CONSEQUENCE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945B11-433B-487A-91D1-8F69D47A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CONTROL MEASURE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CD1F9B-1D37-43FB-8463-7137FFEB4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6B44B-A73E-4AA0-8F02-24B15D42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Physical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BB34FE-6FF8-414B-8DEF-1FBE14A1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955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Moving parts, height, noise, temperature, electricity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69A6D-2D02-4878-A062-521FF5AF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Fencing, isolation, distance,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6C068E-9990-4ED8-A97E-48075DBF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AB71C-A395-472D-AFBB-20B780508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Chemical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176CC-4B66-4243-B6B0-2CBB91CE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527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Dust, vapors, gases and liquids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DAD2C4-02AD-4E39-AAEB-5F173750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527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Replacement, sealing, ventilation,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08CEA9-8F39-45DF-BF21-46A30063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2AE0F-4ECC-414F-9D5E-B6F008EC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Biological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20E97-F7E0-4D26-8B2C-40C11EEC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1000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Microorganisms and biomaterial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34606F-7D87-46DB-8547-3D5AB34D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1000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Hygiene, isolation, regulations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F79BB6-33F1-42CF-A490-035F896C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9347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E8EB8-C982-45DD-8BC5-2BD8213B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Psychophysiological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F21261-8375-4039-A9B9-F2842157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895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Overload, monotony, fatigue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D17040-6C40-47AF-BA1B-CDE586EE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67250"/>
            <a:ext cx="4705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02020"/>
                </a:solidFill>
                <a:latin typeface="Arial"/>
                <a:ea typeface="Arial"/>
                <a:cs typeface="Arial"/>
              </a:rPr>
              <a:t>Planning, breaks, task distribution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E30EF6-E20A-4ED0-8033-917271EF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93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First, the source and route of exposure are determined, then protection is selected.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562604-E801-44C6-B88F-FB9B6246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C5AB913-DF34-4EB3-9F82-41CC0CDF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9E10402-E4A0-4631-B969-65A77120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7af56e17af444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333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6BED5E-D8E6-4C25-A980-8906E6EF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3026453-16B3-48E9-96F3-C5D6FE65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 dangerous situation develops in a 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5FE16-1ED5-4F50-9061-BEAD39E92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5DA9E8-2EA3-4E10-9544-C57F34F5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C03C4E2-85FB-4F93-8F9E-42874448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82259AD8-5D34-48CE-9EB1-91FE7A00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Condition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C8BA1824-BDB6-4245-9857-C1F805D8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Faulty, poorly organized or unsafe environment.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B7EB9-66F9-4AEE-A253-960C9B35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4B093AE3-F7E8-4FC9-A7E5-5C4F802F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124A4CF2-2FAA-453B-8E9F-80B61A63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Action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C182F79D-E340-4608-9822-B2EDC7C7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Error, violation, haste or wrong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D85ABB-1289-48E4-A119-26D4A68E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C9B9E1CD-8A51-4AE6-B7F8-97D7212F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5477D878-6F4A-4B9A-85A3-39731A16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Event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1D680A03-6385-48C3-B5B1-2E1E4936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Loss of control over energy, matter or movement.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EA8D17-79B1-4D85-8EE0-46105C8A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B6232D6D-0243-4A21-9ED2-419CABF6F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3865FF93-C663-4835-9D41-79C4CF2F0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Consequence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05798763-ACF8-4185-9A0F-68BF4A178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Injury, damage, accident or health impact.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265392-044A-4D03-A29D-1008E2B5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FEA1E1-76B0-416F-9022-ED1C0E73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6FA14551-1FC3-4EFA-A1E1-81EC880A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It is easier to break the chain at an early stage - when a danger is identified.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5F631D-AD91-4E47-ABE8-6DB22E590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9DE4340-1960-4DF4-8D4E-FF0F2915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C76B103-58EF-44BB-8919-9F74705A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12fd29d9e64be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818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93F088-D9DA-49B2-B5D6-B8BFB72EB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9083C66-9274-433D-B1C8-3CEA62F08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BIOT preserves life and health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DB9EA-91A2-46C3-B3A8-0A1FBE05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occupational safety and health combines legal, organizational, technical, sanitary and preventive measures.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Occupational safety means worker protection from dangerous and harmful factors.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requirements are mandatory for employers and employees in Kazakhstan.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Costs for BIOT activities are borne by employer.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0DE6E-D689-45B8-8008-797E5F8CD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262A2-EE22-4E17-BEE8-AA0F18CC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31BC0D8F-D252-49DD-B000-9184D04F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BIOT is not a separate safety briefing, but a permanent work management system.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A3105A-528E-4692-ACE4-65EB130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917DE839-4906-4F9A-8074-E1A40CE1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Labor Code of the Republic of Kazakhstan, section 4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55C2D702-248F-420F-B59C-3AEF9111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983F5A4-B788-4563-9B6D-EB8BFF2B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9872f9cd3e449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454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C8FC1-BD2A-4EC9-8628-E62F899B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BC779E6-E0E6-4024-B794-A037C30B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Responsibilities assigned to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2B42B-B7BC-467E-838A-09A193FF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employer creates conditions, organizes training, control, medical examinations and protection.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manager plans the task, communicates safety measures and responds to changes.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worker complies with requirements, applies protection and reports hazards.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BIOT services help the system, but do not replace the responsibility of managers and employees.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803F9-35FB-4D30-A235-F4A6C3A7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2797AD-6FDA-4E8F-8554-20FD5EC8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A6EEA8D-6FF7-43CF-A652-BE1D0E7F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Safety cannot be completely delegated to one specialist.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43902-6E8F-4FDD-B086-423A94D5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F4597F4-27F2-4898-B7C4-81AB1436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Labor Code of the Republic of Kazakhstan, articles 181–182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E86C7CF-5F29-49F8-8E0B-3B6A16D7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1BFDE2E-4743-424A-80A0-DCE1DF5A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cb5a532e44e9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775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EAF3DD-C25D-4591-9F92-91F3467B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FD723FE-E65C-46C0-8DA0-3A5A04A2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If there is a threat, work is stopped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858A0B-9820-4E22-A328-CCDAF053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F8876-FBCB-4EFA-A62F-694EA606E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A65C3-C55D-486B-A674-7D55F074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07088-4991-4294-B80D-320350C6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Stop the action or leave the danger area without creating additional risk.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Warn people and notify immediate supervisor.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worker has the right to refuse work in a situation that poses a threat to life or health, notifying the employer.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Resumption is possible after the cause has been eliminated and safe conditions have been confirmed.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DB4A03-A783-4031-9292-BCBE4643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The right to safe work is accompanied by the obligation to report a threat.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D80C2-444A-496A-A2F5-D59F9D41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0A70099-822F-4286-BD3E-CFA7E371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Labor Code of the Republic of Kazakhstan, Article 181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5107470-21E5-42B1-B759-A9F9246FE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7AA0FF6-27AC-4776-A003-C720EBCE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165b729d26491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1AC48937-3B43-4052-96BD-28C36791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12125202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E6EBD-6FF0-4045-8D9A-7767A63E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D29A454-5366-4C31-96A3-34A80EF4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worker must act safely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5543E-4E06-4BA3-BC0D-3F624625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Comply with BIOT, fire, industrial safety and sanitation requirements.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Complete training, safety briefing, knowledge testing and mandatory medical examinations.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Correctly use the provided protective equipment and take care of the equipment.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Report a threat, malfunction, incident or deterioration in health.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3A998-53D3-4ED4-8241-67F6B64A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D2A9F-CFD6-43C6-9B57-AF31E582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9F1C892-A04A-4043-AAA8-FBD40333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Hidden hazard deprives the organization of the ability to prevent the incident.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FF351-F3E8-4F0A-BD8D-8CC4E1A1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E495E82-AD5C-4E85-97B4-C7858383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Labor Code of the Republic of Kazakhstan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7B49418-BB19-4688-BB51-9E6D4530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065B2E6-6DA6-4904-85F5-A84647FC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657ab902c402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137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23CA42-E50E-473E-BD96-FC9C174E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EA5B581-C68A-4DAE-A62C-6AB1B5D9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employer is required to manage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27BC3-DAED-4BFB-BC01-565130F4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Ensure that buildings, equipment, processes and work areas are in a safe condition.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Organize training, safety briefing, knowledge control and permission to work.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Provide and maintain the necessary collective and individual protective equipment.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Investigate incidents, eliminate causes and inform workers of risks.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A9C5E-29A6-46A6-9075-B0FBAC61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69847-BBC7-48C6-B444-28ABF111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797D2338-D72C-472C-9B39-95E32B14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Issuing PPE is only one part of the employer's responsibility.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B04ACE-74D4-4BC0-975C-2A7468D8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82363AA2-1072-4093-9734-C3368E2C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Labor Code of the Republic of Kazakhstan, article 182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8A01E9F-B24C-45D5-84E8-9DF4B1E4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CDF0C5D-2380-435C-96F1-F07F26FA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78d88fd844cb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3000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67B5E4-E045-4C08-B6DB-2B2666A1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4F5BF1A-22A7-464A-9AB8-C43BA059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Report Hazards Accurately and Immediately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9F117-4798-41E4-B586-7223DCFA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0D142-EA43-4FBB-BD19-CD2D8D38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49010088-03C3-4481-AD08-3AABA22D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74669DA7-521F-4BA6-80A4-FB2A421A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What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3CC5B46B-C31B-4F7A-A088-232EEFD4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hazard, malfunction, incident, injury or change in conditions.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3BB047-735C-4F50-A804-DF43CBA5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DFB57362-A406-40EC-9C3C-D7B9753B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7FE975B3-8F17-496F-9584-C2D89105C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Where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9BD1D625-9EFD-4D58-8750-1141A030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A precise location, installation, area or work operation.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89329-3634-47FF-849A-68A4B308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00EF42DA-0CB0-4CB7-AEF2-48780E8D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78611E8D-A418-49A5-824E-08604B12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To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3B04D815-1109-4FAA-889E-F676695F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To the manager and other persons regarding the emergency or local procedure.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1894E-67A3-4B0E-946A-41533F223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B5B0757B-7DD7-41C1-A248-F517FD37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24D31106-FED4-46A4-AA5F-6F393F85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What's done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5F7FC89A-A0A7-428D-B2EA-1AA06DAB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Stop, fencing, assistance and current zone status.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AAA02-DCF7-44F5-A6C8-82EA7741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721DDB-B4EA-4F55-85A4-299F9632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F74CA7F-6A46-42A4-9F6A-4B61AEDE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Report facts immediately; The reason will be determined after security has been ensured.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5109A8-A10F-482B-8B24-48EB2DC6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4653319-890D-4C90-A054-E691FEC5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1F57B23-2262-4BA8-9674-549F8898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ee4f051c14da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8632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CA2F3B-66F0-45E1-98BC-8489E5428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4_s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178616693b459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73E605FF-BA14-45F8-B730-07D8A210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8BA348-BF40-47FB-B65F-080F19F22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CAA273BA-1382-4DE7-B6B6-569B6F585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Labor legislation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64896B29-4D0C-45AE-9A93-CD03E1D0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The employee does not need article numbers, but an understanding of rights, responsibilities and the connection between working conditions and safety.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7446E-B6FE-4DF1-BA52-1F953449B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8DCA294-38B4-4A22-BF32-66F42D7D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9CFEB50-3355-445D-A88D-723D7DC3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1601eca50490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3640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45214-D6B7-4169-9547-52093107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025C73B-2948-46C9-9742-2A390639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Requirements are fixed at different levels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86CD9-173A-4464-9751-BED34ABE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Labor Code establishes the basic rights, obligations and requirements of BIOT.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Rules and technical regulations disclose requirements for individual work and risks.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collective agreement and employer acts clarify the order within the organization.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Local instructions cannot override a mandatory legal requirement.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01D51-5AC3-43BF-B577-AE34D65A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27F2D4-1B12-490A-9595-9B6DEF26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23A5222-CB56-47C6-B1A1-395B40D2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For practical action, a current document related to a specific work is used.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4BE98-550F-4338-B436-97AC41E1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13AC46A-DA54-4517-9EA5-2BD501E7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Labor Code of the Republic of Kazakhstan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480F1BC-9C4F-40E2-8AED-7C6CDC58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93B29E7-8510-4FC6-83C2-42471036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7cfeccb6a4f9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546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60EB39-1F3E-4020-8FA0-518998B87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AD8CF8E1-CE7D-4345-B003-8A73E3E1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Admission requires fulfillment of conditions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19ECDF-DC71-4D85-92A9-FF93555E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employment contract defines the job function and conditions, but does not replace professional clearance.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Before independent work, training, safety briefing and knowledge testing to the established extent are required.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Individual jobs require medical examination, qualification, group or permit-to-work.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employee is suspended if the required clearance conditions are not met.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701B1A-6CF5-4018-9A01-812C9A2E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237B2-3476-4768-9BF9-543E8A90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F7A107C-8010-43A3-908E-9633371C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Being present at the site does not authorize a person to perform every operation.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65226B-4F62-43C6-959E-24D83F4C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BD964209-1F46-4CE4-9F4D-52D36ABF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Labor Code of the Republic of Kazakhstan • BIOT training - order No. 1019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7B4DBD5-E78F-49A3-962E-34657602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16743967-D2C8-4B18-B12B-BD8EADBA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b6e749beff489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9200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7BD402-1623-4E91-8E79-1C51B312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E2C203B-23C0-4137-9F69-841D1487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Working mode affects the probability of error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46F6BD-8DBB-40E1-804F-DC82C48A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Working hours, night and overtime work are taken into account when planning hazardous tasks.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Breaks and shifts should allow you to restore attention and performance.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Fatigue, lack of sleep and overheating are signs of increased risk, not personal weakness.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manager reassigns a task if an employee's condition interferes with safe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1D2BD-43EF-44A3-B06D-6D094A23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6D328-CFAA-42F1-B9C8-CCBF417A0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161B59D6-C74A-4337-B021-C5102DC3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production plan should not be based on constant overwork.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96467-D872-4F3D-99EF-EF7AA098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57AF46B6-1DD2-4EC4-987A-C13878D3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Labor Code of the Republic of Kazakhstan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12E6DC9-0D98-4EEC-B266-8A186562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7EC03A9-92D1-4A67-BB32-8E3B2651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7d68ed4df48f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4578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BCE73-7295-4E9D-BF27-90B8AC5F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9189A1D-0781-4B12-B761-99E5461A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Medical Exams and Compensation Relate to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AB055-DD42-49EE-89AF-378034AA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Mandatory medical examinations confirm suitability and help identify exposure factors.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employer provides guarantees for the duration of mandatory procedures.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Compensation for hazardous conditions is not a substitute for risk reduction.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Changes in well-being due to exposure should be reported without waiting for a routine examination.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7CAFF-7F66-48BE-A389-1D2A34E3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1C91BD-DBAB-462D-9D68-C5C0B73E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9064BD5-7AEC-44A9-8E18-A59D3D56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Copayment does not make the hazardous exposure acceptable.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F1969E-C960-454E-A1BC-F7562B2D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5C0A4CA5-7133-446E-97DC-930B8DF9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Labor Code of the Republic of Kazakhstan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BBDE9AA-C290-4281-944F-BE248313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D279A53-A9DB-405E-BF61-514C8A8E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63edacc250419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06113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0DFABC-EE28-41DB-AA14-B35ED6E05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9D27D0A-7B2D-4E50-87DE-CC72EFA5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Violation entails liability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08CF4-1134-4CA2-80D2-9C31B55C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Responsibility depends on the role, authority, nature of the violation and consequences.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Disciplinary action does not replace the cause investigation and corrective action.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worker reserves the right to information about risks and safe working conditions.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Disputes over pay, leave and other rights are handled separately from immediate security arrangements.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62F65-7315-4A5F-896C-7265C662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9453B-77EF-4360-AE35-48F693A6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A3B163D-9BD4-4D7D-98CF-8314C81F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main goal of analyzing a violation is to eliminate repetition, and not to hide the problem.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E7373-C4B7-4ECB-8E4B-551A12D7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7175BC85-4E9F-4641-883B-13861072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Labor Code of the Republic of Kazakhstan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364707B-D556-406F-BC8D-3C131234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4CD657A-CCCF-4433-BA53-8F3E77B30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1a4923b838476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54334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A9FB5-B432-4406-B63C-8303538A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4_s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f99f1245b144a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5BA93CB5-2ADE-43A3-A0DF-E227F92A8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0E60B-AA98-4CC4-9729-FFB3E4A3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53E6EB63-AFA7-4487-AD89-CB5DC982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OSH Management System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AFC8C33A-E7A7-403F-A971-9276902D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Risks are reduced by consistent management: from eliminating the hazard to monitoring the use of PPE.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68E2F-70F1-4857-B6CD-29622F6B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4938D08-0156-43C3-AEDC-D5893A10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8018326-B2A7-42D7-84D4-91F8E6D6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acdfb5b8f4222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780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D28C9-396B-4DD1-B1F6-F106FC8D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69BB016-4961-4DD8-8834-483E8262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policy specifies specific 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557A1-203D-4CEC-BCD9-322A2EDEF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Management establishes goals, resources, authority and controls.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Hazards are identified before work and at every significant change.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Measures are included in the plan, performers are assigned and the result is checked.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Employees participate through messages, suggestions and feedback.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05DAD2-BBAB-41C9-B3E2-4A382978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CA5083-7B90-4088-8C2A-FB707303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20110D23-F7A1-4CBC-B33A-061B45AB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Policy only works when it is defined who does what and when.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BA8D75-D074-4950-BFA4-2C25AFE1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6CB7CA5-5C6F-4DE4-87CC-D597D872C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DB7F4AB-11F2-4BAB-B546-5CD71051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66cfd81f04ba4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163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74EDE8-07CC-4F35-AA4A-6A8C495C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4EC4BA0-B59D-4585-91A6-C98799715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Risk assessment begins with the task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A9291F-F2B0-4DB6-A72D-A9AA2B71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D36FFF-77C2-4DCC-AB3A-3684C99FC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F3D561A-B5A2-44D3-AA50-0587B77D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860E8316-73A9-4420-ADAD-B394CE33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Define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FA2539C2-9C45-40B9-99D4-8859777A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What work is performed, where, by whom and with what equipment.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13FB1-4ED8-4D12-9128-C55E24C6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9AB65C8F-2A1C-4918-92CC-009D4D2E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C94E0506-7C95-4E5A-9E53-004DF858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207395C6-FB05-404B-8CE1-198B3C79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Energy sources, substances, altitude, movement and human factors.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6302E-718C-4663-B007-8DC14057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AA9F915C-5CCD-4574-9DC5-F7C1A37AF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860AF1D6-43A1-401F-883F-C47D3A4B5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Rate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6DA65F46-56A8-4C49-8F13-B45A82F1D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Probability of contact and severity of possible consequences.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6C6E3A-7348-4FE6-8554-C3FB9828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17524D36-B9FB-4B12-A649-EEBA42EB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A8607F78-75F9-4B72-8BA3-0E6F7589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517FBC61-75B9-416D-A38F-EF200428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Select measures, assign controls and revise if changes occur.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7B3BC4-35FB-4170-B9F6-C25BE216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F2FD07-2499-4206-9736-D0F9B3B5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6BA66136-7D8E-4B18-A363-4F86F455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risk are assessed for real-life conditions, not for an abstract profession.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36A6D3-9E0A-48A0-A8C9-90B5EC4E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704437E-A19E-4FFB-B1F9-4EFF6B84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F865064E-181D-4300-88CD-39A97F98B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92ff94e2745c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6756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38B143-0B80-4D72-ACA4-B1828F1C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052E8EA7-53CA-4E71-A23E-84A5C28A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Control Hierarchy Sets the Right Priority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908D2-1326-4997-A242-F6BACC84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F4468-FAA2-4D5D-8FF9-4B0400A5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D056C266-34CF-4652-B1E4-0CA602AE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87C24B9D-101D-4DE7-B2D6-0A859A12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Eliminate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0C5F9EC0-B6C9-47B0-8C90-0A2C5C32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Eliminate hazard or the operation itself.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39CD32-BC1A-481B-A7C2-AAC097C0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B81CB964-6811-4DFE-8B57-D8CF5633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112F3D11-F567-4451-B888-C4940FC6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Replace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7D015E51-EAD4-499B-B854-20E46D690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Use a less hazardous material, method or equipment.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BC7B1-2BA9-4B24-835C-AC9494A65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36C43F15-6C7C-4220-8A09-38DCEBAF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A46D1AE8-F402-4FDC-96F8-1F3CC8A05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Isolate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2CD52A60-77C1-4016-88C9-41FF5D19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Fencing, automation, ventilation and collective protection.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374145-7416-4A78-A4D2-056E54E5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3D4E79EC-8AFF-42E5-ABCF-18F19E46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55EAD3FA-9C03-4AD8-913C-A58BB654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Organize and protect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73EC1FC7-6500-4ADA-95D9-F33EDC2D3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Procedures, clearance, training and then necessary PPE.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D40110-75D6-427F-B24C-4BB82338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7FFF9D-567A-4792-AD6C-2A783C5E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4F022B7-C0A4-47D4-A892-C4AEBD3E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PPE are used after more reliable measures, and not instead of them.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6BF8E4-C623-4396-9647-3E0B2E99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D2401A7-4B39-4DBF-85BA-20E50A54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439DC16-C16F-4C78-9776-8770D1C7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304a6d5778403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1156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E2F1A1-5E5E-45F1-BDEA-EEAB72B1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CF1ABAE-A725-4889-9172-E35400C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Plan and instructions must be current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531826-3605-41A4-AB08-32E37E94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Planning defines sequence, roles, equipment and control points.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Production control checks compliance and system condition.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instructions describe safe actions before, during, after work and in case of an accident.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When technology changes, documents and safety briefing are revised.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948B3-B1D0-464A-B8AC-3EAA1C1A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A3719-232C-44C5-8EE2-7AC2519D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52DB648-BEBE-4F36-B2AA-2500653F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Instructions that do not reflect actual equipment do not control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3165B-0856-43C9-9E97-6D1A537C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42424D7-2861-4A24-8626-A303B817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23BEDED-5B59-4CEC-AFBA-D6FB20DA8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b5f7782ee46c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0939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87F67-B42E-477E-9893-CD25E4A57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64AE84C-3B69-4FF3-BD07-2FC10C3A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Training ends with an understanding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DA303-DBD1-4977-BF39-97492DBD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Employees undergo training, safety briefing and knowledge testing in the prescribed manner.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list of professions and works is determined by employer, taking into account the nature and working conditions.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After transfer within an occupation, retraining may not be required if working conditions are maintained.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Practical clearance confirms the ability to safely perform a specific job.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BC04A7-9892-4862-8D8E-B4F44F39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B59A8-8A5A-4E4E-8CA6-EBE6C75F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F14DC45-DF0D-49F1-81BC-56E6D312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Changing the conditions is more important than the formal coincidence of the job title.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1C2FC-A907-4F36-92BE-1639605F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B58980F7-2953-488D-B452-64799C7F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Occupational Safety and Health Training — Order No. 1019 • 2026 Changes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F7DA81A-2FF4-44F7-8C7A-E47B3889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43D932E-1ECB-41CE-9389-A7DDAC03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fefbb5601418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4164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E8E2CD-500E-4F1F-8B92-7C97C803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DF51E50-BBF7-4950-97B4-51833541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safety briefing choose according to the situation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B22DA2-E9B2-4500-AB00-7B5D4AA6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Introductory introduces the general risks and rules of the organization.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Workplace primary refers to specific work and equipment.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Repetition maintains knowledge; unscheduled is needed for changes, incidents or breaks according to the rules.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Targeting is carried out before one-time or specially organized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1C947-23D6-4A91-B5D2-F2B2553C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0EFA59-2C28-4445-8EA3-E3D913B8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3752602E-BA1A-46E0-A2EF-F6BC65B5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signature confirms the fact of the instruction, but safety confirms the understanding of the actions.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CC772-F9A4-4B87-A917-64FCE7A31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9D4889B3-CEB7-4808-9AC1-A0E0CA9C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Occupational Safety and Health Training — Order No. 1019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A2EB079-7F13-436F-8C79-C343DEBF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A01CF4FC-D2F4-483C-8538-F5371CC7D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ee2285d8149f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72885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605B5E-2230-4B32-B027-BDC60D18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52CBFA2B-EF0E-4D87-996C-226296E5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permit-to-work links risk and measures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14677-41FF-47ED-BF82-126D52E6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 permit-to-work defines the location, scope, time, conditions, crew and responsible persons.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It records isolation, atmosphere monitoring, barriers, communications, PPE and emergency measures.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It is valid only within the stated conditions and boundaries.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 change in conditions requires work to stop and the permit to be reviewed.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2C312-AA6D-4E66-9ABF-9DEB44D3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47421-B8F8-46D7-A6B4-AEB5177F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4D05556-D8A9-4219-A2BD-13A74F2E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permit-to-work is not permission to ignore the new hazard.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9B640-189C-42A4-B668-3EDC57C8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A82E962D-CE9B-44BD-A889-AA725503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Work at height - definition of work permit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C88AC874-8B93-4A82-90D6-53CA1A477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8817068-A613-424E-B594-32DF7609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f00f7cb64446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06485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E8287-2CA0-4CF1-8F03-FAF9A93E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484B292-5CA5-4EE0-955B-7E1A7379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Medical Exam and Certification: Different Tasks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10E9CD-6C02-4EDC-8DC4-A62A1452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F431DB6-F854-4554-A271-E19F6219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4E7332C-A44F-413E-AC62-4AA077E0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  <p:pic>
        <p:nvPicPr>
          <p:cNvPr id="3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40ad4acb24dd6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4" name="MEDICAL_CARD">
            <a:extLst xmlns:a="http://schemas.openxmlformats.org/drawingml/2006/main">
              <a:ext uri="{FF2B5EF4-FFF2-40B4-BE49-F238E27FC236}">
                <a16:creationId xmlns:a16="http://schemas.microsoft.com/office/drawing/2014/main" id="{72802C8C-9DAF-4E81-8C95-EBF447A6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197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5" name="ATTESTATION_CARD">
            <a:extLst xmlns:a="http://schemas.openxmlformats.org/drawingml/2006/main">
              <a:ext uri="{FF2B5EF4-FFF2-40B4-BE49-F238E27FC236}">
                <a16:creationId xmlns:a16="http://schemas.microsoft.com/office/drawing/2014/main" id="{DFC80389-5F6B-4C65-BFA9-36C6C5AE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21970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6" name="MEDICAL_ACCENT">
            <a:extLst xmlns:a="http://schemas.openxmlformats.org/drawingml/2006/main">
              <a:ext uri="{FF2B5EF4-FFF2-40B4-BE49-F238E27FC236}">
                <a16:creationId xmlns:a16="http://schemas.microsoft.com/office/drawing/2014/main" id="{AE094151-BAB4-4B4F-8202-D500BDB0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71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TTESTATION_ACCENT">
            <a:extLst xmlns:a="http://schemas.openxmlformats.org/drawingml/2006/main">
              <a:ext uri="{FF2B5EF4-FFF2-40B4-BE49-F238E27FC236}">
                <a16:creationId xmlns:a16="http://schemas.microsoft.com/office/drawing/2014/main" id="{F570FBE4-D1C6-473B-9EFA-647DF4BD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571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EDICAL_ICON">
            <a:extLst xmlns:a="http://schemas.openxmlformats.org/drawingml/2006/main">
              <a:ext uri="{FF2B5EF4-FFF2-40B4-BE49-F238E27FC236}">
                <a16:creationId xmlns:a16="http://schemas.microsoft.com/office/drawing/2014/main" id="{012453C2-48CC-436B-9106-21F1CC98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38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B4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✚</a:t>
            </a:r>
          </a:p>
        </p:txBody>
      </p:sp>
      <p:sp>
        <p:nvSpPr>
          <p:cNvPr id="19" name="ATTESTATION_ICON">
            <a:extLst xmlns:a="http://schemas.openxmlformats.org/drawingml/2006/main">
              <a:ext uri="{FF2B5EF4-FFF2-40B4-BE49-F238E27FC236}">
                <a16:creationId xmlns:a16="http://schemas.microsoft.com/office/drawing/2014/main" id="{2953B74D-9F66-4283-8AA0-CC684EA3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38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Segoe UI Symbol"/>
                <a:ea typeface="Segoe UI Symbol"/>
                <a:cs typeface="Segoe UI Symbol"/>
              </a:rPr>
              <a:t>✓</a:t>
            </a:r>
          </a:p>
        </p:txBody>
      </p:sp>
      <p:sp>
        <p:nvSpPr>
          <p:cNvPr id="20" name="MEDICAL_HEADING">
            <a:extLst xmlns:a="http://schemas.openxmlformats.org/drawingml/2006/main">
              <a:ext uri="{FF2B5EF4-FFF2-40B4-BE49-F238E27FC236}">
                <a16:creationId xmlns:a16="http://schemas.microsoft.com/office/drawing/2014/main" id="{015520D3-0F44-4EEC-8B73-93B5AB7A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0002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medical examination</a:t>
            </a:r>
          </a:p>
        </p:txBody>
      </p:sp>
      <p:sp>
        <p:nvSpPr>
          <p:cNvPr id="21" name="ATTESTATION_HEADING">
            <a:extLst xmlns:a="http://schemas.openxmlformats.org/drawingml/2006/main">
              <a:ext uri="{FF2B5EF4-FFF2-40B4-BE49-F238E27FC236}">
                <a16:creationId xmlns:a16="http://schemas.microsoft.com/office/drawing/2014/main" id="{DD6B6385-999A-438E-8A32-FF6917F3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00250"/>
            <a:ext cx="3905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Workplace Conditions Certification</a:t>
            </a:r>
          </a:p>
        </p:txBody>
      </p:sp>
      <p:sp>
        <p:nvSpPr>
          <p:cNvPr id="22" name="MEDICAL_BODY">
            <a:extLst xmlns:a="http://schemas.openxmlformats.org/drawingml/2006/main">
              <a:ext uri="{FF2B5EF4-FFF2-40B4-BE49-F238E27FC236}">
                <a16:creationId xmlns:a16="http://schemas.microsoft.com/office/drawing/2014/main" id="{FE45ACEC-92E8-4A07-967C-AF9F9CA2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46482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020"/>
                </a:solidFill>
                <a:latin typeface="Arial"/>
                <a:ea typeface="Arial"/>
                <a:cs typeface="Arial"/>
              </a:rPr>
              <a:t>Evaluates the worker's health in light of relevant factors and the work performed.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Result: medical restrictions, fitness and clearance for work, and preventive recommendations.</a:t>
            </a:r>
          </a:p>
        </p:txBody>
      </p:sp>
      <p:sp>
        <p:nvSpPr>
          <p:cNvPr id="23" name="ATTESTATION_BODY">
            <a:extLst xmlns:a="http://schemas.openxmlformats.org/drawingml/2006/main">
              <a:ext uri="{FF2B5EF4-FFF2-40B4-BE49-F238E27FC236}">
                <a16:creationId xmlns:a16="http://schemas.microsoft.com/office/drawing/2014/main" id="{49EE25C3-3A94-4F08-8AAB-9B5CD2EC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86050"/>
            <a:ext cx="46482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020"/>
                </a:solidFill>
                <a:latin typeface="Arial"/>
                <a:ea typeface="Arial"/>
                <a:cs typeface="Arial"/>
              </a:rPr>
              <a:t>Evaluates working conditions and influencing production factors.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4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202020"/>
                </a:solidFill>
                <a:latin typeface="Arial"/>
                <a:ea typeface="Arial"/>
                <a:cs typeface="Arial"/>
              </a:rPr>
              <a:t>Result: improvement measures, guarantees and control of conditions.</a:t>
            </a:r>
          </a:p>
        </p:txBody>
      </p:sp>
      <p:sp>
        <p:nvSpPr>
          <p:cNvPr id="24" name="MEDICAL_TAKEAWAY_BG">
            <a:extLst xmlns:a="http://schemas.openxmlformats.org/drawingml/2006/main">
              <a:ext uri="{FF2B5EF4-FFF2-40B4-BE49-F238E27FC236}">
                <a16:creationId xmlns:a16="http://schemas.microsoft.com/office/drawing/2014/main" id="{50426AE3-ADF0-48C4-BBDD-699FCD42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7251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5" name="MEDICAL_TAKEAWAY_ACCENT">
            <a:extLst xmlns:a="http://schemas.openxmlformats.org/drawingml/2006/main">
              <a:ext uri="{FF2B5EF4-FFF2-40B4-BE49-F238E27FC236}">
                <a16:creationId xmlns:a16="http://schemas.microsoft.com/office/drawing/2014/main" id="{1D630D56-E3C0-4128-9961-16D1704F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571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E9FBF673-8888-43E0-99CB-7C6D772C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48250"/>
            <a:ext cx="10248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Neither medical examination nor certification assessment replace the current risk assessment: the changed workplace is checked again.</a:t>
            </a:r>
          </a:p>
        </p:txBody>
      </p:sp>
    </p:spTree>
    <p:extLst>
      <p:ext uri="{BB962C8B-B14F-4D97-AF65-F5344CB8AC3E}">
        <p14:creationId xmlns:p14="http://schemas.microsoft.com/office/powerpoint/2010/main" val="163671007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A30C5-A02A-4F4E-B647-A5BE82A6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25C1CC7-0FC5-4B26-8189-DAF12946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Collective protection applies to the source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40BAC9-14CB-4617-8FA4-E0D009599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Guards, interlocks, ventilation, isolation and remote control protect a group of workers.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protective device must be functional and not bypassed for the sake of convenience.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Removal or disconnection is only permitted under a controlled procedure.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Failure of collective protection affects permission to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85673-2217-4F9B-93D8-6428C2B6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0EC2D5-6773-468E-B9E9-663ADF67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EB5821F0-2F15-40F6-B15C-F7E5BA9A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First they protect the workplace, then a specific person.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78FBE-92DF-41F4-A9F9-902427F9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0106393-949A-4C96-ADE7-6139C996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B92FCF0-2A64-4202-823A-AD038D55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98adecae8400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8583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EDA46A-EEBE-445A-8460-D3C14A55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20C5229-40EE-496D-8C91-674F9B9A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PPE select, issue and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0B7C1C-B575-4C51-82FB-32EC2FAF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Type PPE corresponds to the hazard, exposure level and compatibility with other products.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worker is trained on donning, adjustment, inspection and application limitations.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PPE inspected before use, maintained and stored according to instructions.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Damaged or expired product is replaced and not repaired randomly.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DEDCBC-9B34-4B2C-BE5D-9B2A90B4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8DEC9D-141B-4FCC-908A-4E5B6CDB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41D6A239-026E-42CE-97EE-D7FFE5CEE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PPE is only effective if properly selected and actually applied.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4ECCA-5160-4270-AB94-200E106B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E2A398B-F216-437A-A567-ED28A71B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Labor Code of the Republic of Kazakhstan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F688284E-B4E1-44CE-833C-409C90EB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045B981-3CB1-4AED-9CC7-29271253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e3026feac412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46045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A687B-34B2-45F4-B9AD-C6409B5CA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2C67EE2-47C5-48B8-9ACA-C6D5841C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Electricity requires energy removal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67C332-0A3A-4D09-BD29-2E9A5FDF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Work is planned taking into account voltage, environment, equipment condition and personnel qualifications.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Before intervention, disconnect, block and check the absence of dangerous energy according to the procedure.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Damaged cables, plugs, housings and protective devices are taken out of service.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victim is not touched until the current is safely removed.</a:t>
            </a:r>
          </a:p>
        </p:txBody>
      </p:sp>
      <p:pic>
        <p:nvPicPr>
          <p:cNvPr id="18" name="VISUAL_04_s3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d99e0206a4a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58100" y="1752600"/>
            <a:ext cx="39624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692A743E-E10B-4517-A25C-5FB5BCFD0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57800"/>
            <a:ext cx="3962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Control off does not always mean voltage is off.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02757-6158-4CDE-8A77-EC59D70D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3B0E4B1-9715-4998-8CB6-7FDE93A9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Tool Safety — Order No. 204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794A5DB-54B4-44F7-ACEC-1226B7FAC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4D77C70-CADC-4A5B-8789-DD9810CB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81c2487ff492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72080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3A8B73-AC86-4646-9D02-0F5D25A6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01CA2D4-5651-4CCB-B2CF-F09BC86E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Work at height is planned before lifting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BAB9A-481F-496E-978B-933084BA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715125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Define safe access, work area and collective protection.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If necessary, select the fall arrest system, anchor and rescue plan.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Tools and materials protect against falling; the dangerous area below is fenced off.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3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Weather and changing conditions may require a stop.</a:t>
            </a:r>
          </a:p>
        </p:txBody>
      </p:sp>
      <p:pic>
        <p:nvPicPr>
          <p:cNvPr id="18" name="VISUAL_04_s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fcae8cc1d4c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58100" y="1752600"/>
            <a:ext cx="3962400" cy="3429000"/>
          </a:xfrm>
          <a:prstGeom xmlns:a="http://schemas.openxmlformats.org/drawingml/2006/main" prst="roundRect">
            <a:avLst>
              <a:gd name="adj" fmla="val 3333"/>
            </a:avLst>
          </a:prstGeom>
        </p:spPr>
      </p:pic>
      <p:sp>
        <p:nvSpPr>
          <p:cNvPr id="5" name="IMAGE_CAPTION">
            <a:extLst xmlns:a="http://schemas.openxmlformats.org/drawingml/2006/main">
              <a:ext uri="{FF2B5EF4-FFF2-40B4-BE49-F238E27FC236}">
                <a16:creationId xmlns:a16="http://schemas.microsoft.com/office/drawing/2014/main" id="{9934E873-F39B-436C-8943-BE89D39A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57800"/>
            <a:ext cx="3962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1575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Fall protection is incomplete without a safe anchorage point and a rescue plan.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6C189-1BBE-4F38-8E27-CCABE692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9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090A085-7850-425F-B6DD-62AFFB25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Work at Height — Order No. 109</a:t>
            </a:r>
          </a:p>
        </p:txBody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B653388-6477-4EFB-A0E8-B2965B28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C1997DA-2327-4519-8760-5BA137BE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35747861104a6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27344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0EFD25-82D0-4789-92B5-F320A083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B5E4740-0DB5-41F4-B1BD-C5AAEFDB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first aid starts with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C11F74-9C6E-40EE-B0FD-9F3B30FD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FA5E5-3887-4FF3-B8BE-5DFD49B4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E6A9742F-9D7D-4D61-BE8D-FAE940C9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940D50D2-355E-4ACD-B17E-E0AE83D2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Rate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E8F2272F-9AC2-49C3-A7DF-B9CEFFE6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Do not enter the danger zone without stopping exposure.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B1B327-6EE1-4854-BC9C-1947CD7B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5FFA37BA-A165-4926-92BE-5FBBA63A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0C2465F1-D59F-4538-BC74-EAE9E101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Call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AB6D092B-0889-452A-AC46-494DDA21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Report 112, location, nature of the event and number of victims.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38FBBD-508B-43B6-807D-E17B6C7F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6D38B30B-A85E-43F8-8D73-0053D568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5F928F6A-567C-4D1F-83BD-08C4AAEE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Help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5D1B5676-CD5B-4641-901E-E1AD1A886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Check condition and act within the limits of training and equipment.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E06524-E071-401E-8F31-58628FDD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7134956E-E0FE-4F19-B430-C1414D16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7007CB8E-96D3-4DD0-954A-D9AEBCB7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Send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5198A293-3DBF-470F-885E-10C80172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Meet help and report completed actions and known facts.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318A5E-FA77-4AAF-B53C-4462035E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B7152E-F848-46FB-9739-4918AA6D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C4CCB45-958A-4AA2-A1D4-8C0ECF12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rescuer should not become a second victim.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86D70A-046D-4697-8257-789EC1E7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A350490-86D4-42B3-8BAA-761E79FD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27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9507525-15F8-46FC-991D-73749EEC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pic>
        <p:nvPicPr>
          <p:cNvPr id="5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f82a56aa1432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77737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02065-6551-409B-8F5C-CF612461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VISUAL_04_s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e9104c6114f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63774DF9-B6BF-487F-8B70-A97151A2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23379F-A0C3-4CB0-BF9F-13200EA3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2FCFDF69-31EE-4B9E-9B94-A5D7F97A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Incidents and preparedness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BE92B550-26BE-401D-A35E-725E2019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After an incident, people are protected first, then facts are preserved and systemic causes are addressed.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C5796-E9AD-4A1B-98FA-BD9E685E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058F669-12ED-4E7E-AA8B-0BA4B757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6ECA05C-BB64-40BC-A162-F8C8837D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  <p:pic>
        <p:nvPicPr>
          <p:cNvPr id="24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50aa5574f9407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71656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360EB-94F7-4C4D-9986-DAC307FE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9BE166C-47A5-4410-804A-F15527E5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hazard, incident and occupational accident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822763-6174-4DED-97D6-AA756C7C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 hazardous condition or activity creates the possibility of harm.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incident is a loss of control event that could or has resulted in damage.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occupational accident is associated with exposure and injury, impairment or poisoning.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All levels are important to prevent recurrence.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EEE3B3-5B14-488C-A434-494B72F64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40FBF0-66E3-451D-B3EC-4F922964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0862E45A-621C-44D9-A634-E2DBABB0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Reporting a non-injury event helps prevent a more severe event.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C19A8-CFA1-48ED-AEE9-0B2DEF2D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A11F32F-2C73-42E6-BED8-0FF5B03C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Labor Code of the Republic of Kazakhstan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6E25C09-F462-41BF-BC4B-2866C451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9A1AD4F-7126-4AB9-A2B3-0963FBE4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e4d2da05d44d0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7133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6E7F61-4446-4FC2-BD26-78815383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14EAEC4-9244-48CD-89F2-A2DF79BFE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Following an incident, priorities are followed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9F421A-68AC-4294-AF65-83416676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E97D6-A8B8-4EAB-992C-2459CB43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6E22EF0E-AA94-44FF-8EB3-6B143FF2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3EE16CC1-4AD4-40B1-97D2-6586D4E5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Stop hazard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21FE501C-EEA1-48EA-A9B2-33D46D9E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Stop energy, movement or influence without risk to yourself.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7480A-18D7-47E6-AE2D-C5E3E5BCE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4AB971AD-832D-432F-BCDB-D587B404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61D5BA0F-7C3E-4380-9D18-DB53181C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Help people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F104F4DB-58F9-4CD1-9436-D78D66DB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Call for help, organize first aid and evacuation.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B46381-8868-4D23-AAD2-DCF4FFB7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FB9D8D16-CB15-4F56-89CE-33C9F4FB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2B88C7AE-E76B-49FE-96B0-AEDD957D9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Report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A0B8FA51-1BD1-40AA-9275-F9DC76D1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Notify the manager and services according to the established scheme.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8B6AD-0D23-4F28-ADD4-05B6F2B7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E5DBD097-0DE0-4946-B93E-E6A8C369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534ECF86-2EF1-4069-9265-788CAF1C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Save facts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A07DD2AE-78D0-4320-BA82-905FCF2E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Do not change the situation, except to save people and prevent the development of events.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CA9F30-5FB5-40CF-9D65-CFF11992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819D66-7C7A-4220-84E6-C0FA7169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01E7B62-1E93-479E-BFE5-5D716FB1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Rescue and prevention of further harm is more important than maintaining the same situation.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DF900-373B-495F-818C-DB8B6E19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E24B2753-B3FC-42EB-BD9A-4B942B063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Labor Code of the Republic of Kazakhstan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CD784B9-77C2-4913-B992-6014739DA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4A8FBC5-A9DB-4BF6-BB04-79278303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68fb15fc642c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460586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FA52D-F7E5-424E-BBA3-CE586A04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87AE2C7-0BEB-4759-802B-624942BE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Investigation establishes causes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9674C-0D73-43FD-910B-C11AD0AC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Gather facts about conditions, task, equipment, operations, training and management.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Separate the immediate event from organizational and technical reasons.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result is compiled and taken into account in the prescribed manner.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Corrective actions are prescribed with responsible persons and effectiveness check.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8FCD01-5E07-4141-9D39-8C59FEA0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7AEF8-A7FB-4FD2-919E-F681512B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16E4C63C-579C-4529-B83E-6D913EEE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explanation “employee inattention” rarely reveals the entire system of causes.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8E1F6-351D-4807-BF60-24440198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94492B72-902D-4B52-9353-4CFAF25C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Labor Code of the Republic of Kazakhstan - investigation and accounting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4E233C1E-E94E-4730-8677-795606256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734D62B0-A96F-44B1-837B-0D7436B2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0ac867f7ed46f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2585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B7D27D-AC01-4CF7-8E4B-EB766F9A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A6E1210-AAA7-4995-A324-ABE267EC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Impact may occur gradually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AE69E8-A419-4A95-8B1D-83F51A43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Occupational disease is associated with prolonged or repeated exposure to factors.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Acute poisoning may require immediate evacuation, decontamination and medical attention.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Symptoms and circumstances are reported to supervisor and health care provider.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Data from medical surveillance and environmental monitoring are used for prevention.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5C80E-B3B9-4D54-962A-F6F75ED5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0AEA2-A6D0-4C5E-A069-ADDA31BD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A102B00-3A92-4619-9B37-45C1BB16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absence of injury at the time of the shift does not mean the absence of harm to health.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4E2AF6-5E27-41B6-8C6D-826BE65A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8AEF9EF-608B-4F56-B183-1221F533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B5D8A38-D977-4E5D-A61D-FC5331A9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76528cc33c432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88793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23E7BE-72A0-4C66-BC06-E9F69F84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FF7A8301-21CC-4DFA-BBE6-6BDCC6CD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Insurance is not a substitute for prevention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FDC8DC-EE16-40C0-92A6-36F42195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Compulsory insurance protects the property interests of the employee in the event of an accident.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payment procedure depends on the established procedure and circumstances.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An insured event does not cancel the investigation, recording and elimination of causes.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employer continues the duty to prevent exposure.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0F914B-9FAC-49E6-A514-1893B12D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C3CAE-253C-4D28-93FD-56A2F624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6C7334D-2A46-46F8-852F-3AAA5812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Compensation for consequences is not a risk management measure.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89DE86-ADF5-4FBD-AD09-696CE9E2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9F714BA0-5C17-4635-8698-43F37239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Labor Code of the Republic of Kazakhstan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CC1D31A-321C-4505-8161-6F18A47C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8EDB8E74-2D15-47ED-84B5-FAFF5B85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c37d8c0a3455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86602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6CEE7E-7753-470D-A5AD-2FF7867C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E24A8212-B7AF-49FF-B3E2-437BC295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Corrective action must change the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2BA2C0-99FA-4202-88FC-1454E847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Eliminate the source or technical cause, not just remind the rule.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Review technology, fencing, maintenance, training and supervision.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Determine the deadline, the person responsible and the method of confirming the result.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Check whether measure risk has been transferred to another operation.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EBD87-4B1D-46FD-8B45-12AF7DD5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F12C9-1609-411B-884D-037BCE47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91C2E2A-851B-46FA-87BE-0C3518C9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Repeated safety briefing without eliminating the fault does not close the cause.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0E0BB-C079-44C6-AD1D-F420A5DC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DECK_FOOTER">
            <a:extLst xmlns:a="http://schemas.openxmlformats.org/drawingml/2006/main">
              <a:ext uri="{FF2B5EF4-FFF2-40B4-BE49-F238E27FC236}">
                <a16:creationId xmlns:a16="http://schemas.microsoft.com/office/drawing/2014/main" id="{0E230264-5EFC-4DBC-8EF3-1D62D1B7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1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BDA994E-7F18-4C1D-B41E-86106C45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pic>
        <p:nvPicPr>
          <p:cNvPr id="2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25472e361f4a41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43192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3473D3-849C-44A4-BCE0-CB534785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7E3D3334-6662-42CB-9575-388DEE5D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Emergency preparedness is tested by 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BDCBA-2C4D-47D4-B91F-3CE7A9AE8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EA3C8-35A7-49A2-96D8-608EC86F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751829B1-B215-4B03-896D-D46EB467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ADF4C79B-FE6B-46B7-828D-56761436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Plan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5A271623-C40A-4A90-BDA4-C01270CF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Scripts, roles, notification, routes, resources and service interactions.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68FA9-E6C9-41FB-836B-E99927BE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09038814-7607-4BBB-8AB4-616D14C3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DC94EED4-FE83-4E21-B506-75B3F136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B7B88F55-783D-4FB0-AD54-D1FF97CE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Personnel training and readiness of communications and protection systems.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8AC402-E043-45DB-AE6E-BF64989D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3D2727DC-2700-451B-A886-9D5CAE14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30F66600-F189-41BC-B215-77172D692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Training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FF005134-AD75-4090-9671-4425691C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Practical testing of actions without creating real danger.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63BE4-4C2A-4F92-8B8B-812B8A5A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77EEA30A-AE9D-4FF5-BBBF-B7DCAF60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CE0CBF83-F9A3-4B5D-A94A-2DD8F681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Improvement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8B56EAF9-8A7A-4730-8FEC-5B212BD8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Review, corrective action and re-inspection.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9D686-DFF8-4615-89B7-C6F67A060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651D3D-F122-4096-AD5B-58C86680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8400B12-F463-476B-80E3-F5A0080D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plan that no one has worked out cannot be considered confirmed.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2391E3-00D4-421A-ADC1-DD3FC71A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2E858150-068F-4D5D-8D4F-B7ED40F5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Law “On Civil Protection”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E54E1718-E40A-4663-BE9F-C527BB19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C5057A5D-A794-451E-A6D5-12968696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61e8240ee5430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07106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2F4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735D3-0CF1-45B7-8121-2FADC1E8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VISUAL_04_s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ff672adc740e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429500" y="1285875"/>
            <a:ext cx="4191000" cy="4333875"/>
          </a:xfrm>
          <a:prstGeom xmlns:a="http://schemas.openxmlformats.org/drawingml/2006/main" prst="roundRect">
            <a:avLst>
              <a:gd name="adj" fmla="val 2727"/>
            </a:avLst>
          </a:prstGeom>
        </p:spPr>
      </p:pic>
      <p:sp>
        <p:nvSpPr>
          <p:cNvPr id="3" name="SECTION_NUMBER">
            <a:extLst xmlns:a="http://schemas.openxmlformats.org/drawingml/2006/main">
              <a:ext uri="{FF2B5EF4-FFF2-40B4-BE49-F238E27FC236}">
                <a16:creationId xmlns:a16="http://schemas.microsoft.com/office/drawing/2014/main" id="{798C0A16-7E0D-47D0-BFBE-D1FFF5E9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19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87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87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B7A15-BE6B-449D-B57F-00640FC1A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66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ECTION_TITLE">
            <a:extLst xmlns:a="http://schemas.openxmlformats.org/drawingml/2006/main">
              <a:ext uri="{FF2B5EF4-FFF2-40B4-BE49-F238E27FC236}">
                <a16:creationId xmlns:a16="http://schemas.microsoft.com/office/drawing/2014/main" id="{D9DBF62B-8544-45C9-9E89-CC8F30B3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6096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industrial safety</a:t>
            </a:r>
          </a:p>
        </p:txBody>
      </p:sp>
      <p:sp>
        <p:nvSpPr>
          <p:cNvPr id="6" name="SECTION_LEAD">
            <a:extLst xmlns:a="http://schemas.openxmlformats.org/drawingml/2006/main">
              <a:ext uri="{FF2B5EF4-FFF2-40B4-BE49-F238E27FC236}">
                <a16:creationId xmlns:a16="http://schemas.microsoft.com/office/drawing/2014/main" id="{3CFB48C5-26BE-4D4A-B12E-7509AC00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60960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lnSpc>
                <a:spcPct val="107000"/>
              </a:lnSpc>
              <a:buNone/>
              <a:defRPr sz="2025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2025">
                <a:solidFill>
                  <a:srgbClr val="5D625F"/>
                </a:solidFill>
                <a:latin typeface="Arial"/>
                <a:ea typeface="Arial"/>
                <a:cs typeface="Arial"/>
              </a:rPr>
              <a:t>This section applies to work at hazardous production facilities and with dangerous technical devices.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B25E6-0556-4C94-8603-2A875B59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D0B13264-4B48-4B22-B311-6FDC1AEC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Law “On Civil Protection”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726CCC30-2E6B-445E-807C-CF85D97DC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5AA2E6D-FE0C-4D45-A526-165449D7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pic>
        <p:nvPicPr>
          <p:cNvPr id="26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89835776704c4b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18996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DA0032-C06D-4CDE-99E0-65F1DF13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4F46402-DF32-4186-8284-BF3A6AC5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industrial safety in the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594E2-45A4-4358-9203-9271C4B4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It is aimed at preventing the harmful effects of hazardous production factors.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Requirements are established by law, technical regulations, rules and instructions.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organization conducts production controls and prepares for accidents.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worker complies, receives training, and reports an accident or incident.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031072-F63C-43EC-BE92-BD719CC1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E70B9-8A93-4337-A113-D472CC85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161E3D2-9A79-4D0F-86C9-B9783457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industrial safety manages the risk of a major man-made event.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70D5C-096B-4242-9BB1-E1D11DFA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F09E957-3B01-4D55-A9DA-3C063472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Law “On Civil Protection”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D91931F-31B1-4E65-8872-FF7379CC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B924BD52-8BE0-4A6D-B14F-1486A803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44320108842a3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74428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96F759-0F05-4204-B2BB-F4DED0BE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6777EC5-D40B-4C51-9966-CE708399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HPF is determined by danger signs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230450-900B-498C-874A-88B23923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characteristics include the production, use, storage or transportation of certain hazardous substances.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Flammable, explosive, toxic and other hazardous substances are taken into account.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Signs also include individual technological processes and hazards.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Identification is carried out by the organization according to established rules.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06D56-B633-4E26-8E83-B519D767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2B054-C3E9-4647-B018-2ED1568A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944A7D0-766F-4C6A-86CD-7ACD089EF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An object is recognized as dangerous based on its actual characteristics, and not on its everyday name.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B9AE3-C3DB-469E-A4CC-9644B3894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AB1531C-BF77-4E5E-9D2E-25F63AA2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Law “On Civil Protection”, Article 70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E860052-E1FE-4DC0-80C8-A73AA242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EB196E5-004E-4BB8-837C-BF1C6E4F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c241aa542454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0787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780649-F852-4F4B-B3DE-95EEB065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6B758F09-69C9-4787-A0C2-77953205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Dangerous devices: accounting and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7C1D88-8CD2-498E-A228-B224A599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Dangerous technical devices include categories of equipment established by law.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organization identifies, accounts for and releases them to applicable requirements.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worker checks visible markings, status and enabled mode before action.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Unaccounted for, faulty or expired equipment is not introduced without permission.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F688A-73F3-4A42-8994-D0A675BF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96BB5-7E47-485A-9E3F-90ED8FB0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87A57C7-7164-42A9-80EB-6B9A430C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technical data sheet and registration identify the controlled equipment, but serviceability is confirmed by inspections.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97FD3-EBEE-46FE-9C65-65C6A3873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756E1F2B-F08E-4846-970B-76D0601F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Law “On Civil Protection”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6FA973D6-9116-4293-BE96-C2892DDE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C57CF6C-DD51-412A-AEE3-220A6EE1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234dfd47840e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15572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333ED5-2F0F-47B6-9715-5039C0BE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588FA96-A031-49D0-A732-134B1628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Examination and declaration: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1BD3D6-4127-431A-A9A5-171D1D0D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Expertise in the field of industrial safety is used in cases established by law.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Permitting and accounting procedures depend on the object, device and activity performed.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declaration reflects the nature and extent of the danger and protective measures.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It is important for the worker to be aware of the restrictions, signals and actions that apply to his or her area.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27DBF-BAA6-4360-99D9-B06AC3E0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B6BBB6-67F5-4FC9-9394-A31CDB0F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DE8A7092-727B-4677-B808-33808BCB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Review of procedures does not give the employee authority to substitute for expert judgment.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6897AD-E460-4F59-AE7C-F5423D2B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F8583D7-2583-4388-8904-28C35F41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Law “On Civil Protection”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7AF866E-D1BC-4802-BCBD-E8133953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1795765-DA0B-43EF-BE0E-48654A6B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46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3034f92544327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07422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91352-9087-44E5-B67E-9F9C4BD2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922AED8-406A-47D7-868D-6A4DD2DB6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PLA determines actions in case of emergency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BBE07-B001-4021-AB7F-7B94E6FC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emergency response plan includes the rescue of people and the actions of personnel and emergency services.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It allocates responsibilities, sequence, communication and necessary resources.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worker knows its signal, route, rally point and prohibitions.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plan is verified by drills and emergency drills.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E6E27F-5C0A-4A89-9B98-A33AB692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D89EFB-2D89-455D-B68A-2202271E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B8372B6C-691A-4654-ADD3-03289F7E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In the event of an accident, they perform a previously practiced role, and do not improvise in a dangerous area.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41B199-D4A6-45FB-813A-A521E5FE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C0F16C9F-B75C-40D0-8E7D-F4BA9156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Law “On Civil Protection”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7BB6C5E-E27F-4DBD-96B6-5B722569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BB95063-ACE4-4B60-968E-7F24E43E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e3f000334348c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402948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2909C4-C3DD-4126-A273-2717064F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3763D57-45C9-483A-989E-7BBAE4ED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Organization Follows the Plan in an Emergency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FE499-F160-4E3A-8B78-57C3D2FE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9467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DE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19E07-BAA4-4FA0-8DCA-7342C66C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B7A7FF31-ABCD-4B3B-A838-6AC7733E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STEP_TITLE_1">
            <a:extLst xmlns:a="http://schemas.openxmlformats.org/drawingml/2006/main">
              <a:ext uri="{FF2B5EF4-FFF2-40B4-BE49-F238E27FC236}">
                <a16:creationId xmlns:a16="http://schemas.microsoft.com/office/drawing/2014/main" id="{0148F5F7-BD30-4CD7-8BC9-20F765A5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Notify</a:t>
            </a:r>
          </a:p>
        </p:txBody>
      </p:sp>
      <p:sp>
        <p:nvSpPr>
          <p:cNvPr id="7" name="STEP_BODY_1">
            <a:extLst xmlns:a="http://schemas.openxmlformats.org/drawingml/2006/main">
              <a:ext uri="{FF2B5EF4-FFF2-40B4-BE49-F238E27FC236}">
                <a16:creationId xmlns:a16="http://schemas.microsoft.com/office/drawing/2014/main" id="{C46DBA0C-A1F5-4DBE-99D6-D33718DD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Transmit a signal and accurate information via an established channel.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AB38E-8CF6-44ED-AEF9-131409F0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05C1F0F4-93B1-472C-8609-ECD5C804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TEP_TITLE_2">
            <a:extLst xmlns:a="http://schemas.openxmlformats.org/drawingml/2006/main">
              <a:ext uri="{FF2B5EF4-FFF2-40B4-BE49-F238E27FC236}">
                <a16:creationId xmlns:a16="http://schemas.microsoft.com/office/drawing/2014/main" id="{DD14D44F-AE62-4A8A-A54C-C2971CD8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Protect</a:t>
            </a:r>
          </a:p>
        </p:txBody>
      </p:sp>
      <p:sp>
        <p:nvSpPr>
          <p:cNvPr id="11" name="STEP_BODY_2">
            <a:extLst xmlns:a="http://schemas.openxmlformats.org/drawingml/2006/main">
              <a:ext uri="{FF2B5EF4-FFF2-40B4-BE49-F238E27FC236}">
                <a16:creationId xmlns:a16="http://schemas.microsoft.com/office/drawing/2014/main" id="{AD1B1A6B-BB33-4137-AE77-92D1D083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Stop the process, isolate the energy and evacuate according to the role.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B29BA1-060C-44EA-ACC5-14D5C65C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BE6732EC-F0F9-4C3A-81DB-9A00B503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STEP_TITLE_3">
            <a:extLst xmlns:a="http://schemas.openxmlformats.org/drawingml/2006/main">
              <a:ext uri="{FF2B5EF4-FFF2-40B4-BE49-F238E27FC236}">
                <a16:creationId xmlns:a16="http://schemas.microsoft.com/office/drawing/2014/main" id="{9A077674-248C-42FD-98C8-10460C4F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Interact</a:t>
            </a:r>
          </a:p>
        </p:txBody>
      </p:sp>
      <p:sp>
        <p:nvSpPr>
          <p:cNvPr id="15" name="STEP_BODY_3">
            <a:extLst xmlns:a="http://schemas.openxmlformats.org/drawingml/2006/main">
              <a:ext uri="{FF2B5EF4-FFF2-40B4-BE49-F238E27FC236}">
                <a16:creationId xmlns:a16="http://schemas.microsoft.com/office/drawing/2014/main" id="{2C2C5980-5EBA-4F5F-915A-69E1CA64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Meet and support emergency services.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B1632D-5ED7-44B6-9E86-07E75553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7980990B-E300-4DD8-ADFC-79F8B916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05050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STEP_TITLE_4">
            <a:extLst xmlns:a="http://schemas.openxmlformats.org/drawingml/2006/main">
              <a:ext uri="{FF2B5EF4-FFF2-40B4-BE49-F238E27FC236}">
                <a16:creationId xmlns:a16="http://schemas.microsoft.com/office/drawing/2014/main" id="{A087B485-3122-4B1B-B88F-1AE36C3D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385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Investigate</a:t>
            </a:r>
          </a:p>
        </p:txBody>
      </p:sp>
      <p:sp>
        <p:nvSpPr>
          <p:cNvPr id="19" name="STEP_BODY_4">
            <a:extLst xmlns:a="http://schemas.openxmlformats.org/drawingml/2006/main">
              <a:ext uri="{FF2B5EF4-FFF2-40B4-BE49-F238E27FC236}">
                <a16:creationId xmlns:a16="http://schemas.microsoft.com/office/drawing/2014/main" id="{20E31CA1-0493-44B5-BDEC-9C1319784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1955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D625F"/>
                </a:solidFill>
                <a:latin typeface="Arial"/>
                <a:ea typeface="Arial"/>
                <a:cs typeface="Arial"/>
              </a:rPr>
              <a:t>Maintain facts, establish causes and take action.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F4442-62CA-4303-B1ED-FF7FEBC2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8191500" cy="685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C30698-01A4-43C9-A082-62CC7484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34000"/>
            <a:ext cx="76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6C4FD80-A0D0-4815-B037-40FF6204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10200"/>
            <a:ext cx="7734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8204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worker does not return to the danger zone without a command from a responsible person.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20EB1-134C-4E25-9094-5611294B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83635808-A64C-4EEC-B5E6-ED723CD5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Law “On Civil Protection”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8079A70-C954-46A3-85FF-8B7CE5BF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9D99333-9A1F-432F-A2EC-C9798196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48</a:t>
            </a:r>
          </a:p>
        </p:txBody>
      </p:sp>
      <p:pic>
        <p:nvPicPr>
          <p:cNvPr id="57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040a4709424009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88185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9E9DCC-8A42-4ACD-9B93-854DF8C0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2E1F7D2-B0A3-4A68-B342-754B76E4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Hazardous substances require different measures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5356DC-BD4B-497D-B5E2-D272E83B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CA089C1-14AC-4206-BAE2-3E9C8BC2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Law “On Civil Protection”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EF80255-B36F-42FF-ABA5-27FE6635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D366DF54-0307-4CC0-B37C-49F98597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49</a:t>
            </a:r>
          </a:p>
        </p:txBody>
      </p:sp>
      <p:pic>
        <p:nvPicPr>
          <p:cNvPr id="43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3f32ce3504b98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graphicFrame>
        <p:nvGraphicFramePr>
          <p:cNvPr id="44" name="HAZARDOUS_SUBSTANCES_TABLE"/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934700" cy="3562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09417"/>
                <a:gridCol w="3106449"/>
                <a:gridCol w="5218834"/>
              </a:tblGrid>
              <a:tr h="51435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SOURCE</a:t>
                      </a:r>
                    </a:p>
                  </a:txBody>
                  <a:tcPr marL="91440" marR="91440" marT="45720" marB="45720" anchor="ctr">
                    <a:solidFill>
                      <a:srgbClr val="009846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CONSEQUENCE</a:t>
                      </a:r>
                    </a:p>
                  </a:txBody>
                  <a:tcPr marL="91440" marR="91440" marT="45720" marB="45720" anchor="ctr">
                    <a:solidFill>
                      <a:srgbClr val="009846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 MEASURE</a:t>
                      </a:r>
                    </a:p>
                  </a:txBody>
                  <a:tcPr marL="91440" marR="91440" marT="45720" marB="45720" anchor="ctr">
                    <a:solidFill>
                      <a:srgbClr val="009846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Flammable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Fast ignition and propagation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Eliminate ignition sources; control fumes and spills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Explosive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Rapid energy release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Special mode, compatibility of substances and safe distance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Toxic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Poisoning through breathing, skin or ingestion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Sealing, environmental control, protection and evacuation readiness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1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Environmentally hazardous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Environmental pollution and secondary harm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  <a:tc>
                  <a:txBody>
                    <a:bodyPr wrap="square" lIns="95250" tIns="76200" rIns="95250" bIns="76200">
                      <a:normAutofit/>
                    </a:bodyPr>
                    <a:lstStyle/>
                    <a:p>
                      <a:pPr algn="l">
                        <a:buNone/>
                      </a:pPr>
                      <a:r>
                        <a:rPr sz="1125" b="0">
                          <a:solidFill>
                            <a:srgbClr val="202020"/>
                          </a:solidFill>
                          <a:latin typeface="Arial"/>
                          <a:ea typeface="Arial"/>
                          <a:cs typeface="Arial"/>
                        </a:rPr>
                        <a:t>Retention, collection and emergency procedures</a:t>
                      </a:r>
                    </a:p>
                  </a:txBody>
                  <a:tcPr marL="91440" marR="91440" marT="45720" marB="45720" anchor="ctr">
                    <a:solidFill>
                      <a:srgbClr val="F2F4F3"/>
                    </a:solidFill>
                  </a:tcPr>
                </a:tc>
              </a:tr>
            </a:tbl>
          </a:graphicData>
        </a:graphic>
      </p:graphicFrame>
      <p:sp>
        <p:nvSpPr>
          <p:cNvPr id="32" name="TABLE_TAKEAWAY_BG">
            <a:extLst xmlns:a="http://schemas.openxmlformats.org/drawingml/2006/main">
              <a:ext uri="{FF2B5EF4-FFF2-40B4-BE49-F238E27FC236}">
                <a16:creationId xmlns:a16="http://schemas.microsoft.com/office/drawing/2014/main" id="{C3E094AA-F42B-402A-BC54-C612359F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9347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33" name="TABLE_TAKEAWAY_ACCENT">
            <a:extLst xmlns:a="http://schemas.openxmlformats.org/drawingml/2006/main">
              <a:ext uri="{FF2B5EF4-FFF2-40B4-BE49-F238E27FC236}">
                <a16:creationId xmlns:a16="http://schemas.microsoft.com/office/drawing/2014/main" id="{BC347F45-F3FD-42C0-89A2-3E0B690C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ABLE_TAKEAWAY">
            <a:extLst xmlns:a="http://schemas.openxmlformats.org/drawingml/2006/main">
              <a:ext uri="{FF2B5EF4-FFF2-40B4-BE49-F238E27FC236}">
                <a16:creationId xmlns:a16="http://schemas.microsoft.com/office/drawing/2014/main" id="{5F3A0BC7-E20C-42A0-B97A-CF1CDADB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054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The pictogram helps to recognize hazard, but does not replace the safety data sheet and local instructions.</a:t>
            </a:r>
          </a:p>
        </p:txBody>
      </p:sp>
    </p:spTree>
    <p:extLst>
      <p:ext uri="{BB962C8B-B14F-4D97-AF65-F5344CB8AC3E}">
        <p14:creationId xmlns:p14="http://schemas.microsoft.com/office/powerpoint/2010/main" val="1864193578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47567-4407-43E5-BAC7-34C9D1A8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35987341-FA56-40EF-9D3F-92AE5765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Labeling and shipping require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7ED54-BC66-49CC-B9F5-30DC0134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Before handling, identify the substance, container, compatibility and hazardous properties.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Markings must be legible and consistent with the documents for the cargo or product.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Transportation is carried out according to applicable requirements, route and emergency information.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Unknown containers are not opened, moved or refilled without asking.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A78DBF-D305-4A5A-A25C-5BD09B5D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B0C9E-C98C-450C-B533-E1A17A4B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C01EFEDF-E0C2-4E7F-A146-9EF0073F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Unknown content is a reason to stop the appeal.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D50236-9F16-44E6-B5B2-C9D16442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68B870E-FDFC-4A6A-863B-06351B47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Law “On Civil Protection”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9358996-3E39-4CD5-BA26-05408C4E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965CF9D-FCAC-4C43-BBFE-AA0B9214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641106c0df44cf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00644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E774F-21A3-4FFB-BF30-C233E213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DE316B21-D01E-43A2-A851-1E1C2B44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Radiation is not detected by the senses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E49E1-DBC4-4982-BE11-5BE8FA66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source and area are controlled by established technical and organizational measures.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Time, distance and shielding are applied within an approved procedure.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Individual radiation monitoring is carried out for certain categories of work and personnel.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Violated markings, alarms or records require immediate reporting.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E8135-A674-4BEC-9870-7C0752CA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588F0-4CD1-4D26-AFB5-8DAA05E8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967BA2BA-C0FE-49E3-875A-16D64733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absence of odor, heat or pain does not confirm the absence of radiation.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EEE1A-7A9A-492D-B6EE-F4979720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37A42C73-B4D2-4AB6-AA86-D87ED9003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Law “On Civil Protection”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2459563D-2E6C-4739-885D-739F6126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5E50DB62-8D64-4DC6-ADA3-F122F1C6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51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b38c0ae4a44fe0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714138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09C93-B887-443C-9D28-F314AC108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B3884797-3918-44DE-A475-33591DEA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Oil/Gas Sites Need Work-Environment Monitoring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80F090-D606-4D2C-8B0B-8EA21E33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542C003-B7A8-41C9-86CF-7FD86FB5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Oil and Gas Industry Safety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9BA800CA-46A4-4D14-98C9-C5A4A83E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0504919-D1BE-42A3-B227-3C854AD9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1f066bc8b439d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5" name="ENV_CARD_1">
            <a:extLst xmlns:a="http://schemas.openxmlformats.org/drawingml/2006/main">
              <a:ext uri="{FF2B5EF4-FFF2-40B4-BE49-F238E27FC236}">
                <a16:creationId xmlns:a16="http://schemas.microsoft.com/office/drawing/2014/main" id="{2EB36ED1-3AC7-45D2-8AC2-DDF7DF48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5219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6" name="ENV_NUMBER_1">
            <a:extLst xmlns:a="http://schemas.openxmlformats.org/drawingml/2006/main">
              <a:ext uri="{FF2B5EF4-FFF2-40B4-BE49-F238E27FC236}">
                <a16:creationId xmlns:a16="http://schemas.microsoft.com/office/drawing/2014/main" id="{212B8ECE-BD30-4B88-B155-1BEA99A5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7" name="ENV_HEADING_1">
            <a:extLst xmlns:a="http://schemas.openxmlformats.org/drawingml/2006/main">
              <a:ext uri="{FF2B5EF4-FFF2-40B4-BE49-F238E27FC236}">
                <a16:creationId xmlns:a16="http://schemas.microsoft.com/office/drawing/2014/main" id="{264AA07D-A475-49F3-BD76-69D2EE09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431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Media and pressure</a:t>
            </a:r>
          </a:p>
        </p:txBody>
      </p:sp>
      <p:sp>
        <p:nvSpPr>
          <p:cNvPr id="18" name="ENV_BODY_1">
            <a:extLst xmlns:a="http://schemas.openxmlformats.org/drawingml/2006/main">
              <a:ext uri="{FF2B5EF4-FFF2-40B4-BE49-F238E27FC236}">
                <a16:creationId xmlns:a16="http://schemas.microsoft.com/office/drawing/2014/main" id="{15929DBE-AC2C-4A13-8F44-7CF7AED1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812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998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Fire and explosion hazard, toxicity, pressure, technological connections and remoteness of assistance are taken into account.</a:t>
            </a:r>
          </a:p>
        </p:txBody>
      </p:sp>
      <p:sp>
        <p:nvSpPr>
          <p:cNvPr id="19" name="ENV_CARD_2">
            <a:extLst xmlns:a="http://schemas.openxmlformats.org/drawingml/2006/main">
              <a:ext uri="{FF2B5EF4-FFF2-40B4-BE49-F238E27FC236}">
                <a16:creationId xmlns:a16="http://schemas.microsoft.com/office/drawing/2014/main" id="{7407DEBD-5448-4944-83B1-E1BB261F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71650"/>
            <a:ext cx="5219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0" name="ENV_NUMBER_2">
            <a:extLst xmlns:a="http://schemas.openxmlformats.org/drawingml/2006/main">
              <a:ext uri="{FF2B5EF4-FFF2-40B4-BE49-F238E27FC236}">
                <a16:creationId xmlns:a16="http://schemas.microsoft.com/office/drawing/2014/main" id="{98B19973-557E-4D64-B5C4-ABE86403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812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1" name="ENV_HEADING_2">
            <a:extLst xmlns:a="http://schemas.openxmlformats.org/drawingml/2006/main">
              <a:ext uri="{FF2B5EF4-FFF2-40B4-BE49-F238E27FC236}">
                <a16:creationId xmlns:a16="http://schemas.microsoft.com/office/drawing/2014/main" id="{7A6CCD3F-8456-4B7C-B7B1-B8EA7381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9431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Air control</a:t>
            </a:r>
          </a:p>
        </p:txBody>
      </p:sp>
      <p:sp>
        <p:nvSpPr>
          <p:cNvPr id="22" name="ENV_BODY_2">
            <a:extLst xmlns:a="http://schemas.openxmlformats.org/drawingml/2006/main">
              <a:ext uri="{FF2B5EF4-FFF2-40B4-BE49-F238E27FC236}">
                <a16:creationId xmlns:a16="http://schemas.microsoft.com/office/drawing/2014/main" id="{497E77D1-4FC8-47A3-B550-C7BA6F3F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812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Gas hazardous areas are indicated; the air is checked with the provided instruments.</a:t>
            </a:r>
          </a:p>
        </p:txBody>
      </p:sp>
      <p:sp>
        <p:nvSpPr>
          <p:cNvPr id="23" name="ENV_CARD_3">
            <a:extLst xmlns:a="http://schemas.openxmlformats.org/drawingml/2006/main">
              <a:ext uri="{FF2B5EF4-FFF2-40B4-BE49-F238E27FC236}">
                <a16:creationId xmlns:a16="http://schemas.microsoft.com/office/drawing/2014/main" id="{0901C2AD-A151-431B-B89E-8ED0E5FA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5219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4" name="ENV_NUMBER_3">
            <a:extLst xmlns:a="http://schemas.openxmlformats.org/drawingml/2006/main">
              <a:ext uri="{FF2B5EF4-FFF2-40B4-BE49-F238E27FC236}">
                <a16:creationId xmlns:a16="http://schemas.microsoft.com/office/drawing/2014/main" id="{5FA0FF05-91E1-4B85-8A1D-63A5714F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ENV_HEADING_3">
            <a:extLst xmlns:a="http://schemas.openxmlformats.org/drawingml/2006/main">
              <a:ext uri="{FF2B5EF4-FFF2-40B4-BE49-F238E27FC236}">
                <a16:creationId xmlns:a16="http://schemas.microsoft.com/office/drawing/2014/main" id="{FEBBAAE0-8314-46FF-956B-BB33A0FD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57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evacuation</a:t>
            </a:r>
          </a:p>
        </p:txBody>
      </p:sp>
      <p:sp>
        <p:nvSpPr>
          <p:cNvPr id="26" name="ENV_BODY_3">
            <a:extLst xmlns:a="http://schemas.openxmlformats.org/drawingml/2006/main">
              <a:ext uri="{FF2B5EF4-FFF2-40B4-BE49-F238E27FC236}">
                <a16:creationId xmlns:a16="http://schemas.microsoft.com/office/drawing/2014/main" id="{3141E0E0-6E5E-484E-AC6C-BA720A07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957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route and collection point are chosen taking into account the possible spread of gas.</a:t>
            </a:r>
          </a:p>
        </p:txBody>
      </p:sp>
      <p:sp>
        <p:nvSpPr>
          <p:cNvPr id="27" name="ENV_CARD_4">
            <a:extLst xmlns:a="http://schemas.openxmlformats.org/drawingml/2006/main">
              <a:ext uri="{FF2B5EF4-FFF2-40B4-BE49-F238E27FC236}">
                <a16:creationId xmlns:a16="http://schemas.microsoft.com/office/drawing/2014/main" id="{ED9B9EAF-3A23-487E-9DA3-CDC2F4A9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52197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8" name="ENV_NUMBER_4">
            <a:extLst xmlns:a="http://schemas.openxmlformats.org/drawingml/2006/main">
              <a:ext uri="{FF2B5EF4-FFF2-40B4-BE49-F238E27FC236}">
                <a16:creationId xmlns:a16="http://schemas.microsoft.com/office/drawing/2014/main" id="{D6498C7A-51CC-4BA9-BDBD-29F4EB2D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957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9" name="ENV_HEADING_4">
            <a:extLst xmlns:a="http://schemas.openxmlformats.org/drawingml/2006/main">
              <a:ext uri="{FF2B5EF4-FFF2-40B4-BE49-F238E27FC236}">
                <a16:creationId xmlns:a16="http://schemas.microsoft.com/office/drawing/2014/main" id="{8849B0FF-F1A2-45CE-AFEB-B40081B0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657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Work according to procedure</a:t>
            </a:r>
          </a:p>
        </p:txBody>
      </p:sp>
      <p:sp>
        <p:nvSpPr>
          <p:cNvPr id="30" name="ENV_BODY_4">
            <a:extLst xmlns:a="http://schemas.openxmlformats.org/drawingml/2006/main">
              <a:ext uri="{FF2B5EF4-FFF2-40B4-BE49-F238E27FC236}">
                <a16:creationId xmlns:a16="http://schemas.microsoft.com/office/drawing/2014/main" id="{E3E60D83-05DA-475A-90FE-984052C9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0957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Operate in accordance with the emergency response plan, permit and local instructions.</a:t>
            </a:r>
          </a:p>
        </p:txBody>
      </p:sp>
      <p:sp>
        <p:nvSpPr>
          <p:cNvPr id="31" name="ENV_TAKEAWAY_BG">
            <a:extLst xmlns:a="http://schemas.openxmlformats.org/drawingml/2006/main">
              <a:ext uri="{FF2B5EF4-FFF2-40B4-BE49-F238E27FC236}">
                <a16:creationId xmlns:a16="http://schemas.microsoft.com/office/drawing/2014/main" id="{F5F140A1-3D90-484C-8409-9326A1B1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725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32" name="ENV_TAKEAWAY_ACCENT">
            <a:extLst xmlns:a="http://schemas.openxmlformats.org/drawingml/2006/main">
              <a:ext uri="{FF2B5EF4-FFF2-40B4-BE49-F238E27FC236}">
                <a16:creationId xmlns:a16="http://schemas.microsoft.com/office/drawing/2014/main" id="{A1DA8FDB-12B5-41C9-AC16-4B902369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EEB1040-1CF9-461E-AFEB-31432BCB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10248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Wind direction and instrument readings are more important than the usual route.</a:t>
            </a:r>
          </a:p>
        </p:txBody>
      </p:sp>
    </p:spTree>
    <p:extLst>
      <p:ext uri="{BB962C8B-B14F-4D97-AF65-F5344CB8AC3E}">
        <p14:creationId xmlns:p14="http://schemas.microsoft.com/office/powerpoint/2010/main" val="27088432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DB604-3E1A-4901-8FC2-2C463125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92DB2CB4-B4F9-4DBA-8D05-49D6E8EC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Hydrogen sulfide requires immediate reaction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EB023-390C-4A82-9BA6-F9686B30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AB8580-C313-4881-B793-5DEF6D6B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C6633-D9FE-444C-8B52-61783CF9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39E2C9-4EAE-4C08-B432-20FF523C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H₂S is toxic; odor is not a reliable way to control concentrations.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If the device beeps or there are signs of danger, stop working and leave the area along a safe route.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Do not enter for rescue without training, communication and appropriate respiratory protection.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Report according to the emergency plan and act according to the emergency plan.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AF3B9-E814-4559-8CC5-37FB48C0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Relying on smell for H₂S is dangerous.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44BD14-5F52-48DF-BAB1-42985DDD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FAADAAF7-1DF1-47D5-9E09-E38C9FD2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Oil and Gas Industry Safety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A0544B79-2C9B-4FF6-9320-383D733B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0CF49681-1FF7-463A-9FF6-FEEBC08F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53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394735646d4b0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BBCE7E2D-4595-4302-96BC-3039957E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124930152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5DB24B-2DD4-4B52-B66F-BB26AD96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28536254-EB55-4679-A370-57103C5F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Gas Hazardous Work: Atmosphere 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DE6463-68BD-4E5A-9B44-F567921C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26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900568FD-C581-4EAB-85D0-7155CFAC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Law “On Civil Protection” • Safety of the oil and gas industry</a:t>
            </a:r>
          </a:p>
        </p:txBody>
      </p:sp>
      <p:sp>
        <p:nvSpPr>
          <p:cNvPr id="27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B29B800-4344-4B5B-A134-7FDF8D0C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28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2A85736E-1F48-4F3F-995C-3459012B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54</a:t>
            </a:r>
          </a:p>
        </p:txBody>
      </p:sp>
      <p:pic>
        <p:nvPicPr>
          <p:cNvPr id="58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bf781adaf4ec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31" name="STEP_CONNECTOR">
            <a:extLst xmlns:a="http://schemas.openxmlformats.org/drawingml/2006/main">
              <a:ext uri="{FF2B5EF4-FFF2-40B4-BE49-F238E27FC236}">
                <a16:creationId xmlns:a16="http://schemas.microsoft.com/office/drawing/2014/main" id="{F1A4CD78-D3F3-428A-868B-DDF24052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247900"/>
            <a:ext cx="857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DEDB"/>
            </a:solidFill>
            <a:prstDash val="solid"/>
          </a:ln>
        </p:spPr>
      </p:sp>
      <p:sp>
        <p:nvSpPr>
          <p:cNvPr id="32" name="STEP_CARD_1">
            <a:extLst xmlns:a="http://schemas.openxmlformats.org/drawingml/2006/main">
              <a:ext uri="{FF2B5EF4-FFF2-40B4-BE49-F238E27FC236}">
                <a16:creationId xmlns:a16="http://schemas.microsoft.com/office/drawing/2014/main" id="{7E5E4ECE-DC86-4A1F-8EB5-FD7CFF11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09850"/>
            <a:ext cx="2476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33" name="STEP_NUMBER_1">
            <a:extLst xmlns:a="http://schemas.openxmlformats.org/drawingml/2006/main">
              <a:ext uri="{FF2B5EF4-FFF2-40B4-BE49-F238E27FC236}">
                <a16:creationId xmlns:a16="http://schemas.microsoft.com/office/drawing/2014/main" id="{2A8250FA-9E13-4F27-9314-6D11D11A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2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4" name="STEP_HEADING_1">
            <a:extLst xmlns:a="http://schemas.openxmlformats.org/drawingml/2006/main">
              <a:ext uri="{FF2B5EF4-FFF2-40B4-BE49-F238E27FC236}">
                <a16:creationId xmlns:a16="http://schemas.microsoft.com/office/drawing/2014/main" id="{1B2B3BD1-3F37-4D1C-BF5D-11F28D43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Prepare</a:t>
            </a:r>
          </a:p>
        </p:txBody>
      </p:sp>
      <p:sp>
        <p:nvSpPr>
          <p:cNvPr id="35" name="STEP_BODY_1">
            <a:extLst xmlns:a="http://schemas.openxmlformats.org/drawingml/2006/main">
              <a:ext uri="{FF2B5EF4-FFF2-40B4-BE49-F238E27FC236}">
                <a16:creationId xmlns:a16="http://schemas.microsoft.com/office/drawing/2014/main" id="{D88BCFD9-0AD2-4EFA-9FC6-B2F8B1D8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718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permit-to-work, isolation, ventilation, communication and rescue measures.</a:t>
            </a:r>
          </a:p>
        </p:txBody>
      </p:sp>
      <p:sp>
        <p:nvSpPr>
          <p:cNvPr id="36" name="STEP_CARD_2">
            <a:extLst xmlns:a="http://schemas.openxmlformats.org/drawingml/2006/main">
              <a:ext uri="{FF2B5EF4-FFF2-40B4-BE49-F238E27FC236}">
                <a16:creationId xmlns:a16="http://schemas.microsoft.com/office/drawing/2014/main" id="{944948C7-78CA-451E-9CA6-4DEE4623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09850"/>
            <a:ext cx="2476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37" name="STEP_NUMBER_2">
            <a:extLst xmlns:a="http://schemas.openxmlformats.org/drawingml/2006/main">
              <a:ext uri="{FF2B5EF4-FFF2-40B4-BE49-F238E27FC236}">
                <a16:creationId xmlns:a16="http://schemas.microsoft.com/office/drawing/2014/main" id="{DAB338B9-2F78-4D26-8B20-09FAFF2F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92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8" name="STEP_HEADING_2">
            <a:extLst xmlns:a="http://schemas.openxmlformats.org/drawingml/2006/main">
              <a:ext uri="{FF2B5EF4-FFF2-40B4-BE49-F238E27FC236}">
                <a16:creationId xmlns:a16="http://schemas.microsoft.com/office/drawing/2014/main" id="{3DA6F69E-9E2C-47EF-9F55-5E69767A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384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9" name="STEP_BODY_2">
            <a:extLst xmlns:a="http://schemas.openxmlformats.org/drawingml/2006/main">
              <a:ext uri="{FF2B5EF4-FFF2-40B4-BE49-F238E27FC236}">
                <a16:creationId xmlns:a16="http://schemas.microsoft.com/office/drawing/2014/main" id="{913E39AF-2DEF-4B31-911A-1BB47A95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Air composition - with a suitable verified instrument at the right points.</a:t>
            </a:r>
          </a:p>
        </p:txBody>
      </p:sp>
      <p:sp>
        <p:nvSpPr>
          <p:cNvPr id="40" name="STEP_CARD_3">
            <a:extLst xmlns:a="http://schemas.openxmlformats.org/drawingml/2006/main">
              <a:ext uri="{FF2B5EF4-FFF2-40B4-BE49-F238E27FC236}">
                <a16:creationId xmlns:a16="http://schemas.microsoft.com/office/drawing/2014/main" id="{9DB38512-274C-4E67-AEBA-7BDAAA90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09850"/>
            <a:ext cx="2476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2F4F3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41" name="STEP_NUMBER_3">
            <a:extLst xmlns:a="http://schemas.openxmlformats.org/drawingml/2006/main">
              <a:ext uri="{FF2B5EF4-FFF2-40B4-BE49-F238E27FC236}">
                <a16:creationId xmlns:a16="http://schemas.microsoft.com/office/drawing/2014/main" id="{834D4F02-B8CA-40EB-AD13-099891CB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2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2" name="STEP_HEADING_3">
            <a:extLst xmlns:a="http://schemas.openxmlformats.org/drawingml/2006/main">
              <a:ext uri="{FF2B5EF4-FFF2-40B4-BE49-F238E27FC236}">
                <a16:creationId xmlns:a16="http://schemas.microsoft.com/office/drawing/2014/main" id="{8A300F61-B88D-4BE7-B614-A7A30221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Execute</a:t>
            </a:r>
          </a:p>
        </p:txBody>
      </p:sp>
      <p:sp>
        <p:nvSpPr>
          <p:cNvPr id="43" name="STEP_BODY_3">
            <a:extLst xmlns:a="http://schemas.openxmlformats.org/drawingml/2006/main">
              <a:ext uri="{FF2B5EF4-FFF2-40B4-BE49-F238E27FC236}">
                <a16:creationId xmlns:a16="http://schemas.microsoft.com/office/drawing/2014/main" id="{B76BEB1B-D471-4713-859F-31526A09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With observation and periodic or continuous monitoring of the procedure.</a:t>
            </a:r>
          </a:p>
        </p:txBody>
      </p:sp>
      <p:sp>
        <p:nvSpPr>
          <p:cNvPr id="44" name="STEP_CARD_4">
            <a:extLst xmlns:a="http://schemas.openxmlformats.org/drawingml/2006/main">
              <a:ext uri="{FF2B5EF4-FFF2-40B4-BE49-F238E27FC236}">
                <a16:creationId xmlns:a16="http://schemas.microsoft.com/office/drawing/2014/main" id="{E8C1F492-100C-4FFD-BA74-6A6DDFAC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24765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45" name="STEP_NUMBER_4">
            <a:extLst xmlns:a="http://schemas.openxmlformats.org/drawingml/2006/main">
              <a:ext uri="{FF2B5EF4-FFF2-40B4-BE49-F238E27FC236}">
                <a16:creationId xmlns:a16="http://schemas.microsoft.com/office/drawing/2014/main" id="{408BCB09-10B3-4F68-B287-E4DAA00F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92405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6" name="STEP_HEADING_4">
            <a:extLst xmlns:a="http://schemas.openxmlformats.org/drawingml/2006/main">
              <a:ext uri="{FF2B5EF4-FFF2-40B4-BE49-F238E27FC236}">
                <a16:creationId xmlns:a16="http://schemas.microsoft.com/office/drawing/2014/main" id="{5FCBB618-3304-4A86-A7B5-2D824787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384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  <p:sp>
        <p:nvSpPr>
          <p:cNvPr id="47" name="STEP_BODY_4">
            <a:extLst xmlns:a="http://schemas.openxmlformats.org/drawingml/2006/main">
              <a:ext uri="{FF2B5EF4-FFF2-40B4-BE49-F238E27FC236}">
                <a16:creationId xmlns:a16="http://schemas.microsoft.com/office/drawing/2014/main" id="{895DE36F-EDC4-4570-A9D8-00A91756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71850"/>
            <a:ext cx="2095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202020"/>
                </a:solidFill>
                <a:latin typeface="Arial"/>
                <a:ea typeface="Arial"/>
                <a:cs typeface="Arial"/>
              </a:rPr>
              <a:t>When there is a signal, loss of communication, loss of ventilation or change in conditions.</a:t>
            </a:r>
          </a:p>
        </p:txBody>
      </p:sp>
      <p:sp>
        <p:nvSpPr>
          <p:cNvPr id="48" name="ATMOSPHERE_TAKEAWAY_BG">
            <a:extLst xmlns:a="http://schemas.openxmlformats.org/drawingml/2006/main">
              <a:ext uri="{FF2B5EF4-FFF2-40B4-BE49-F238E27FC236}">
                <a16:creationId xmlns:a16="http://schemas.microsoft.com/office/drawing/2014/main" id="{95E3F67B-473D-4C31-AFDF-1CFD1BBC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19700"/>
            <a:ext cx="11049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49" name="ATMOSPHERE_TAKEAWAY_ACCENT">
            <a:extLst xmlns:a="http://schemas.openxmlformats.org/drawingml/2006/main">
              <a:ext uri="{FF2B5EF4-FFF2-40B4-BE49-F238E27FC236}">
                <a16:creationId xmlns:a16="http://schemas.microsoft.com/office/drawing/2014/main" id="{DB279BD6-EF3E-4CA9-8292-C706628A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197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694DF5EB-A41D-417A-94DB-5ECEDCFC8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515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76B4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6B49"/>
                </a:solidFill>
                <a:latin typeface="Arial"/>
                <a:ea typeface="Arial"/>
                <a:cs typeface="Arial"/>
              </a:rPr>
              <a:t>The primary measurement does not guarantee a safe atmosphere for the entire duration of operation.</a:t>
            </a:r>
          </a:p>
        </p:txBody>
      </p:sp>
    </p:spTree>
    <p:extLst>
      <p:ext uri="{BB962C8B-B14F-4D97-AF65-F5344CB8AC3E}">
        <p14:creationId xmlns:p14="http://schemas.microsoft.com/office/powerpoint/2010/main" val="1471517057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D6FFDA-25CC-4CCF-8DBF-142A7F09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8FE4F877-6E39-45AD-825D-2F68B2B0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Hot work: ignition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74C940-EDDB-4BAD-9598-AD68450C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Identify sparks and heat, remove or protect flammable materials.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Issue permit-to-work where required and schedule observation.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Monitor the gas environment, insulation of equipment and the availability of extinguishing agents.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After completion, the site is checked within the time established by the local procedure.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66EFC-F20B-4AD3-A0FB-E86457E7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FFB18C-FA25-4022-B060-61A25F9F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8063024C-1DCD-46AA-AD3A-C7C25F01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The end of welding does not mean the end of the fire risk.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C4783C-3CFF-4861-A2B2-13F207E95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6A6AB81C-4EA5-4940-8842-CF3EE469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Fire safety rules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1DEB49B4-C90B-44DA-BF41-76540D3E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9D777015-FB42-4D27-A409-CA989758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dfd8045e04e5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376727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AB02FC-6DDA-4C9E-BF9F-6F4A1B22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16043C10-7392-4DDB-AE5F-9ACB9317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Tank entry requires an external attendant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5D9F4-6E4F-4424-8689-395F23E9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Isolate the vessel from energy sources and connected services, clean and ventilate it, and monitor its atmosphere.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Entry is performed under a permit-to-work with a designated attendant and reliable communications.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Rescue equipment and the means of retrieval are prepared before entry.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attendant must not leave the post or enter the space without an organized rescue procedure.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53642-F5A5-4F1F-AA99-7A539F4A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4757DB-B9A6-4D21-A3BD-15B00CF6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511EE995-2217-4567-B7A2-684370BC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Surveillance is an active control and communication function rather than a formal presence.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F447B-4592-40F5-B6A6-2902FA80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00F9C568-8BE4-4C3F-93E4-6859B67F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Standard: Oil and Gas Industry Safety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D2BD0247-AB73-4FFF-977B-4D1C20B0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69722AC4-CE61-4D13-AD6A-A7745BA4D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56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a37c30a3ad4e45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8683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5D6B0-75E3-4A0A-B738-9272FD9E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C8B33FC8-0C76-4A3E-A6F5-679CEEC8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Pressure is maintained by the entire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D8E1C-3E3A-4BF2-B7B7-0ABE9482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572375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vessel, valves and fittings, safety devices, instruments and piping operate as one system.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Authorization for operation, inspection and marking are performed under the applicable rules.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The worker monitors operating conditions and reports leaks, vibration, damage or incorrect readings.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5"/>
              </a:spcAft>
              <a:buNone/>
              <a:defRPr sz="2025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2025">
                <a:solidFill>
                  <a:srgbClr val="202020"/>
                </a:solidFill>
                <a:latin typeface="Arial"/>
                <a:ea typeface="Arial"/>
                <a:cs typeface="Arial"/>
              </a:rPr>
              <a:t>  Repair, opening or tightening while under pressure is performed only by an authorized method.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766A2B-F31A-45B7-BFAD-809F9C37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2905125" cy="285750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E8F5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29731-2BB3-4FFC-B578-58A78FF9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14550"/>
            <a:ext cx="76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KEY_TAKEAWAY">
            <a:extLst xmlns:a="http://schemas.openxmlformats.org/drawingml/2006/main">
              <a:ext uri="{FF2B5EF4-FFF2-40B4-BE49-F238E27FC236}">
                <a16:creationId xmlns:a16="http://schemas.microsoft.com/office/drawing/2014/main" id="{A11CC3B6-0F8F-4F28-ADCB-55DA0391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247900"/>
            <a:ext cx="2447925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A zero reading on one device does not always confirm the absence of pressure.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F56CC2-9F49-46FB-81AD-48471621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0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1C0F6CCD-CB64-48BF-941A-197BA79C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Law “On Civil Protection”</a:t>
            </a:r>
          </a:p>
        </p:txBody>
      </p:sp>
      <p:sp>
        <p:nvSpPr>
          <p:cNvPr id="11" name="DECK_FOOTER">
            <a:extLst xmlns:a="http://schemas.openxmlformats.org/drawingml/2006/main">
              <a:ext uri="{FF2B5EF4-FFF2-40B4-BE49-F238E27FC236}">
                <a16:creationId xmlns:a16="http://schemas.microsoft.com/office/drawing/2014/main" id="{80D7362C-523D-4722-9D34-816BDEA0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2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E0086A01-5006-421B-9A74-C26FA99C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57</a:t>
            </a:r>
          </a:p>
        </p:txBody>
      </p:sp>
      <p:pic>
        <p:nvPicPr>
          <p:cNvPr id="25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fbd5a256f446e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82804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02997-C04A-4BCE-8223-FDE532B1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239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8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LIDE_TITLE">
            <a:extLst xmlns:a="http://schemas.openxmlformats.org/drawingml/2006/main">
              <a:ext uri="{FF2B5EF4-FFF2-40B4-BE49-F238E27FC236}">
                <a16:creationId xmlns:a16="http://schemas.microsoft.com/office/drawing/2014/main" id="{4D236033-3E10-46C7-8E2D-15973A41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10839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36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Industrial risk requires stop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EDB16-2041-4EB2-B3F5-B1D9DA1A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E3552-332A-4E64-96CC-38C99083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934700" cy="371475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EDBF23-0AAF-4417-BB92-67EA8635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0" cy="2895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9B8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AC294-9F3D-4EC3-909E-3D5CACAA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95500"/>
            <a:ext cx="7810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An alarm from a gas detector, dosimeter, protective system or process interlock.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A leak, odor, mist, unusual noise, vibration, or rising pressure or temperature.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Loss of communications, ventilation, monitoring or specified isolation.</a:t>
            </a:r>
          </a:p>
          <a:p xmlns:a="http://schemas.openxmlformats.org/drawingml/2006/main">
            <a:pPr marL="0" indent="0">
              <a:lnSpc>
                <a:spcPct val="114000"/>
              </a:lnSpc>
              <a:spcAft>
                <a:spcPts val="14"/>
              </a:spcAft>
              <a:buNone/>
              <a:defRPr sz="195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•</a:t>
            </a:r>
            <a:r>
              <a:rPr sz="1950">
                <a:solidFill>
                  <a:srgbClr val="202020"/>
                </a:solidFill>
                <a:latin typeface="Arial"/>
                <a:ea typeface="Arial"/>
                <a:cs typeface="Arial"/>
              </a:rPr>
              <a:t>  Absence of a permit-to-work, marking, inspection or a clearly understood emergency role.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F492A-A784-419A-B21A-4751196B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C6282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62828"/>
                </a:solidFill>
                <a:latin typeface="Arial"/>
                <a:ea typeface="Arial"/>
                <a:cs typeface="Arial"/>
              </a:rPr>
              <a:t>Stopping work and taking a safe route is the right action when in doubt.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5710A-F027-44A4-A12E-BF9651A7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EDB"/>
            </a:solidFill>
            <a:prstDash val="solid"/>
          </a:ln>
        </p:spPr>
      </p:sp>
      <p:sp>
        <p:nvSpPr>
          <p:cNvPr id="12" name="VISIBLE_SOURCE">
            <a:extLst xmlns:a="http://schemas.openxmlformats.org/drawingml/2006/main">
              <a:ext uri="{FF2B5EF4-FFF2-40B4-BE49-F238E27FC236}">
                <a16:creationId xmlns:a16="http://schemas.microsoft.com/office/drawing/2014/main" id="{47F00291-D761-483B-9DE4-9978870B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43625"/>
            <a:ext cx="895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Norm: Law “On Civil Protection”</a:t>
            </a:r>
          </a:p>
        </p:txBody>
      </p:sp>
      <p:sp>
        <p:nvSpPr>
          <p:cNvPr id="13" name="DECK_FOOTER">
            <a:extLst xmlns:a="http://schemas.openxmlformats.org/drawingml/2006/main">
              <a:ext uri="{FF2B5EF4-FFF2-40B4-BE49-F238E27FC236}">
                <a16:creationId xmlns:a16="http://schemas.microsoft.com/office/drawing/2014/main" id="{37B73397-6069-487A-963D-D6B986B9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050">
                <a:solidFill>
                  <a:srgbClr val="5D625F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D625F"/>
                </a:solidFill>
                <a:latin typeface="Arial"/>
                <a:ea typeface="Arial"/>
                <a:cs typeface="Arial"/>
              </a:rPr>
              <a:t>occupational safety and health (BIOT)</a:t>
            </a:r>
          </a:p>
        </p:txBody>
      </p:sp>
      <p:sp>
        <p:nvSpPr>
          <p:cNvPr id="14" name="SLIDE_NUMBER">
            <a:extLst xmlns:a="http://schemas.openxmlformats.org/drawingml/2006/main">
              <a:ext uri="{FF2B5EF4-FFF2-40B4-BE49-F238E27FC236}">
                <a16:creationId xmlns:a16="http://schemas.microsoft.com/office/drawing/2014/main" id="{3FC79B94-AC80-44C0-8739-8A7CEE51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58</a:t>
            </a:r>
          </a:p>
        </p:txBody>
      </p:sp>
      <p:pic>
        <p:nvPicPr>
          <p:cNvPr id="30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d831af3635448a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  <p:sp>
        <p:nvSpPr>
          <p:cNvPr id="17" name="STOP_SIGN">
            <a:extLst xmlns:a="http://schemas.openxmlformats.org/drawingml/2006/main">
              <a:ext uri="{FF2B5EF4-FFF2-40B4-BE49-F238E27FC236}">
                <a16:creationId xmlns:a16="http://schemas.microsoft.com/office/drawing/2014/main" id="{A95F5639-EFDD-4A64-9E19-A1CBB68C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1676400" cy="1676400"/>
          </a:xfrm>
          <a:prstGeom xmlns:a="http://schemas.openxmlformats.org/drawingml/2006/main" prst="octagon">
            <a:avLst/>
          </a:prstGeom>
          <a:solidFill xmlns:a="http://schemas.openxmlformats.org/drawingml/2006/main">
            <a:srgbClr val="D93838"/>
          </a:solidFill>
          <a:ln xmlns:a="http://schemas.openxmlformats.org/drawingml/2006/main" w="19050">
            <a:solidFill>
              <a:srgbClr val="B92323"/>
            </a:solidFill>
            <a:prstDash val="solid"/>
          </a:ln>
        </p:spPr>
        <p:txBody>
          <a:bodyPr xmlns:a="http://schemas.openxmlformats.org/drawingml/2006/main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103286248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0984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HECKLIST_TITLE">
            <a:extLst xmlns:a="http://schemas.openxmlformats.org/drawingml/2006/main">
              <a:ext uri="{FF2B5EF4-FFF2-40B4-BE49-F238E27FC236}">
                <a16:creationId xmlns:a16="http://schemas.microsoft.com/office/drawing/2014/main" id="{114C91E0-DB56-47E3-AD63-E2FE5EE5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BIOT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8E500-676F-47D3-BD99-4FC75A7F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D3565-579A-4B64-A8DD-470A65D5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669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F25EE-9B9E-4269-999B-6AC991CB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383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Hazards identified, risk assessed, measures selected according to hierarchy.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7AC37-9532-4305-908C-BFF1925E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934F1-51C1-4ED2-A6CF-02426149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27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D1EE9-527A-49E0-86C2-652B6603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7241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worker is trained, cleared and understands mission and emergency procedures.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8CE29-55F2-4860-9EC0-D8FE04F2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9B868-C792-4FED-9360-8ECA1EAB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385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8D9C92-1B32-4BC9-B8AF-EA2199A8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099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Collective protection is working, PPE fit and tested.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69FA4-9C7E-4FEB-9AB6-50E67866D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130B39-9E85-460F-99F9-340A1AFF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43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7CB874-4F77-4A18-81F0-27FD3309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signal, route, PLA and immediate stop conditions are clear at the OPO.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A189A-E350-4BB3-A993-14B25FF2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38BC6-4674-4874-BFDB-0AA75E9B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0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1">
                <a:solidFill>
                  <a:srgbClr val="00984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9846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CFEDA-ADFF-4410-A31C-B4203B8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81550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95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FFFFFF"/>
                </a:solidFill>
                <a:latin typeface="Arial"/>
                <a:ea typeface="Arial"/>
                <a:cs typeface="Arial"/>
              </a:rPr>
              <a:t>Any change or incident is reported promptly.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6F5EB-4E1F-49A9-9542-123045B5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Click “Start Test”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6C7F63-0082-4336-A23B-1E181A58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578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27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FFFFF"/>
                </a:solidFill>
                <a:latin typeface="Arial"/>
                <a:ea typeface="Arial"/>
                <a:cs typeface="Arial"/>
              </a:rPr>
              <a:t>Updated: 08/21/2026</a:t>
            </a:r>
          </a:p>
        </p:txBody>
      </p:sp>
      <p:pic>
        <p:nvPicPr>
          <p:cNvPr id="41" name="SAFETYHUB_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e299528b744cc"/>
          <a:stretch xmlns:a="http://schemas.openxmlformats.org/drawingml/2006/main"/>
        </p:blipFill>
        <p:spPr>
          <a:xfrm xmlns:a="http://schemas.openxmlformats.org/drawingml/2006/main">
            <a:off x="471678" y="158401"/>
            <a:ext cx="2371344" cy="68341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46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2026-09-01T18:07:34.2340000Z</dcterms:created>
  <dcterms:modified xsi:type="dcterms:W3CDTF">2026-09-01T18:07:34.2340000Z</dcterms:modified>
</coreProperties>
</file>