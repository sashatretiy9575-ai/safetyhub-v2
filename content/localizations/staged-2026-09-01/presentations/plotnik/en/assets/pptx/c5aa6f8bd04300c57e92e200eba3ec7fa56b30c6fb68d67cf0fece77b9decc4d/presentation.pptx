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1ca0f10da9491e" /><Relationship Type="http://schemas.openxmlformats.org/officeDocument/2006/relationships/extended-properties" Target="/docProps/app.xml" Id="R85f76b16550d49b4" /><Relationship Type="http://schemas.openxmlformats.org/officeDocument/2006/relationships/officeDocument" Target="/ppt/presentation.xml" Id="Rf912988cf25943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dbb8cebc5545eb"/>
    <p:sldMasterId xmlns:r="http://schemas.openxmlformats.org/officeDocument/2006/relationships" id="2147483650" r:id="R6bc9b3a252354a1a"/>
  </p:sldMasterIdLst>
  <p:notesMasterIdLst>
    <p:notesMasterId xmlns:r="http://schemas.openxmlformats.org/officeDocument/2006/relationships" r:id="Rcb6cf13128da4aaf"/>
  </p:notesMasterIdLst>
  <p:sldIdLst>
    <p:sldId xmlns:r="http://schemas.openxmlformats.org/officeDocument/2006/relationships" id="256" r:id="R260bb5a5df5349b3"/>
    <p:sldId xmlns:r="http://schemas.openxmlformats.org/officeDocument/2006/relationships" id="257" r:id="Re2244f1d12a1476e"/>
    <p:sldId xmlns:r="http://schemas.openxmlformats.org/officeDocument/2006/relationships" id="258" r:id="R03159d26b49a4a84"/>
    <p:sldId xmlns:r="http://schemas.openxmlformats.org/officeDocument/2006/relationships" id="259" r:id="R6ea9e53b8d494fd5"/>
    <p:sldId xmlns:r="http://schemas.openxmlformats.org/officeDocument/2006/relationships" id="260" r:id="Reda513fda44f42ed"/>
    <p:sldId xmlns:r="http://schemas.openxmlformats.org/officeDocument/2006/relationships" id="261" r:id="Rf130dee9ffc64c83"/>
    <p:sldId xmlns:r="http://schemas.openxmlformats.org/officeDocument/2006/relationships" id="262" r:id="R3fac7f16df2a4146"/>
    <p:sldId xmlns:r="http://schemas.openxmlformats.org/officeDocument/2006/relationships" id="263" r:id="Rcbc5aa6b4af54c0c"/>
    <p:sldId xmlns:r="http://schemas.openxmlformats.org/officeDocument/2006/relationships" id="264" r:id="Rb9dd3ac2b3944813"/>
    <p:sldId xmlns:r="http://schemas.openxmlformats.org/officeDocument/2006/relationships" id="265" r:id="R5eadf60f0e93403a"/>
    <p:sldId xmlns:r="http://schemas.openxmlformats.org/officeDocument/2006/relationships" id="266" r:id="R705941b8a749495e"/>
    <p:sldId xmlns:r="http://schemas.openxmlformats.org/officeDocument/2006/relationships" id="267" r:id="R52425d5f8d484b82"/>
    <p:sldId xmlns:r="http://schemas.openxmlformats.org/officeDocument/2006/relationships" id="268" r:id="R4ead1e8390904f80"/>
    <p:sldId xmlns:r="http://schemas.openxmlformats.org/officeDocument/2006/relationships" id="269" r:id="Ra58ddd96e01b47e7"/>
    <p:sldId xmlns:r="http://schemas.openxmlformats.org/officeDocument/2006/relationships" id="270" r:id="Re5f0393abfaf4b5b"/>
    <p:sldId xmlns:r="http://schemas.openxmlformats.org/officeDocument/2006/relationships" id="271" r:id="R921b43f0de454399"/>
    <p:sldId xmlns:r="http://schemas.openxmlformats.org/officeDocument/2006/relationships" id="272" r:id="Rac9ce5e6b7ab4478"/>
    <p:sldId xmlns:r="http://schemas.openxmlformats.org/officeDocument/2006/relationships" id="273" r:id="R845632af862a4265"/>
    <p:sldId xmlns:r="http://schemas.openxmlformats.org/officeDocument/2006/relationships" id="274" r:id="Re654fada29674a16"/>
    <p:sldId xmlns:r="http://schemas.openxmlformats.org/officeDocument/2006/relationships" id="275" r:id="Rfaab269ab52a4cc5"/>
    <p:sldId xmlns:r="http://schemas.openxmlformats.org/officeDocument/2006/relationships" id="276" r:id="R1dee72fd41ea4e5b"/>
    <p:sldId xmlns:r="http://schemas.openxmlformats.org/officeDocument/2006/relationships" id="277" r:id="R0d46567efb1a4bf8"/>
    <p:sldId xmlns:r="http://schemas.openxmlformats.org/officeDocument/2006/relationships" id="278" r:id="R6be67fa19fa6469f"/>
    <p:sldId xmlns:r="http://schemas.openxmlformats.org/officeDocument/2006/relationships" id="279" r:id="R0d068d4b72014658"/>
    <p:sldId xmlns:r="http://schemas.openxmlformats.org/officeDocument/2006/relationships" id="280" r:id="R26c3925859d2484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d9bc14f17f4104" /><Relationship Type="http://schemas.openxmlformats.org/officeDocument/2006/relationships/slideMaster" Target="/ppt/slideMasters/slideMaster1.xml" Id="Rf7dbb8cebc5545eb" /><Relationship Type="http://schemas.openxmlformats.org/officeDocument/2006/relationships/slideMaster" Target="/ppt/slideMasters/slideMaster2.xml" Id="R6bc9b3a252354a1a" /><Relationship Type="http://schemas.openxmlformats.org/officeDocument/2006/relationships/notesMaster" Target="/ppt/notesMasters/notesMaster1.xml" Id="Rcb6cf13128da4aaf" /><Relationship Type="http://schemas.openxmlformats.org/officeDocument/2006/relationships/presProps" Target="/ppt/presProps.xml" Id="R4cf712fbd8814c49" /><Relationship Type="http://schemas.openxmlformats.org/officeDocument/2006/relationships/viewProps" Target="/ppt/viewProps.xml" Id="Ra6af11bc136b4b7d" /><Relationship Type="http://schemas.openxmlformats.org/officeDocument/2006/relationships/tableStyles" Target="/ppt/tableStyles.xml" Id="Rfb1531df73454599" /><Relationship Type="http://schemas.openxmlformats.org/officeDocument/2006/relationships/slide" Target="/ppt/slides/slide1.xml" Id="R260bb5a5df5349b3" /><Relationship Type="http://schemas.openxmlformats.org/officeDocument/2006/relationships/slide" Target="/ppt/slides/slide2.xml" Id="Re2244f1d12a1476e" /><Relationship Type="http://schemas.openxmlformats.org/officeDocument/2006/relationships/slide" Target="/ppt/slides/slide3.xml" Id="R03159d26b49a4a84" /><Relationship Type="http://schemas.openxmlformats.org/officeDocument/2006/relationships/slide" Target="/ppt/slides/slide4.xml" Id="R6ea9e53b8d494fd5" /><Relationship Type="http://schemas.openxmlformats.org/officeDocument/2006/relationships/slide" Target="/ppt/slides/slide5.xml" Id="Reda513fda44f42ed" /><Relationship Type="http://schemas.openxmlformats.org/officeDocument/2006/relationships/slide" Target="/ppt/slides/slide6.xml" Id="Rf130dee9ffc64c83" /><Relationship Type="http://schemas.openxmlformats.org/officeDocument/2006/relationships/slide" Target="/ppt/slides/slide7.xml" Id="R3fac7f16df2a4146" /><Relationship Type="http://schemas.openxmlformats.org/officeDocument/2006/relationships/slide" Target="/ppt/slides/slide8.xml" Id="Rcbc5aa6b4af54c0c" /><Relationship Type="http://schemas.openxmlformats.org/officeDocument/2006/relationships/slide" Target="/ppt/slides/slide9.xml" Id="Rb9dd3ac2b3944813" /><Relationship Type="http://schemas.openxmlformats.org/officeDocument/2006/relationships/slide" Target="/ppt/slides/slide10.xml" Id="R5eadf60f0e93403a" /><Relationship Type="http://schemas.openxmlformats.org/officeDocument/2006/relationships/slide" Target="/ppt/slides/slide11.xml" Id="R705941b8a749495e" /><Relationship Type="http://schemas.openxmlformats.org/officeDocument/2006/relationships/slide" Target="/ppt/slides/slide12.xml" Id="R52425d5f8d484b82" /><Relationship Type="http://schemas.openxmlformats.org/officeDocument/2006/relationships/slide" Target="/ppt/slides/slide13.xml" Id="R4ead1e8390904f80" /><Relationship Type="http://schemas.openxmlformats.org/officeDocument/2006/relationships/slide" Target="/ppt/slides/slide14.xml" Id="Ra58ddd96e01b47e7" /><Relationship Type="http://schemas.openxmlformats.org/officeDocument/2006/relationships/slide" Target="/ppt/slides/slide15.xml" Id="Re5f0393abfaf4b5b" /><Relationship Type="http://schemas.openxmlformats.org/officeDocument/2006/relationships/slide" Target="/ppt/slides/slide16.xml" Id="R921b43f0de454399" /><Relationship Type="http://schemas.openxmlformats.org/officeDocument/2006/relationships/slide" Target="/ppt/slides/slide17.xml" Id="Rac9ce5e6b7ab4478" /><Relationship Type="http://schemas.openxmlformats.org/officeDocument/2006/relationships/slide" Target="/ppt/slides/slide18.xml" Id="R845632af862a4265" /><Relationship Type="http://schemas.openxmlformats.org/officeDocument/2006/relationships/slide" Target="/ppt/slides/slide19.xml" Id="Re654fada29674a16" /><Relationship Type="http://schemas.openxmlformats.org/officeDocument/2006/relationships/slide" Target="/ppt/slides/slide20.xml" Id="Rfaab269ab52a4cc5" /><Relationship Type="http://schemas.openxmlformats.org/officeDocument/2006/relationships/slide" Target="/ppt/slides/slide21.xml" Id="R1dee72fd41ea4e5b" /><Relationship Type="http://schemas.openxmlformats.org/officeDocument/2006/relationships/slide" Target="/ppt/slides/slide22.xml" Id="R0d46567efb1a4bf8" /><Relationship Type="http://schemas.openxmlformats.org/officeDocument/2006/relationships/slide" Target="/ppt/slides/slide23.xml" Id="R6be67fa19fa6469f" /><Relationship Type="http://schemas.openxmlformats.org/officeDocument/2006/relationships/slide" Target="/ppt/slides/slide24.xml" Id="R0d068d4b72014658" /><Relationship Type="http://schemas.openxmlformats.org/officeDocument/2006/relationships/slide" Target="/ppt/slides/slide25.xml" Id="R26c3925859d248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070ec0fb515f40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9d8b2bd8204a6e" /><Relationship Type="http://schemas.openxmlformats.org/officeDocument/2006/relationships/notesMaster" Target="/ppt/notesMasters/notesMaster1.xml" Id="R33083c39c0654c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9f56ae5b424663" /><Relationship Type="http://schemas.openxmlformats.org/officeDocument/2006/relationships/notesMaster" Target="/ppt/notesMasters/notesMaster1.xml" Id="Re49053b9c65c4e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3db156753443ee" /><Relationship Type="http://schemas.openxmlformats.org/officeDocument/2006/relationships/notesMaster" Target="/ppt/notesMasters/notesMaster1.xml" Id="R0a288ea1f0e041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29220a33f745f9" /><Relationship Type="http://schemas.openxmlformats.org/officeDocument/2006/relationships/notesMaster" Target="/ppt/notesMasters/notesMaster1.xml" Id="Rf323a62433274a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81ac47a3ea45e1" /><Relationship Type="http://schemas.openxmlformats.org/officeDocument/2006/relationships/notesMaster" Target="/ppt/notesMasters/notesMaster1.xml" Id="Rc6f54a235c8948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5b1b0c0f7f4f40" /><Relationship Type="http://schemas.openxmlformats.org/officeDocument/2006/relationships/notesMaster" Target="/ppt/notesMasters/notesMaster1.xml" Id="Rb328305de6e944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643e65ee084550" /><Relationship Type="http://schemas.openxmlformats.org/officeDocument/2006/relationships/notesMaster" Target="/ppt/notesMasters/notesMaster1.xml" Id="R4eceb6cd37b346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ee979734a048cc" /><Relationship Type="http://schemas.openxmlformats.org/officeDocument/2006/relationships/notesMaster" Target="/ppt/notesMasters/notesMaster1.xml" Id="R871864632cf04a7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9436e7593449dd" /><Relationship Type="http://schemas.openxmlformats.org/officeDocument/2006/relationships/notesMaster" Target="/ppt/notesMasters/notesMaster1.xml" Id="Rdd4e276335db44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b87b0e904944d8" /><Relationship Type="http://schemas.openxmlformats.org/officeDocument/2006/relationships/notesMaster" Target="/ppt/notesMasters/notesMaster1.xml" Id="R48f150dd9ac94fc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b192d911a48434e" /><Relationship Type="http://schemas.openxmlformats.org/officeDocument/2006/relationships/notesMaster" Target="/ppt/notesMasters/notesMaster1.xml" Id="R2cdb3664e29340a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ac5d8812bd8454a" /><Relationship Type="http://schemas.openxmlformats.org/officeDocument/2006/relationships/notesMaster" Target="/ppt/notesMasters/notesMaster1.xml" Id="R7254a8d4f47846c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7e964b5c869408f" /><Relationship Type="http://schemas.openxmlformats.org/officeDocument/2006/relationships/notesMaster" Target="/ppt/notesMasters/notesMaster1.xml" Id="R4cda87cb5673438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296dc9e2e944006" /><Relationship Type="http://schemas.openxmlformats.org/officeDocument/2006/relationships/notesMaster" Target="/ppt/notesMasters/notesMaster1.xml" Id="R7c5d084e699e488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275037885ae4a31" /><Relationship Type="http://schemas.openxmlformats.org/officeDocument/2006/relationships/notesMaster" Target="/ppt/notesMasters/notesMaster1.xml" Id="R095d4548849a4ef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d7f89cb962343cc" /><Relationship Type="http://schemas.openxmlformats.org/officeDocument/2006/relationships/notesMaster" Target="/ppt/notesMasters/notesMaster1.xml" Id="R4871db484d7446c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20c34853aa54d62" /><Relationship Type="http://schemas.openxmlformats.org/officeDocument/2006/relationships/notesMaster" Target="/ppt/notesMasters/notesMaster1.xml" Id="Rbfc1741173d8447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cddd31529874bcd" /><Relationship Type="http://schemas.openxmlformats.org/officeDocument/2006/relationships/notesMaster" Target="/ppt/notesMasters/notesMaster1.xml" Id="R7fe5deea61e944a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4a94d819a0d4053" /><Relationship Type="http://schemas.openxmlformats.org/officeDocument/2006/relationships/notesMaster" Target="/ppt/notesMasters/notesMaster1.xml" Id="R3ccb9a51a793461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ae256eda31d43dc" /><Relationship Type="http://schemas.openxmlformats.org/officeDocument/2006/relationships/notesMaster" Target="/ppt/notesMasters/notesMaster1.xml" Id="R84bc6591b98046b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54aa33a38604433" /><Relationship Type="http://schemas.openxmlformats.org/officeDocument/2006/relationships/notesMaster" Target="/ppt/notesMasters/notesMaster1.xml" Id="Ra1b2d1f5ed514b8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f30c6629ed1491b" /><Relationship Type="http://schemas.openxmlformats.org/officeDocument/2006/relationships/notesMaster" Target="/ppt/notesMasters/notesMaster1.xml" Id="R425d81fae01741f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5cb046a0f3b414b" /><Relationship Type="http://schemas.openxmlformats.org/officeDocument/2006/relationships/notesMaster" Target="/ppt/notesMasters/notesMaster1.xml" Id="R1f696983fd334c0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81b0bbfde0a4a8a" /><Relationship Type="http://schemas.openxmlformats.org/officeDocument/2006/relationships/notesMaster" Target="/ppt/notesMasters/notesMaster1.xml" Id="R8dccb00a25624eb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73330da47eb4de3" /><Relationship Type="http://schemas.openxmlformats.org/officeDocument/2006/relationships/notesMaster" Target="/ppt/notesMasters/notesMaster1.xml" Id="R9963465ffce347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EN text map: content/localizations/staged-2026-09-01/presentations/plotnik/en/text-map.json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EN text map: content/localizations/staged-2026-09-01/presentations/plotnik/en/text-map.json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EN text map: content/localizations/staged-2026-09-01/presentations/plotnik/en/text-map.json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EN text map: content/localizations/staged-2026-09-01/presentations/plotnik/en/text-map.json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EN text map: content/localizations/staged-2026-09-01/presentations/plotnik/en/text-map.json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EN text map: content/localizations/staged-2026-09-01/presentations/plotnik/en/text-map.json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EN text map: content/localizations/staged-2026-09-01/presentations/plotnik/en/text-map.json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EN text map: content/localizations/staged-2026-09-01/presentations/plotnik/en/text-map.json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EN text map: content/localizations/staged-2026-09-01/presentations/plotnik/en/text-map.json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EN text map: content/localizations/staged-2026-09-01/presentations/plotnik/en/text-map.json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EN text map: content/localizations/staged-2026-09-01/presentations/plotnik/en/text-map.json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EN text map: content/localizations/staged-2026-09-01/presentations/plotnik/en/text-map.json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EN text map: content/localizations/staged-2026-09-01/presentations/plotnik/en/text-map.json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EN text map: content/localizations/staged-2026-09-01/presentations/plotnik/en/text-map.json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EN text map: content/localizations/staged-2026-09-01/presentations/plotnik/en/text-map.json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EN text map: content/localizations/staged-2026-09-01/presentations/plotnik/en/text-map.json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EN text map: content/localizations/staged-2026-09-01/presentations/plotnik/en/text-map.json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EN text map: content/localizations/staged-2026-09-01/presentations/plotnik/en/text-map.json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EN text map: content/localizations/staged-2026-09-01/presentations/plotnik/en/text-map.json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EN text map: content/localizations/staged-2026-09-01/presentations/plotnik/en/text-map.json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EN text map: content/localizations/staged-2026-09-01/presentations/plotnik/en/text-map.json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EN text map: content/localizations/staged-2026-09-01/presentations/plotnik/en/text-map.json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EN text map: content/localizations/staged-2026-09-01/presentations/plotnik/en/text-map.json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EN text map: content/localizations/staged-2026-09-01/presentations/plotnik/en/text-map.json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content/source-materials/derived/plotnik/presentation.pptx</a:t>
            </a:r>
          </a:p>
          <a:p xmlns:a="http://schemas.openxmlformats.org/drawingml/2006/main">
            <a:r>
              <a:t>- Reviewed EN text map: content/localizations/staged-2026-09-01/presentations/plotnik/en/text-map.json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5f7662411d426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6a089ca08a341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Work Safety — базовы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2c47d650ef47b3" /><Relationship Type="http://schemas.openxmlformats.org/officeDocument/2006/relationships/slideLayout" Target="/ppt/slideLayouts/slideLayout1.xml" Id="R57ba73825de94c8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5dba5e57e543466b" /><Relationship Type="http://schemas.openxmlformats.org/officeDocument/2006/relationships/slideLayout" Target="/ppt/slideLayouts/slideLayout2.xml" Id="R087bb291ee6a46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ba73825de94c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Work Safety 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087bb291ee6a4614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029b553d314aa7" /><Relationship Type="http://schemas.openxmlformats.org/officeDocument/2006/relationships/image" Target="/ppt/media/image.jpeg" Id="Rac4bbc51299340cb" /><Relationship Type="http://schemas.openxmlformats.org/officeDocument/2006/relationships/image" Target="/ppt/media/image.png" Id="R170b69014fac4fe7" /><Relationship Type="http://schemas.openxmlformats.org/officeDocument/2006/relationships/notesSlide" Target="/ppt/notesSlides/notesSlide1.xml" Id="R4c97f0c4387c42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7c79df07b34473" /><Relationship Type="http://schemas.openxmlformats.org/officeDocument/2006/relationships/image" Target="/ppt/media/image2.png" Id="Rdbc5bc0786374486" /><Relationship Type="http://schemas.openxmlformats.org/officeDocument/2006/relationships/notesSlide" Target="/ppt/notesSlides/notesSlide2.xml" Id="R782b9eca4ef743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1651f954164436" /><Relationship Type="http://schemas.openxmlformats.org/officeDocument/2006/relationships/image" Target="/ppt/media/image3.png" Id="Rf00abd0eef074bc8" /><Relationship Type="http://schemas.openxmlformats.org/officeDocument/2006/relationships/notesSlide" Target="/ppt/notesSlides/notesSlide3.xml" Id="Re4a47be8251147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c77f57f6a9463a" /><Relationship Type="http://schemas.openxmlformats.org/officeDocument/2006/relationships/image" Target="/ppt/media/image2.jpeg" Id="R97d76ead7b30412d" /><Relationship Type="http://schemas.openxmlformats.org/officeDocument/2006/relationships/image" Target="/ppt/media/image4.png" Id="Ra3ff79a1e13c48bd" /><Relationship Type="http://schemas.openxmlformats.org/officeDocument/2006/relationships/notesSlide" Target="/ppt/notesSlides/notesSlide4.xml" Id="R365833d723864e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ba9880d97f4087" /><Relationship Type="http://schemas.openxmlformats.org/officeDocument/2006/relationships/image" Target="/ppt/media/image5.png" Id="R4a6aa20f2cdd46ce" /><Relationship Type="http://schemas.openxmlformats.org/officeDocument/2006/relationships/notesSlide" Target="/ppt/notesSlides/notesSlide5.xml" Id="R4892d42cfa3640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60a994f24b4426" /><Relationship Type="http://schemas.openxmlformats.org/officeDocument/2006/relationships/image" Target="/ppt/media/image6.png" Id="R589325fe230549ff" /><Relationship Type="http://schemas.openxmlformats.org/officeDocument/2006/relationships/notesSlide" Target="/ppt/notesSlides/notesSlide6.xml" Id="Rd60139a3866b46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4dc16967fc4834" /><Relationship Type="http://schemas.openxmlformats.org/officeDocument/2006/relationships/image" Target="/ppt/media/image3.jpeg" Id="R1a83380c91224858" /><Relationship Type="http://schemas.openxmlformats.org/officeDocument/2006/relationships/image" Target="/ppt/media/image7.png" Id="Rbe4db448a311459f" /><Relationship Type="http://schemas.openxmlformats.org/officeDocument/2006/relationships/notesSlide" Target="/ppt/notesSlides/notesSlide7.xml" Id="Ra00cf071fee24f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cac8e9103340bb" /><Relationship Type="http://schemas.openxmlformats.org/officeDocument/2006/relationships/image" Target="/ppt/media/image4.jpeg" Id="R29e742aa6e8f4b3d" /><Relationship Type="http://schemas.openxmlformats.org/officeDocument/2006/relationships/image" Target="/ppt/media/image8.png" Id="R3c8f0b2f464d44b0" /><Relationship Type="http://schemas.openxmlformats.org/officeDocument/2006/relationships/notesSlide" Target="/ppt/notesSlides/notesSlide8.xml" Id="R317749b503bf4d1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4118325bd749af" /><Relationship Type="http://schemas.openxmlformats.org/officeDocument/2006/relationships/image" Target="/ppt/media/image5.jpeg" Id="R6f8742944b7a4f2e" /><Relationship Type="http://schemas.openxmlformats.org/officeDocument/2006/relationships/image" Target="/ppt/media/image9.png" Id="R69fa71a008f8434d" /><Relationship Type="http://schemas.openxmlformats.org/officeDocument/2006/relationships/notesSlide" Target="/ppt/notesSlides/notesSlide9.xml" Id="R3642ed257871412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ed25d511e847b4" /><Relationship Type="http://schemas.openxmlformats.org/officeDocument/2006/relationships/image" Target="/ppt/media/image6.jpeg" Id="Rf246eb9e5b334fe1" /><Relationship Type="http://schemas.openxmlformats.org/officeDocument/2006/relationships/image" Target="/ppt/media/image10.png" Id="R251b9c35f4b544c7" /><Relationship Type="http://schemas.openxmlformats.org/officeDocument/2006/relationships/notesSlide" Target="/ppt/notesSlides/notesSlide10.xml" Id="R6683bd8bb9e341c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1af2ee177147c1" /><Relationship Type="http://schemas.openxmlformats.org/officeDocument/2006/relationships/image" Target="/ppt/media/image7.jpeg" Id="R6395b6d8499a494b" /><Relationship Type="http://schemas.openxmlformats.org/officeDocument/2006/relationships/image" Target="/ppt/media/image11.png" Id="R08a9ab9de7874d0e" /><Relationship Type="http://schemas.openxmlformats.org/officeDocument/2006/relationships/notesSlide" Target="/ppt/notesSlides/notesSlide11.xml" Id="Ra03671ec417a465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68c5c3685b4332" /><Relationship Type="http://schemas.openxmlformats.org/officeDocument/2006/relationships/image" Target="/ppt/media/image12.png" Id="R54c3227318a84e2d" /><Relationship Type="http://schemas.openxmlformats.org/officeDocument/2006/relationships/notesSlide" Target="/ppt/notesSlides/notesSlide12.xml" Id="R41a068657c8f40b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543621735e4dc7" /><Relationship Type="http://schemas.openxmlformats.org/officeDocument/2006/relationships/image" Target="/ppt/media/image8.jpeg" Id="Rece2b7eba30e4b6f" /><Relationship Type="http://schemas.openxmlformats.org/officeDocument/2006/relationships/image" Target="/ppt/media/image13.png" Id="Rbf17307122e54318" /><Relationship Type="http://schemas.openxmlformats.org/officeDocument/2006/relationships/notesSlide" Target="/ppt/notesSlides/notesSlide13.xml" Id="R43271d66ff5a4df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8f1d09a7fc47f3" /><Relationship Type="http://schemas.openxmlformats.org/officeDocument/2006/relationships/image" Target="/ppt/media/image14.png" Id="R6bd439898c844b73" /><Relationship Type="http://schemas.openxmlformats.org/officeDocument/2006/relationships/notesSlide" Target="/ppt/notesSlides/notesSlide14.xml" Id="R64dc01521f6242b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69fd6f96064b57" /><Relationship Type="http://schemas.openxmlformats.org/officeDocument/2006/relationships/image" Target="/ppt/media/image15.png" Id="Rabfcd41558a14e4d" /><Relationship Type="http://schemas.openxmlformats.org/officeDocument/2006/relationships/notesSlide" Target="/ppt/notesSlides/notesSlide15.xml" Id="R82c79f9f95e441c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27d105d7834465" /><Relationship Type="http://schemas.openxmlformats.org/officeDocument/2006/relationships/image" Target="/ppt/media/image9.jpeg" Id="R6a091fbd9eaa493f" /><Relationship Type="http://schemas.openxmlformats.org/officeDocument/2006/relationships/image" Target="/ppt/media/image16.png" Id="R3742e83101424228" /><Relationship Type="http://schemas.openxmlformats.org/officeDocument/2006/relationships/notesSlide" Target="/ppt/notesSlides/notesSlide16.xml" Id="R17b00ea8653149b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beb8dbc0f541ea" /><Relationship Type="http://schemas.openxmlformats.org/officeDocument/2006/relationships/image" Target="/ppt/media/image10.jpeg" Id="R9f22970c160c4cb4" /><Relationship Type="http://schemas.openxmlformats.org/officeDocument/2006/relationships/image" Target="/ppt/media/image17.png" Id="Rfbbe6d23145a4ac7" /><Relationship Type="http://schemas.openxmlformats.org/officeDocument/2006/relationships/notesSlide" Target="/ppt/notesSlides/notesSlide17.xml" Id="Rab5e1bf9c0e14e4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1ed61404e24590" /><Relationship Type="http://schemas.openxmlformats.org/officeDocument/2006/relationships/image" Target="/ppt/media/image11.jpeg" Id="R3f4963642ee94a4d" /><Relationship Type="http://schemas.openxmlformats.org/officeDocument/2006/relationships/image" Target="/ppt/media/image18.png" Id="Rbb166c08c04549fe" /><Relationship Type="http://schemas.openxmlformats.org/officeDocument/2006/relationships/notesSlide" Target="/ppt/notesSlides/notesSlide18.xml" Id="Rf371f2e8f76549a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36b6dc03c74e62" /><Relationship Type="http://schemas.openxmlformats.org/officeDocument/2006/relationships/image" Target="/ppt/media/image12.jpeg" Id="R2139922b99914124" /><Relationship Type="http://schemas.openxmlformats.org/officeDocument/2006/relationships/image" Target="/ppt/media/image19.png" Id="R63b020985b614c70" /><Relationship Type="http://schemas.openxmlformats.org/officeDocument/2006/relationships/notesSlide" Target="/ppt/notesSlides/notesSlide19.xml" Id="Rcda037ca9a664cb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603981f64d4b97" /><Relationship Type="http://schemas.openxmlformats.org/officeDocument/2006/relationships/image" Target="/ppt/media/image20.png" Id="Rc64dc4e8fcef49b1" /><Relationship Type="http://schemas.openxmlformats.org/officeDocument/2006/relationships/notesSlide" Target="/ppt/notesSlides/notesSlide20.xml" Id="R8f4c71a2083c420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e9f15285b4476d" /><Relationship Type="http://schemas.openxmlformats.org/officeDocument/2006/relationships/image" Target="/ppt/media/image21.png" Id="Rb49a82717f884a9b" /><Relationship Type="http://schemas.openxmlformats.org/officeDocument/2006/relationships/notesSlide" Target="/ppt/notesSlides/notesSlide21.xml" Id="R42af0c8893ff490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54a287b5ed472e" /><Relationship Type="http://schemas.openxmlformats.org/officeDocument/2006/relationships/image" Target="/ppt/media/image13.jpeg" Id="R9359de7d06664be0" /><Relationship Type="http://schemas.openxmlformats.org/officeDocument/2006/relationships/image" Target="/ppt/media/image22.png" Id="R1ecd40cb7d6b4fa6" /><Relationship Type="http://schemas.openxmlformats.org/officeDocument/2006/relationships/notesSlide" Target="/ppt/notesSlides/notesSlide22.xml" Id="Rd8e40040381046e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c31b3393e0463e" /><Relationship Type="http://schemas.openxmlformats.org/officeDocument/2006/relationships/image" Target="/ppt/media/image14.jpeg" Id="R40398dbc078f41cb" /><Relationship Type="http://schemas.openxmlformats.org/officeDocument/2006/relationships/image" Target="/ppt/media/image23.png" Id="R9ac7d5e07e27454b" /><Relationship Type="http://schemas.openxmlformats.org/officeDocument/2006/relationships/notesSlide" Target="/ppt/notesSlides/notesSlide23.xml" Id="R670ef9db285b4d8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fe01fa36194d7b" /><Relationship Type="http://schemas.openxmlformats.org/officeDocument/2006/relationships/image" Target="/ppt/media/image24.png" Id="Rca86a66511d3443a" /><Relationship Type="http://schemas.openxmlformats.org/officeDocument/2006/relationships/notesSlide" Target="/ppt/notesSlides/notesSlide24.xml" Id="Ra6037e37f2c946b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cd6688ef0548d1" /><Relationship Type="http://schemas.openxmlformats.org/officeDocument/2006/relationships/image" Target="/ppt/media/image25.png" Id="R5afc637526e341ea" /><Relationship Type="http://schemas.openxmlformats.org/officeDocument/2006/relationships/notesSlide" Target="/ppt/notesSlides/notesSlide25.xml" Id="Raedcf8ecc63241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7CBFE11A-598D-4C97-8988-CEC24680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VISUAL_01_s0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4bbc51299340c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524750" y="1104900"/>
            <a:ext cx="4095750" cy="476250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75EF4EA2-07CA-4429-B9A8-F5E2DF6C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104900"/>
            <a:ext cx="762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URSE_KICKER">
            <a:extLst xmlns:a="http://schemas.openxmlformats.org/drawingml/2006/main">
              <a:ext uri="{FF2B5EF4-FFF2-40B4-BE49-F238E27FC236}">
                <a16:creationId xmlns:a16="http://schemas.microsoft.com/office/drawing/2014/main" id="{5E42DA09-7E7F-4201-A568-A5E69194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TRAINING COURSE</a:t>
            </a:r>
          </a:p>
        </p:txBody>
      </p:sp>
      <p:sp>
        <p:nvSpPr>
          <p:cNvPr id="5" name="DECK_TITLE">
            <a:extLst xmlns:a="http://schemas.openxmlformats.org/drawingml/2006/main">
              <a:ext uri="{FF2B5EF4-FFF2-40B4-BE49-F238E27FC236}">
                <a16:creationId xmlns:a16="http://schemas.microsoft.com/office/drawing/2014/main" id="{2E4725EF-FB5A-48EE-9F4D-04671A4B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5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Carpenter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E24C765F-3399-4FD6-B33B-8950F21B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ECK_SUBTITLE">
            <a:extLst xmlns:a="http://schemas.openxmlformats.org/drawingml/2006/main">
              <a:ext uri="{FF2B5EF4-FFF2-40B4-BE49-F238E27FC236}">
                <a16:creationId xmlns:a16="http://schemas.microsoft.com/office/drawing/2014/main" id="{3BB15CB6-F1E3-42A8-83C6-43AA6975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5D625F"/>
                </a:solidFill>
                <a:latin typeface="Arial"/>
                <a:ea typeface="Arial"/>
                <a:cs typeface="Arial"/>
              </a:rPr>
              <a:t>Safe organization and execution of carpentry work</a:t>
            </a:r>
          </a:p>
        </p:txBody>
      </p:sp>
      <p:sp>
        <p:nvSpPr>
          <p:cNvPr id="8" name="DECK_AUDIENCE">
            <a:extLst xmlns:a="http://schemas.openxmlformats.org/drawingml/2006/main">
              <a:ext uri="{FF2B5EF4-FFF2-40B4-BE49-F238E27FC236}">
                <a16:creationId xmlns:a16="http://schemas.microsoft.com/office/drawing/2014/main" id="{ECE97A22-BE04-4756-9CAD-05384233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D625F"/>
                </a:solidFill>
                <a:latin typeface="Arial"/>
                <a:ea typeface="Arial"/>
                <a:cs typeface="Arial"/>
              </a:rPr>
              <a:t>Training course for workers and line personnel</a:t>
            </a:r>
          </a:p>
        </p:txBody>
      </p:sp>
      <p:sp>
        <p:nvSpPr>
          <p:cNvPr id="11" name="Прямая соединительная линия 10">
            <a:extLst xmlns:a="http://schemas.openxmlformats.org/drawingml/2006/main">
              <a:ext uri="{FF2B5EF4-FFF2-40B4-BE49-F238E27FC236}">
                <a16:creationId xmlns:a16="http://schemas.microsoft.com/office/drawing/2014/main" id="{26B001E9-087F-42B2-A495-250D61B5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264CC3CA-6A29-4C9B-82B9-0A2DD7E6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Carpenter</a:t>
            </a:r>
          </a:p>
        </p:txBody>
      </p:sp>
      <p:sp>
        <p:nvSpPr>
          <p:cNvPr id="1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B44347B7-5120-4089-A651-DAF33B7B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28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0b69014fac4fe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257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046F7711-9A11-4DC3-B9A2-C9D08BCA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67E63FA-0F46-4330-845D-AA047FC9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After the course worker will be able to</a:t>
            </a:r>
          </a:p>
        </p:txBody>
      </p:sp>
      <p:sp>
        <p:nvSpPr>
          <p:cNvPr id="3" name="LIST_NUMBER_1">
            <a:extLst xmlns:a="http://schemas.openxmlformats.org/drawingml/2006/main">
              <a:ext uri="{FF2B5EF4-FFF2-40B4-BE49-F238E27FC236}">
                <a16:creationId xmlns:a16="http://schemas.microsoft.com/office/drawing/2014/main" id="{39168A94-DC42-4B86-8557-A36047EF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Прямая соединительная линия 3">
            <a:extLst xmlns:a="http://schemas.openxmlformats.org/drawingml/2006/main">
              <a:ext uri="{FF2B5EF4-FFF2-40B4-BE49-F238E27FC236}">
                <a16:creationId xmlns:a16="http://schemas.microsoft.com/office/drawing/2014/main" id="{0407B8AA-1CFB-4866-BDF1-A4603167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002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5" name="LIST_ITEM_1">
            <a:extLst xmlns:a="http://schemas.openxmlformats.org/drawingml/2006/main">
              <a:ext uri="{FF2B5EF4-FFF2-40B4-BE49-F238E27FC236}">
                <a16:creationId xmlns:a16="http://schemas.microsoft.com/office/drawing/2014/main" id="{C97D06C4-7949-4AD0-ADF9-8F394487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716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Prepare the workplace, workpiece and tools before starting the operation.</a:t>
            </a:r>
          </a:p>
        </p:txBody>
      </p:sp>
      <p:sp>
        <p:nvSpPr>
          <p:cNvPr id="6" name="LIST_NUMBER_2">
            <a:extLst xmlns:a="http://schemas.openxmlformats.org/drawingml/2006/main">
              <a:ext uri="{FF2B5EF4-FFF2-40B4-BE49-F238E27FC236}">
                <a16:creationId xmlns:a16="http://schemas.microsoft.com/office/drawing/2014/main" id="{F82B6A1F-7394-4977-93A1-900A65C9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Прямая соединительная линия 6">
            <a:extLst xmlns:a="http://schemas.openxmlformats.org/drawingml/2006/main">
              <a:ext uri="{FF2B5EF4-FFF2-40B4-BE49-F238E27FC236}">
                <a16:creationId xmlns:a16="http://schemas.microsoft.com/office/drawing/2014/main" id="{45B7729F-E090-4615-A890-2D8134B7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146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8" name="LIST_ITEM_2">
            <a:extLst xmlns:a="http://schemas.openxmlformats.org/drawingml/2006/main">
              <a:ext uri="{FF2B5EF4-FFF2-40B4-BE49-F238E27FC236}">
                <a16:creationId xmlns:a16="http://schemas.microsoft.com/office/drawing/2014/main" id="{1ED2848A-5257-47AB-A540-3CF69A29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860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Choose a safe method of manual and mechanized wood processing.</a:t>
            </a:r>
          </a:p>
        </p:txBody>
      </p:sp>
      <p:sp>
        <p:nvSpPr>
          <p:cNvPr id="9" name="LIST_NUMBER_3">
            <a:extLst xmlns:a="http://schemas.openxmlformats.org/drawingml/2006/main">
              <a:ext uri="{FF2B5EF4-FFF2-40B4-BE49-F238E27FC236}">
                <a16:creationId xmlns:a16="http://schemas.microsoft.com/office/drawing/2014/main" id="{18D99DEA-335F-48B1-A16E-DEAB0155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Прямая соединительная линия 9">
            <a:extLst xmlns:a="http://schemas.openxmlformats.org/drawingml/2006/main">
              <a:ext uri="{FF2B5EF4-FFF2-40B4-BE49-F238E27FC236}">
                <a16:creationId xmlns:a16="http://schemas.microsoft.com/office/drawing/2014/main" id="{5F0EF419-01EE-4323-B77E-9DEE1AAB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1" name="LIST_ITEM_3">
            <a:extLst xmlns:a="http://schemas.openxmlformats.org/drawingml/2006/main">
              <a:ext uri="{FF2B5EF4-FFF2-40B4-BE49-F238E27FC236}">
                <a16:creationId xmlns:a16="http://schemas.microsoft.com/office/drawing/2014/main" id="{18E652A2-B9A9-4357-950D-BF91190C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004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Recognize malfunction, hazardous action and immediate stop condition.</a:t>
            </a:r>
          </a:p>
        </p:txBody>
      </p:sp>
      <p:sp>
        <p:nvSpPr>
          <p:cNvPr id="12" name="LIST_NUMBER_4">
            <a:extLst xmlns:a="http://schemas.openxmlformats.org/drawingml/2006/main">
              <a:ext uri="{FF2B5EF4-FFF2-40B4-BE49-F238E27FC236}">
                <a16:creationId xmlns:a16="http://schemas.microsoft.com/office/drawing/2014/main" id="{17DBE42E-2DD3-45BF-9949-DDF627BF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Прямая соединительная линия 12">
            <a:extLst xmlns:a="http://schemas.openxmlformats.org/drawingml/2006/main">
              <a:ext uri="{FF2B5EF4-FFF2-40B4-BE49-F238E27FC236}">
                <a16:creationId xmlns:a16="http://schemas.microsoft.com/office/drawing/2014/main" id="{35C915DE-78B3-4C6B-B6FA-FEC081E7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43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4" name="LIST_ITEM_4">
            <a:extLst xmlns:a="http://schemas.openxmlformats.org/drawingml/2006/main">
              <a:ext uri="{FF2B5EF4-FFF2-40B4-BE49-F238E27FC236}">
                <a16:creationId xmlns:a16="http://schemas.microsoft.com/office/drawing/2014/main" id="{81B2DACE-D519-4661-B654-F00D7D76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148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Apply protective measures against dust, noise, chips, electrical and fire risks.</a:t>
            </a:r>
          </a:p>
        </p:txBody>
      </p:sp>
      <p:sp>
        <p:nvSpPr>
          <p:cNvPr id="15" name="Прямоугольник: скругленные углы 14">
            <a:extLst xmlns:a="http://schemas.openxmlformats.org/drawingml/2006/main">
              <a:ext uri="{FF2B5EF4-FFF2-40B4-BE49-F238E27FC236}">
                <a16:creationId xmlns:a16="http://schemas.microsoft.com/office/drawing/2014/main" id="{902C88FD-DEA4-40EF-B13D-A3F64EA1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342900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C9979CBA-FD9C-4A1F-8E1C-1A756602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AB08009F-DFC4-438F-85CF-88E6F640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14550"/>
            <a:ext cx="29718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Safe operation begins before the tool is turned on.</a:t>
            </a:r>
          </a:p>
        </p:txBody>
      </p:sp>
      <p:sp>
        <p:nvSpPr>
          <p:cNvPr id="20" name="Прямая соединительная линия 19">
            <a:extLst xmlns:a="http://schemas.openxmlformats.org/drawingml/2006/main">
              <a:ext uri="{FF2B5EF4-FFF2-40B4-BE49-F238E27FC236}">
                <a16:creationId xmlns:a16="http://schemas.microsoft.com/office/drawing/2014/main" id="{731914E6-ED92-4DA7-A166-2A8B95EE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E44852F-A604-405D-BDF9-7D0DE775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Carpenter</a:t>
            </a:r>
          </a:p>
        </p:txBody>
      </p:sp>
      <p:sp>
        <p:nvSpPr>
          <p:cNvPr id="2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03019B5-DE09-4EA5-8B3F-E6F5D80A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4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c5bc0786374486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6474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8F86629C-7322-4DB6-AEE1-2CE7FBDE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59F717D3-1F75-4DCE-824C-D6ED2B8A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Course logic</a:t>
            </a:r>
          </a:p>
        </p:txBody>
      </p:sp>
      <p:sp>
        <p:nvSpPr>
          <p:cNvPr id="3" name="LIST_NUMBER_1">
            <a:extLst xmlns:a="http://schemas.openxmlformats.org/drawingml/2006/main">
              <a:ext uri="{FF2B5EF4-FFF2-40B4-BE49-F238E27FC236}">
                <a16:creationId xmlns:a16="http://schemas.microsoft.com/office/drawing/2014/main" id="{92323DC2-5280-446D-B7A8-304BB564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Прямая соединительная линия 3">
            <a:extLst xmlns:a="http://schemas.openxmlformats.org/drawingml/2006/main">
              <a:ext uri="{FF2B5EF4-FFF2-40B4-BE49-F238E27FC236}">
                <a16:creationId xmlns:a16="http://schemas.microsoft.com/office/drawing/2014/main" id="{0ADBE542-91BD-43AC-8295-C829D78F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002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5" name="LIST_ITEM_1">
            <a:extLst xmlns:a="http://schemas.openxmlformats.org/drawingml/2006/main">
              <a:ext uri="{FF2B5EF4-FFF2-40B4-BE49-F238E27FC236}">
                <a16:creationId xmlns:a16="http://schemas.microsoft.com/office/drawing/2014/main" id="{FC0937D3-B268-4FEF-B303-320C40F9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716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Profession and boundaries of responsibility.</a:t>
            </a:r>
          </a:p>
        </p:txBody>
      </p:sp>
      <p:sp>
        <p:nvSpPr>
          <p:cNvPr id="6" name="LIST_NUMBER_2">
            <a:extLst xmlns:a="http://schemas.openxmlformats.org/drawingml/2006/main">
              <a:ext uri="{FF2B5EF4-FFF2-40B4-BE49-F238E27FC236}">
                <a16:creationId xmlns:a16="http://schemas.microsoft.com/office/drawing/2014/main" id="{0A37A062-19A3-4C3B-934E-4E82B1F0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Прямая соединительная линия 6">
            <a:extLst xmlns:a="http://schemas.openxmlformats.org/drawingml/2006/main">
              <a:ext uri="{FF2B5EF4-FFF2-40B4-BE49-F238E27FC236}">
                <a16:creationId xmlns:a16="http://schemas.microsoft.com/office/drawing/2014/main" id="{45BB34E2-4926-40BA-B1D0-AC2BDB33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81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8" name="LIST_ITEM_2">
            <a:extLst xmlns:a="http://schemas.openxmlformats.org/drawingml/2006/main">
              <a:ext uri="{FF2B5EF4-FFF2-40B4-BE49-F238E27FC236}">
                <a16:creationId xmlns:a16="http://schemas.microsoft.com/office/drawing/2014/main" id="{3E69FC48-3C32-4301-BFBB-2E5F320D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527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Preparation of the workplace and workpiece.</a:t>
            </a:r>
          </a:p>
        </p:txBody>
      </p:sp>
      <p:sp>
        <p:nvSpPr>
          <p:cNvPr id="9" name="LIST_NUMBER_3">
            <a:extLst xmlns:a="http://schemas.openxmlformats.org/drawingml/2006/main">
              <a:ext uri="{FF2B5EF4-FFF2-40B4-BE49-F238E27FC236}">
                <a16:creationId xmlns:a16="http://schemas.microsoft.com/office/drawing/2014/main" id="{A4AE46E6-A913-4DAC-84FD-640D4840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Прямая соединительная линия 9">
            <a:extLst xmlns:a="http://schemas.openxmlformats.org/drawingml/2006/main">
              <a:ext uri="{FF2B5EF4-FFF2-40B4-BE49-F238E27FC236}">
                <a16:creationId xmlns:a16="http://schemas.microsoft.com/office/drawing/2014/main" id="{E2243870-5DB4-4709-BE53-36DBC14E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23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1" name="LIST_ITEM_3">
            <a:extLst xmlns:a="http://schemas.openxmlformats.org/drawingml/2006/main">
              <a:ext uri="{FF2B5EF4-FFF2-40B4-BE49-F238E27FC236}">
                <a16:creationId xmlns:a16="http://schemas.microsoft.com/office/drawing/2014/main" id="{4C014274-56F0-4B7F-B1E2-4D4DBB91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337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Safe techniques for basic operations.</a:t>
            </a:r>
          </a:p>
        </p:txBody>
      </p:sp>
      <p:sp>
        <p:nvSpPr>
          <p:cNvPr id="12" name="LIST_NUMBER_4">
            <a:extLst xmlns:a="http://schemas.openxmlformats.org/drawingml/2006/main">
              <a:ext uri="{FF2B5EF4-FFF2-40B4-BE49-F238E27FC236}">
                <a16:creationId xmlns:a16="http://schemas.microsoft.com/office/drawing/2014/main" id="{23521118-21CA-4D7E-977A-7296814B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Прямая соединительная линия 12">
            <a:extLst xmlns:a="http://schemas.openxmlformats.org/drawingml/2006/main">
              <a:ext uri="{FF2B5EF4-FFF2-40B4-BE49-F238E27FC236}">
                <a16:creationId xmlns:a16="http://schemas.microsoft.com/office/drawing/2014/main" id="{5EEDAEB3-DF73-4583-A7EA-9EB18E09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434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4" name="LIST_ITEM_4">
            <a:extLst xmlns:a="http://schemas.openxmlformats.org/drawingml/2006/main">
              <a:ext uri="{FF2B5EF4-FFF2-40B4-BE49-F238E27FC236}">
                <a16:creationId xmlns:a16="http://schemas.microsoft.com/office/drawing/2014/main" id="{0B38AA55-BDCB-414C-ADC0-9ABFDA39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148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Tool, PPE and risk control.</a:t>
            </a:r>
          </a:p>
        </p:txBody>
      </p:sp>
      <p:sp>
        <p:nvSpPr>
          <p:cNvPr id="15" name="LIST_NUMBER_5">
            <a:extLst xmlns:a="http://schemas.openxmlformats.org/drawingml/2006/main">
              <a:ext uri="{FF2B5EF4-FFF2-40B4-BE49-F238E27FC236}">
                <a16:creationId xmlns:a16="http://schemas.microsoft.com/office/drawing/2014/main" id="{A56E8ED8-EBBA-435C-BC6A-BEC4959D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6" name="Прямая соединительная линия 15">
            <a:extLst xmlns:a="http://schemas.openxmlformats.org/drawingml/2006/main">
              <a:ext uri="{FF2B5EF4-FFF2-40B4-BE49-F238E27FC236}">
                <a16:creationId xmlns:a16="http://schemas.microsoft.com/office/drawing/2014/main" id="{E7287DFB-8762-4F5E-BEEB-7A57B8BD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24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7" name="LIST_ITEM_5">
            <a:extLst xmlns:a="http://schemas.openxmlformats.org/drawingml/2006/main">
              <a:ext uri="{FF2B5EF4-FFF2-40B4-BE49-F238E27FC236}">
                <a16:creationId xmlns:a16="http://schemas.microsoft.com/office/drawing/2014/main" id="{660453F8-D82B-4AF8-8BE8-40D098EB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958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Actions in case of malfunction and incident.</a:t>
            </a:r>
          </a:p>
        </p:txBody>
      </p:sp>
      <p:sp>
        <p:nvSpPr>
          <p:cNvPr id="18" name="Прямоугольник: скругленные углы 17">
            <a:extLst xmlns:a="http://schemas.openxmlformats.org/drawingml/2006/main">
              <a:ext uri="{FF2B5EF4-FFF2-40B4-BE49-F238E27FC236}">
                <a16:creationId xmlns:a16="http://schemas.microsoft.com/office/drawing/2014/main" id="{5A136A3C-19CD-461D-92D2-BEC9F68B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2381250" cy="2952750"/>
          </a:xfrm>
          <a:prstGeom xmlns:a="http://schemas.openxmlformats.org/drawingml/2006/main" prst="roundRect">
            <a:avLst>
              <a:gd name="adj" fmla="val 8800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44383CCC-E647-4749-8904-5DE39220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3812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COURSE</a:t>
            </a:r>
          </a:p>
        </p:txBody>
      </p:sp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C4D17E06-C9DB-4296-B898-DC2EE14E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0957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D625F"/>
                </a:solidFill>
                <a:latin typeface="Arial"/>
                <a:ea typeface="Arial"/>
                <a:cs typeface="Arial"/>
              </a:rPr>
              <a:t>semantic blocks</a:t>
            </a:r>
          </a:p>
        </p:txBody>
      </p:sp>
      <p:sp>
        <p:nvSpPr>
          <p:cNvPr id="24" name="Прямая соединительная линия 23">
            <a:extLst xmlns:a="http://schemas.openxmlformats.org/drawingml/2006/main">
              <a:ext uri="{FF2B5EF4-FFF2-40B4-BE49-F238E27FC236}">
                <a16:creationId xmlns:a16="http://schemas.microsoft.com/office/drawing/2014/main" id="{040F6597-A2EC-42E6-8844-8847D40B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5" name="DECK_FOOTER">
            <a:extLst xmlns:a="http://schemas.openxmlformats.org/drawingml/2006/main">
              <a:ext uri="{FF2B5EF4-FFF2-40B4-BE49-F238E27FC236}">
                <a16:creationId xmlns:a16="http://schemas.microsoft.com/office/drawing/2014/main" id="{4442E7C4-CF2D-45D2-8668-AEA56D5C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Carpenter</a:t>
            </a:r>
          </a:p>
        </p:txBody>
      </p:sp>
      <p:sp>
        <p:nvSpPr>
          <p:cNvPr id="26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2656132-3259-4B1B-8E27-73EF3C05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5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0abd0eef074bc8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29" name="AGENDA_COUNT_CIRCLE">
            <a:extLst xmlns:a="http://schemas.openxmlformats.org/drawingml/2006/main">
              <a:ext uri="{FF2B5EF4-FFF2-40B4-BE49-F238E27FC236}">
                <a16:creationId xmlns:a16="http://schemas.microsoft.com/office/drawing/2014/main" id="{61126CF0-C4A8-47BA-94AA-F382BF2A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8575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925882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D18006EF-AA1B-4983-8FAC-E0D226EE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1_s0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d76ead7b30412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9FBE42DC-9000-4B35-9852-3082E270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34F0C1F5-6624-436E-84F6-4E85C97F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60ED6C65-A92C-485F-A010-5241E86C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Profession and training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1839EC1B-5E88-48C9-BDE3-C0681638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First define the task, conditions and safe way to perform it.</a:t>
            </a:r>
          </a:p>
        </p:txBody>
      </p:sp>
      <p:sp>
        <p:nvSpPr>
          <p:cNvPr id="9" name="Прямая соединительная линия 8">
            <a:extLst xmlns:a="http://schemas.openxmlformats.org/drawingml/2006/main">
              <a:ext uri="{FF2B5EF4-FFF2-40B4-BE49-F238E27FC236}">
                <a16:creationId xmlns:a16="http://schemas.microsoft.com/office/drawing/2014/main" id="{8D7F881C-BDF0-4516-9C85-6F24A91A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CCAB3A28-0F46-4612-828C-BD7F1443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Carpenter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E5D1439-D133-4F73-9F1D-72CBC68D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ff79a1e13c48b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6177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3EA67158-F0DD-4229-A0F2-7B3DC3A7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32251EC-C5DC-4F35-9033-A8E44721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Carpenter Responsible for Precision and Safety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82DCE8F2-BB0A-4D41-ACDD-469C1330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Works with wood, sheet materials, structures and fasteners within the scope of the job.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Reads the drawing or diagram, selects the sequence and checks the source material.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Does not perform operations for which there is no approval, proper equipment or understandable technology.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Coordinates changes in design and dimensions with the manager, and does not correct the project without permission.</a:t>
            </a:r>
          </a:p>
        </p:txBody>
      </p:sp>
      <p:sp>
        <p:nvSpPr>
          <p:cNvPr id="4" name="Прямоугольник: скругленные углы 3">
            <a:extLst xmlns:a="http://schemas.openxmlformats.org/drawingml/2006/main">
              <a:ext uri="{FF2B5EF4-FFF2-40B4-BE49-F238E27FC236}">
                <a16:creationId xmlns:a16="http://schemas.microsoft.com/office/drawing/2014/main" id="{271C5BA8-EE03-4AB6-8680-B55DB4B3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C34306B3-8E97-4B6D-8D10-1877A92B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0EE3D5A1-ADBA-4995-8DF7-CBCB2981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 boundaries of a profession are determined by the task, qualifications and clearance.</a:t>
            </a:r>
          </a:p>
        </p:txBody>
      </p:sp>
      <p:sp>
        <p:nvSpPr>
          <p:cNvPr id="9" name="Прямая соединительная линия 8">
            <a:extLst xmlns:a="http://schemas.openxmlformats.org/drawingml/2006/main">
              <a:ext uri="{FF2B5EF4-FFF2-40B4-BE49-F238E27FC236}">
                <a16:creationId xmlns:a16="http://schemas.microsoft.com/office/drawing/2014/main" id="{ED4B47E5-9C7D-489F-93A9-220A027A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FC493BEA-0479-4A51-B465-37F55230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Carpenter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724089E4-13B8-489F-AA6D-2B508825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6aa20f2cdd46ce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6855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6405498F-2E1A-4E10-B951-96062538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EAFD6753-2867-4730-B50E-68B4064B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Ranks Reflect Increasing Work Complexity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1E1CB8AF-4A34-4F5D-A3B8-7B046D71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2nd–3rd categories: preparatory, simple assembly and auxiliary operations.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4th–5th categories: manufacturing and installation of more complex structures, precise fitting.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6–7th categories: particularly complex work, restoration, templates and quality control.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A specific operation is assigned taking into account qualifications, training and local clearance.</a:t>
            </a:r>
          </a:p>
        </p:txBody>
      </p:sp>
      <p:sp>
        <p:nvSpPr>
          <p:cNvPr id="4" name="Прямоугольник: скругленные углы 3">
            <a:extLst xmlns:a="http://schemas.openxmlformats.org/drawingml/2006/main">
              <a:ext uri="{FF2B5EF4-FFF2-40B4-BE49-F238E27FC236}">
                <a16:creationId xmlns:a16="http://schemas.microsoft.com/office/drawing/2014/main" id="{3CA1BB71-BE5A-4D60-89C9-76EC50E4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11B397E4-D584-4D3E-81CF-9614C1F9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BD4DF698-6F8F-4CD3-A183-819AC7E6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A high level does not override the instructions and risk assessment.</a:t>
            </a:r>
          </a:p>
        </p:txBody>
      </p:sp>
      <p:sp>
        <p:nvSpPr>
          <p:cNvPr id="9" name="Прямая соединительная линия 8">
            <a:extLst xmlns:a="http://schemas.openxmlformats.org/drawingml/2006/main">
              <a:ext uri="{FF2B5EF4-FFF2-40B4-BE49-F238E27FC236}">
                <a16:creationId xmlns:a16="http://schemas.microsoft.com/office/drawing/2014/main" id="{50E619F9-21F2-4089-973C-B980F6A1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3AB95390-F6DD-473B-BF23-C8AD9BB4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Carpenter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DF456E49-0595-46CA-90E2-2FA153CD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9325fe230549f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7183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792390FA-A9F1-469D-8E39-CE13306C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5E57AEBE-4CB0-4B97-8E6F-1D92CA45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Workplace preparation reduces risk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A45AF275-23C9-4F03-AD90-2399ED43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Remove waste and objects that interfere with stable standing and free movement.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Provide adequate lighting, ventilation and access to emergency shutdown.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Position the material and tool so that it does not drag across the cutting area.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Check that walkways and escape routes are clear.</a:t>
            </a:r>
          </a:p>
        </p:txBody>
      </p:sp>
      <p:pic>
        <p:nvPicPr>
          <p:cNvPr id="17" name="VISUAL_01_s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83380c9122485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79F6B0C7-9458-4446-A0BF-A9708DA4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A clean place is part of technology, not cleaning after work.</a:t>
            </a:r>
          </a:p>
        </p:txBody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A7F81FEE-5C77-419B-A249-B48E83C2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A66CBD2A-0FE2-458B-B322-190A636F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Carpenter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A41801D-16A2-4170-880E-E666826D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4db448a311459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7608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8B71033B-3EF6-4A3E-8C58-5661FD07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A0576B46-3C9A-4AF7-B0DA-0621EAED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workpiece must be inspected and secured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D6ED4432-8629-46CB-AF31-D0F698D3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Remove or mark nails, staples, stones, metal and debris.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Check for cracks, knots, warping and grain direction.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Secure the workpiece with stops, vices or clamps without damaging the part.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cutting line and tool exit must not pass through a hand, support or cable.</a:t>
            </a:r>
          </a:p>
        </p:txBody>
      </p:sp>
      <p:pic>
        <p:nvPicPr>
          <p:cNvPr id="17" name="VISUAL_01_s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e742aa6e8f4b3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E0B04E89-644E-4112-9516-8687833F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 hand holds the control, not the unstable workpiece.</a:t>
            </a:r>
          </a:p>
        </p:txBody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843EACCA-2787-48A7-99A1-658F84C8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4C582445-9B00-476E-AEA6-2B1E803A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Carpenter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3079ACB-C63C-4511-ACD8-15425BCC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8f0b2f464d44b0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085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32CDDDCE-17B3-4D5C-9B71-E657C39E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1_s0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8742944b7a4f2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36CF325E-69EF-45A8-88F7-276F9CCF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075C6B1F-2314-48D9-8DA6-93BE4C42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9E0CFF7C-2875-493F-91BC-37A2FD58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Safe technology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49B4F638-961B-4CE7-BB49-982EB535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Every operation starts with a stable position and a controlled tool path.</a:t>
            </a:r>
          </a:p>
        </p:txBody>
      </p:sp>
      <p:sp>
        <p:nvSpPr>
          <p:cNvPr id="9" name="Прямая соединительная линия 8">
            <a:extLst xmlns:a="http://schemas.openxmlformats.org/drawingml/2006/main">
              <a:ext uri="{FF2B5EF4-FFF2-40B4-BE49-F238E27FC236}">
                <a16:creationId xmlns:a16="http://schemas.microsoft.com/office/drawing/2014/main" id="{C98FA197-75A5-453B-9D4A-EDA41097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E3B3BB88-5E93-4162-BB90-F9E0FA3F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Carpenter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A4132BA9-6694-4D49-80E5-921A071D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fa71a008f8434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075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EBA480C2-AA32-4D5D-8140-D7CAC127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10AF65A1-43E0-4686-8DB4-69E59C46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Manual sawing along a free line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DB831EA7-632C-46D2-A37E-61F8447F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Select the saw for the material and type of cut; the blade must be serviceable and properly tensioned.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Begin with short guiding strokes, keeping your fingers outside the blade line.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Support the offcut so that it does not pinch the blade or break away unexpectedly.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Do not direct the saw toward yourself or clean the teeth by hand while it is moving.</a:t>
            </a:r>
          </a:p>
        </p:txBody>
      </p:sp>
      <p:pic>
        <p:nvPicPr>
          <p:cNvPr id="17" name="VISUAL_01_s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46eb9e5b334fe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D02D0588-8FCD-4B87-8AE1-EB06F404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 cutting line must be clear in front of and behind the blade.</a:t>
            </a:r>
          </a:p>
        </p:txBody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5C08A0B4-7218-48FD-A3C7-27A76A4E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5ECD4C93-CB3E-456A-8417-A94F3B97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Carpenter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FC6D2414-F071-49D5-B3D4-8A5106AB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1b9c35f4b544c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8018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AE431C7B-FDE3-4CB1-B9DE-BBAB594E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5ED21605-646A-44D9-9753-D41B6469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Hew and Plane Away from the Body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D71384C9-3307-4A1F-9D10-A63582C3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Check the fastening of the ax handle and the condition of the cutting edge of the plane.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Secure the workpiece so that it does not move when struck or passed by a tool.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Keep your free hand out of the path of the blade and out of the area of possible slippage.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Remove chips after stopping, using a brush or a device.</a:t>
            </a:r>
          </a:p>
        </p:txBody>
      </p:sp>
      <p:pic>
        <p:nvPicPr>
          <p:cNvPr id="17" name="VISUAL_01_s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95b6d8499a494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69F927B4-D39E-4174-AE67-A864FF50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 work path does not intersect the worker’s body.</a:t>
            </a:r>
          </a:p>
        </p:txBody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AF70691E-9E86-4D55-9C5C-2D399F05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E6A1759E-D8E3-4719-988D-365555F3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Carpenter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F6741C8B-FAE7-44B0-BF0B-349B7DF7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a9ab9de7874d0e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1169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A8E2FD86-47A6-4EBA-9581-C1DAA729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73A8B50A-B802-41AD-A953-44E102A8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Chisel and hammer: good support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263B836A-2F7C-4054-97B2-26FD7ECD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chisel must have a intact handle and a working ring; a dull edge can be sharpened safely.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Do not point the cutting edge toward your palm or hold the workpiece in front of the blade.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For the hammer, check the striker attachment, wedging and absence of cracks in the handle.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Feed and hold fasteners in a manner that does not hit your fingers.</a:t>
            </a:r>
          </a:p>
        </p:txBody>
      </p:sp>
      <p:sp>
        <p:nvSpPr>
          <p:cNvPr id="4" name="Прямоугольник: скругленные углы 3">
            <a:extLst xmlns:a="http://schemas.openxmlformats.org/drawingml/2006/main">
              <a:ext uri="{FF2B5EF4-FFF2-40B4-BE49-F238E27FC236}">
                <a16:creationId xmlns:a16="http://schemas.microsoft.com/office/drawing/2014/main" id="{7F3A762E-C540-4459-B772-219BC88A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92BBFA0F-FCF0-4211-9ACF-69E32649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9CB35B84-B31C-46A0-B35B-B8FA29F4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A properly functioning handle and proper support prevent slippage.</a:t>
            </a:r>
          </a:p>
        </p:txBody>
      </p:sp>
      <p:sp>
        <p:nvSpPr>
          <p:cNvPr id="9" name="Прямая соединительная линия 8">
            <a:extLst xmlns:a="http://schemas.openxmlformats.org/drawingml/2006/main">
              <a:ext uri="{FF2B5EF4-FFF2-40B4-BE49-F238E27FC236}">
                <a16:creationId xmlns:a16="http://schemas.microsoft.com/office/drawing/2014/main" id="{70685DF7-BFFC-4AC1-B195-BD41752C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BC94E892-00B6-43C8-9813-0F39FD33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Carpenter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D7458B0-E0BF-4347-88B0-D6A2F5FD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c3227318a84e2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7296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14314511-D3A0-4ED2-8F1A-8FE0D13B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5471E668-F5A7-4D0F-8357-34EEF387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Construction Follows the Drawing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5EECDD15-05BE-455B-A968-82D84508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Check the markings and components with the working documentation before cutting the material.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Temporary supports and fastenings are not removed until the structure is stable.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During installation, agree on the order in which the parts are supplied and ensure that there are no people under the load.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Report deviations in size, moisture or material quality to your supervisor.</a:t>
            </a:r>
          </a:p>
        </p:txBody>
      </p:sp>
      <p:pic>
        <p:nvPicPr>
          <p:cNvPr id="17" name="VISUAL_01_s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e2b7eba30e4b6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6E19A659-C7A3-4BC9-AF31-130FA1D1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Unauthorized adjustment of the load-bearing element may change its operation.</a:t>
            </a:r>
          </a:p>
        </p:txBody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DAF4D435-824E-4A88-BFE3-81408D97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F0B09CD3-EF20-4BD3-99F2-60AE8E74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Carpenter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C7CE6132-E579-4151-8438-48FA66FB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17307122e54318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05730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FB9BEA6F-D163-4BE1-86A6-9BF3C565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0935B50-667E-4C32-9BD1-E5A1A586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Safe adjustment of floors and openings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3D780975-1D5E-4DAB-B30A-7499B85A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Store material stably, without blocking passages or edges of openings.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Adjust the part at a work place with reliable fixation, and not on weight.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When working near an opening, use the provided guards and safe access.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Move glass, fittings and heavy elements in a coordinated manner using suitable grips.</a:t>
            </a:r>
          </a:p>
        </p:txBody>
      </p:sp>
      <p:sp>
        <p:nvSpPr>
          <p:cNvPr id="4" name="Прямоугольник: скругленные углы 3">
            <a:extLst xmlns:a="http://schemas.openxmlformats.org/drawingml/2006/main">
              <a:ext uri="{FF2B5EF4-FFF2-40B4-BE49-F238E27FC236}">
                <a16:creationId xmlns:a16="http://schemas.microsoft.com/office/drawing/2014/main" id="{6FD37536-3707-4929-836C-4CA44EB6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E671F67D-32BF-4217-AAE0-078E1FA7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A7455C35-1E29-41A6-A96B-E0CD675A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Fitting an unclosed opening requires separate fall protection.</a:t>
            </a:r>
          </a:p>
        </p:txBody>
      </p:sp>
      <p:sp>
        <p:nvSpPr>
          <p:cNvPr id="9" name="Прямая соединительная линия 8">
            <a:extLst xmlns:a="http://schemas.openxmlformats.org/drawingml/2006/main">
              <a:ext uri="{FF2B5EF4-FFF2-40B4-BE49-F238E27FC236}">
                <a16:creationId xmlns:a16="http://schemas.microsoft.com/office/drawing/2014/main" id="{20862FDF-17C0-438E-A9EF-F51805B1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01160A29-3685-40E5-9ACB-822AE45C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Standard: Work at Height — Order No. 109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0B1647B-FB5C-42DB-9D1F-C02FEF5E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Carpenter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9A417637-B562-4548-AE39-45E84206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d439898c844b73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864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E5EAE338-F110-4721-BEEE-47197D76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6364B104-EAE1-45DD-A2CA-7C799D61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Technology depends on the area of work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CF89B55C-C8CE-4068-91BF-4FC8B640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Construction work: structures, formwork, decking, openings and temporary elements.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Finishing and furniture: more precise finishing, assembly, fittings and surface quality.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Restoration: preservation of existing material and coordinated repair technology.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Logging operations involve a separate organization of work and risks.</a:t>
            </a:r>
          </a:p>
        </p:txBody>
      </p:sp>
      <p:sp>
        <p:nvSpPr>
          <p:cNvPr id="4" name="Прямоугольник: скругленные углы 3">
            <a:extLst xmlns:a="http://schemas.openxmlformats.org/drawingml/2006/main">
              <a:ext uri="{FF2B5EF4-FFF2-40B4-BE49-F238E27FC236}">
                <a16:creationId xmlns:a16="http://schemas.microsoft.com/office/drawing/2014/main" id="{71E301DC-E431-4D28-831F-5D214848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E0DA54CA-1517-4279-84AD-D6094153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0CDB6B7B-35C7-4685-8C3C-1AB968D8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 same tool does not make technologies interchangeable.</a:t>
            </a:r>
          </a:p>
        </p:txBody>
      </p:sp>
      <p:sp>
        <p:nvSpPr>
          <p:cNvPr id="9" name="Прямая соединительная линия 8">
            <a:extLst xmlns:a="http://schemas.openxmlformats.org/drawingml/2006/main">
              <a:ext uri="{FF2B5EF4-FFF2-40B4-BE49-F238E27FC236}">
                <a16:creationId xmlns:a16="http://schemas.microsoft.com/office/drawing/2014/main" id="{F43A04B9-45D7-4CC4-8735-2B781916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FBCECB31-1BD8-4A94-8B04-B6048078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Carpenter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E30080F4-9E57-4627-8688-101EEC0C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fcd41558a14e4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2322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224BAC6E-E258-4C01-AA00-C1B0219D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1_s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091fbd9eaa493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1EE5230A-B576-47F5-BC53-12BA4B40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208629E8-2832-4D3D-92DA-430C1BA4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CF353C49-8C2F-4754-89C1-823FD3CA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Tools and risks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9B51E954-202B-4613-A0E7-C5A2E763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Serviceability, suitable equipment and safety devices are more important than speed of operation.</a:t>
            </a:r>
          </a:p>
        </p:txBody>
      </p:sp>
      <p:sp>
        <p:nvSpPr>
          <p:cNvPr id="9" name="Прямая соединительная линия 8">
            <a:extLst xmlns:a="http://schemas.openxmlformats.org/drawingml/2006/main">
              <a:ext uri="{FF2B5EF4-FFF2-40B4-BE49-F238E27FC236}">
                <a16:creationId xmlns:a16="http://schemas.microsoft.com/office/drawing/2014/main" id="{19E8F559-F9DE-4271-A130-5DED88BD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1FF524AF-0402-4929-B9A5-085A44E1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Carpenter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43AFA046-BA08-448D-BE04-FE8F6091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42e83101424228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3846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8DDAFC3E-11A0-4A5B-8D3F-CA27BA8D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EDCFB8E-22B0-43F5-9E00-50DAA003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Hand tools are checked before work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5FCE04BD-4FE5-4ACD-82BC-2E968F27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tool matches the operation, part size and material.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handles are intact, dry and securely fastened; edges and teeth without cracks or chips.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Protective covers and storage areas do not damage cutting parts.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faulty tool is marked and removed from use.</a:t>
            </a:r>
          </a:p>
        </p:txBody>
      </p:sp>
      <p:pic>
        <p:nvPicPr>
          <p:cNvPr id="18" name="VISUAL_01_s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22970c160c4cb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A9A47D10-F086-442F-A7B6-9BD23A9C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A handy replacement for a tool creates an unpredictable load.</a:t>
            </a:r>
          </a:p>
        </p:txBody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78D2D896-2CBE-47F8-8D6C-DFC1A0DF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DD3952ED-FC53-4234-A1E3-113A7CD6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Standard: Tool Safety — Order No. 204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DF195D56-EBF3-48B0-9D21-D51A0CDC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Carpenter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FB062D9-4E33-4ED5-8ADC-EA432615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be6d23145a4ac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45565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E881498A-94FF-4D08-90DD-42A46970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B6862D9-CD15-4201-A7F8-0B52826D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power tool is used for its intended purpose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21018B5A-4DDA-4AB5-9D41-7B1E560B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Circular saw: good guard, suitable blade, stable guidance without side pressure.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Jigsaw and router: secured workpiece, proper equipment, full stop before adjustment.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Drill: correctly clamped drill and prevent rotation of the part.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Sander: wheel or belt suitable for tool, material and speed allowed.</a:t>
            </a:r>
          </a:p>
        </p:txBody>
      </p:sp>
      <p:pic>
        <p:nvPicPr>
          <p:cNvPr id="18" name="VISUAL_01_s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963642ee94a4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68695593-F136-4D58-AA34-0882EEB7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Before changing equipment, the power is turned off and accidental starting is excluded.</a:t>
            </a:r>
          </a:p>
        </p:txBody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8F665187-3174-46A2-92AF-59D96717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0F0219F9-AB08-4003-B0A7-26969647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Standard: Tool Safety — Order No. 204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336C4853-F615-467B-A1AE-6EEAED44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Carpenter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BCCE750D-6ADA-4B34-8470-C2178909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166c08c04549fe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2758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535FC0E9-73DF-44CF-BD87-85B3BF3E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1392265-EFEB-46D1-A3A6-B665AB12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Guardrails and equipment must not be bypassed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8F2F3BEC-BFAD-45BA-A882-696A4E09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Covers and guards must be in place, move freely and cover the hazardous part.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cable, plug, switch and entry into the housing are not damaged or have any signs of overheating.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disc, blade, cutter or drill is the correct size and manufacturer's specifications.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Self-made adapters, lockout switches and removal of protection are prohibited.</a:t>
            </a:r>
          </a:p>
        </p:txBody>
      </p:sp>
      <p:pic>
        <p:nvPicPr>
          <p:cNvPr id="18" name="VISUAL_01_s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39922b9991412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AF0A70BA-A1DC-4AEB-98F2-2A263AC4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Protection does not interfere with work - it limits access to hazardous energy.</a:t>
            </a:r>
          </a:p>
        </p:txBody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261BD0DF-658C-44AF-A459-F83D1B16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268E9B9A-781F-494C-802F-4C582F4B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Standard: Tool Safety — Order No. 204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654D49CC-587F-4E49-9774-042A4DD0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Carpenter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0D0D857-9523-422D-838F-8E4516C9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b020985b614c70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0955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8E07682F-2E70-4B2E-8CA8-4F88331A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F1049FA1-0344-4E8F-9AB7-7204D4C6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Fault means stop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FE20C953-3971-42B3-A40C-254D9AC2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Прямоугольник: скругленные углы 3">
            <a:extLst xmlns:a="http://schemas.openxmlformats.org/drawingml/2006/main">
              <a:ext uri="{FF2B5EF4-FFF2-40B4-BE49-F238E27FC236}">
                <a16:creationId xmlns:a16="http://schemas.microsoft.com/office/drawing/2014/main" id="{5FCC0A0B-8681-40E4-BCAD-B98385E4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93470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Прямая соединительная линия 5">
            <a:extLst xmlns:a="http://schemas.openxmlformats.org/drawingml/2006/main">
              <a:ext uri="{FF2B5EF4-FFF2-40B4-BE49-F238E27FC236}">
                <a16:creationId xmlns:a16="http://schemas.microsoft.com/office/drawing/2014/main" id="{08ACC252-0EA7-4E30-80C8-0317C5C2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B8B8"/>
            </a:solidFill>
            <a:prstDash val="solid"/>
          </a:ln>
        </p:spPr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C9EE63C0-C037-439B-ABA5-97DA83FC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7810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Sparking, overheating odor, unusual noise or vibration.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Jamming, beating, crack of the disk, blade or body.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Spontaneous starting, broken switch or protective casing.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Damaged cable, plug, grounding or traces of moisture.</a:t>
            </a:r>
          </a:p>
        </p:txBody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93056046-457C-4F78-BBCA-4D0158F6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C62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Disable - designate - report. Do not repair without authority.</a:t>
            </a:r>
          </a:p>
        </p:txBody>
      </p:sp>
      <p:sp>
        <p:nvSpPr>
          <p:cNvPr id="11" name="Прямая соединительная линия 10">
            <a:extLst xmlns:a="http://schemas.openxmlformats.org/drawingml/2006/main">
              <a:ext uri="{FF2B5EF4-FFF2-40B4-BE49-F238E27FC236}">
                <a16:creationId xmlns:a16="http://schemas.microsoft.com/office/drawing/2014/main" id="{4994AA51-36B1-44CD-B58F-42B0EB84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334DCEEB-4403-4897-A97C-80CB71F5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Standard: Tool Safety — Order No. 204</a:t>
            </a:r>
          </a:p>
        </p:txBody>
      </p:sp>
      <p:sp>
        <p:nvSpPr>
          <p:cNvPr id="13" name="DECK_FOOTER">
            <a:extLst xmlns:a="http://schemas.openxmlformats.org/drawingml/2006/main">
              <a:ext uri="{FF2B5EF4-FFF2-40B4-BE49-F238E27FC236}">
                <a16:creationId xmlns:a16="http://schemas.microsoft.com/office/drawing/2014/main" id="{10A5B65D-E1FB-4663-93D9-C4F19320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Carpenter</a:t>
            </a:r>
          </a:p>
        </p:txBody>
      </p:sp>
      <p:sp>
        <p:nvSpPr>
          <p:cNvPr id="14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73705FF3-5D01-4874-A228-403254BF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pic>
        <p:nvPicPr>
          <p:cNvPr id="30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4dc4e8fcef49b1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7" name="STOP_SIGN">
            <a:extLst xmlns:a="http://schemas.openxmlformats.org/drawingml/2006/main">
              <a:ext uri="{FF2B5EF4-FFF2-40B4-BE49-F238E27FC236}">
                <a16:creationId xmlns:a16="http://schemas.microsoft.com/office/drawing/2014/main" id="{DDE9D41F-F78F-488B-B272-0D32F37D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676400" cy="1676400"/>
          </a:xfrm>
          <a:prstGeom xmlns:a="http://schemas.openxmlformats.org/drawingml/2006/main" prst="octagon">
            <a:avLst/>
          </a:prstGeom>
          <a:solidFill xmlns:a="http://schemas.openxmlformats.org/drawingml/2006/main">
            <a:srgbClr val="D93838"/>
          </a:solidFill>
          <a:ln xmlns:a="http://schemas.openxmlformats.org/drawingml/2006/main" w="19050">
            <a:solidFill>
              <a:srgbClr val="B92323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46779276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Прямоугольник 28">
            <a:extLst xmlns:a="http://schemas.openxmlformats.org/drawingml/2006/main">
              <a:ext uri="{FF2B5EF4-FFF2-40B4-BE49-F238E27FC236}">
                <a16:creationId xmlns:a16="http://schemas.microsoft.com/office/drawing/2014/main" id="{ED4C03F1-8F19-4246-B88C-51890FCB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ACBCEF85-1EB5-46E0-A16E-6A970F20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Dust, noise and chips require control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7733910A-406C-4712-B85B-D1D2F995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risk / SOURCE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4E34184E-7779-438D-9977-DD878E5B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CONSEQUENCE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1973402E-4438-46E0-8ECD-17314866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CONTROL MEASURE</a:t>
            </a:r>
          </a:p>
        </p:txBody>
      </p:sp>
      <p:sp>
        <p:nvSpPr>
          <p:cNvPr id="6" name="Прямоугольник: скругленные углы 5">
            <a:extLst xmlns:a="http://schemas.openxmlformats.org/drawingml/2006/main">
              <a:ext uri="{FF2B5EF4-FFF2-40B4-BE49-F238E27FC236}">
                <a16:creationId xmlns:a16="http://schemas.microsoft.com/office/drawing/2014/main" id="{4D6D3273-4369-4772-A3E6-B3528253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D0E89325-4FE5-4FE7-86DC-7EB75557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Wood dust</a:t>
            </a:r>
          </a:p>
        </p:txBody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87396B99-A12D-4095-98A8-DC5D2ECC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955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Irritation, reduced visibility, firefighter risk</a:t>
            </a:r>
          </a:p>
        </p:txBody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B4BE0934-8B3C-43D8-B5FC-BF7E9AAB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Local removal, cleaning, suitable respiratory protection</a:t>
            </a:r>
          </a:p>
        </p:txBody>
      </p:sp>
      <p:sp>
        <p:nvSpPr>
          <p:cNvPr id="10" name="Прямоугольник: скругленные углы 9">
            <a:extLst xmlns:a="http://schemas.openxmlformats.org/drawingml/2006/main">
              <a:ext uri="{FF2B5EF4-FFF2-40B4-BE49-F238E27FC236}">
                <a16:creationId xmlns:a16="http://schemas.microsoft.com/office/drawing/2014/main" id="{D898839C-CDF2-4F51-8955-D3A8D980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5F1310D6-B766-4AB4-907E-EF3FB7BB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Noise</a:t>
            </a:r>
          </a:p>
        </p:txBody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90F88AA8-88B9-4807-BFD6-AE2DCDB0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527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Gradual hearing loss</a:t>
            </a:r>
          </a:p>
        </p:txBody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7A2238CC-91FE-4BB0-B1A3-F23C12DA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5275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Functional tool, exposure limitation, hearing protection</a:t>
            </a:r>
          </a:p>
        </p:txBody>
      </p:sp>
      <p:sp>
        <p:nvSpPr>
          <p:cNvPr id="14" name="Прямоугольник: скругленные углы 13">
            <a:extLst xmlns:a="http://schemas.openxmlformats.org/drawingml/2006/main">
              <a:ext uri="{FF2B5EF4-FFF2-40B4-BE49-F238E27FC236}">
                <a16:creationId xmlns:a16="http://schemas.microsoft.com/office/drawing/2014/main" id="{2AA32AF0-8319-4622-A095-70F89DFF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DCC7F83A-033C-4F94-B975-7595EF23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Chips and splinters</a:t>
            </a:r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89EE5928-B4BE-4457-8D41-0E37C572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100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Eye and skin injury</a:t>
            </a:r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3C1FCDE7-7CA3-4C35-BED2-DEC4856C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100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Guard, ejection direction, eye protection</a:t>
            </a:r>
          </a:p>
        </p:txBody>
      </p:sp>
      <p:sp>
        <p:nvSpPr>
          <p:cNvPr id="18" name="Прямоугольник: скругленные углы 17">
            <a:extLst xmlns:a="http://schemas.openxmlformats.org/drawingml/2006/main">
              <a:ext uri="{FF2B5EF4-FFF2-40B4-BE49-F238E27FC236}">
                <a16:creationId xmlns:a16="http://schemas.microsoft.com/office/drawing/2014/main" id="{873A9AE0-5640-4761-92A0-1F0A95BA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9" name="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30E6B301-22FE-47B4-839C-068C0584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Waste</a:t>
            </a:r>
          </a:p>
        </p:txBody>
      </p:sp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A12BF260-B8C0-438D-8436-38F1E347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672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Slipping and fire spread</a:t>
            </a:r>
          </a:p>
        </p:txBody>
      </p:sp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A8DCABAE-8FA7-402B-86D1-10164645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6725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Regular cleaning and safe accumulation</a:t>
            </a:r>
          </a:p>
        </p:txBody>
      </p:sp>
      <p:sp>
        <p:nvSpPr>
          <p:cNvPr id="22" name="Прямоугольник 21">
            <a:extLst xmlns:a="http://schemas.openxmlformats.org/drawingml/2006/main">
              <a:ext uri="{FF2B5EF4-FFF2-40B4-BE49-F238E27FC236}">
                <a16:creationId xmlns:a16="http://schemas.microsoft.com/office/drawing/2014/main" id="{5C65ECE8-92D7-4961-A7CD-E65ECEB0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Dust is removed at the source rather than blown into the work area.</a:t>
            </a:r>
          </a:p>
        </p:txBody>
      </p:sp>
      <p:sp>
        <p:nvSpPr>
          <p:cNvPr id="25" name="Прямая соединительная линия 24">
            <a:extLst xmlns:a="http://schemas.openxmlformats.org/drawingml/2006/main">
              <a:ext uri="{FF2B5EF4-FFF2-40B4-BE49-F238E27FC236}">
                <a16:creationId xmlns:a16="http://schemas.microsoft.com/office/drawing/2014/main" id="{90789FBE-9D86-4A40-AB94-8A88DA0E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6B5EEFE6-C648-4C75-8DE2-29EDD8FD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Standard: Fire safety rules</a:t>
            </a:r>
          </a:p>
        </p:txBody>
      </p:sp>
      <p:sp>
        <p:nvSpPr>
          <p:cNvPr id="27" name="DECK_FOOTER">
            <a:extLst xmlns:a="http://schemas.openxmlformats.org/drawingml/2006/main">
              <a:ext uri="{FF2B5EF4-FFF2-40B4-BE49-F238E27FC236}">
                <a16:creationId xmlns:a16="http://schemas.microsoft.com/office/drawing/2014/main" id="{0AB5D39B-3C64-4228-AF6A-B4DB3D6B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Carpenter</a:t>
            </a:r>
          </a:p>
        </p:txBody>
      </p:sp>
      <p:sp>
        <p:nvSpPr>
          <p:cNvPr id="28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3E1FDF37-2D44-44AA-A3FE-E4324A83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pic>
        <p:nvPicPr>
          <p:cNvPr id="5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9a82717f884a9b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65893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6D670721-0A6A-4158-BF01-22A0FAEF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62D84E7F-00AF-4967-9F97-7F6C62ED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Cleaning - only after a complete stop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4D02AB1B-35B9-4313-A9C6-47AFF74A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Turn off the power, wait until it stops completely and prevent restarting.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Remove chips with a brush, hook or duster, not with your hand near the cutting part.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Check fasteners, ventilation holes and condition of equipment according to the instructions.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Store dry tools and sharp parts in cases or designated areas.</a:t>
            </a:r>
          </a:p>
        </p:txBody>
      </p:sp>
      <p:pic>
        <p:nvPicPr>
          <p:cNvPr id="18" name="VISUAL_01_s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59de7d06664be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4E8F306B-3006-4B7D-85CD-934C56F5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Maintenance begins only after the hazardous energy has been removed.</a:t>
            </a:r>
          </a:p>
        </p:txBody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7AF8A746-DE06-4BCD-B708-8893BF3B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FEA6C51E-15E3-4EFC-9615-27C9C90E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Standard: Tool Safety — Order No. 204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5236FF23-EC3C-418F-9128-4F295C8B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Carpenter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4FA8DCEC-A96D-474D-9D21-A5038B06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cd40cb7d6b4fa6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59129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44095FF4-A3DF-483D-AF2E-8E6AA640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76475F29-B0C0-43C4-8FBC-D30E0DE6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PPE selected according to actual risk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F17447B0-738F-4267-9D43-123235E9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Eye protection - in case of chips, dust and destruction of equipment; hearing protection - in case of noise.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Respiratory protection complements, but does not replace, dust extraction and ventilation.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Shoes and clothing should provide stability and have no loose parts.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Loose gloves are not used where they could be caught in a rotating part.</a:t>
            </a:r>
          </a:p>
        </p:txBody>
      </p:sp>
      <p:pic>
        <p:nvPicPr>
          <p:cNvPr id="18" name="VISUAL_01_s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398dbc078f41c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651AE924-BD5C-447E-B8B8-50303BED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PPE is the last line of defense after technical and organizational measures.</a:t>
            </a:r>
          </a:p>
        </p:txBody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792727B1-EAE7-49B4-ACDA-6DFEA2A6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69C3F487-50CB-40C9-BAAB-C105A641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Norm: Labor Code of the Republic of Kazakhstan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AEDFF39C-B7FB-407C-932F-79E8606C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Carpenter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4369D574-DEC9-4AE9-BE4F-2F60F956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c7d5e07e27454b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76877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Прямоугольник 28">
            <a:extLst xmlns:a="http://schemas.openxmlformats.org/drawingml/2006/main">
              <a:ext uri="{FF2B5EF4-FFF2-40B4-BE49-F238E27FC236}">
                <a16:creationId xmlns:a16="http://schemas.microsoft.com/office/drawing/2014/main" id="{C1038A7F-F03C-4125-9255-D55F3615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4778BF8-484D-4B28-A412-8707C4AF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In an Incident, Follow Priority Order</a:t>
            </a:r>
          </a:p>
        </p:txBody>
      </p:sp>
      <p:sp>
        <p:nvSpPr>
          <p:cNvPr id="3" name="Прямая соединительная линия 2">
            <a:extLst xmlns:a="http://schemas.openxmlformats.org/drawingml/2006/main">
              <a:ext uri="{FF2B5EF4-FFF2-40B4-BE49-F238E27FC236}">
                <a16:creationId xmlns:a16="http://schemas.microsoft.com/office/drawing/2014/main" id="{A0906B2E-30BC-438C-989F-125E7195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Овал 3">
            <a:extLst xmlns:a="http://schemas.openxmlformats.org/drawingml/2006/main">
              <a:ext uri="{FF2B5EF4-FFF2-40B4-BE49-F238E27FC236}">
                <a16:creationId xmlns:a16="http://schemas.microsoft.com/office/drawing/2014/main" id="{3CF736D1-139A-4235-8528-EEACAD3B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DB735D3B-0916-4101-B26A-D9EA8798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042A979C-FC13-46A5-BA0E-BAF29FCE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Stop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296CC09C-58E1-442F-A9C7-86D22236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Release the start, turn off the power, do not enter the danger zone.</a:t>
            </a:r>
          </a:p>
        </p:txBody>
      </p:sp>
      <p:sp>
        <p:nvSpPr>
          <p:cNvPr id="8" name="Овал 7">
            <a:extLst xmlns:a="http://schemas.openxmlformats.org/drawingml/2006/main">
              <a:ext uri="{FF2B5EF4-FFF2-40B4-BE49-F238E27FC236}">
                <a16:creationId xmlns:a16="http://schemas.microsoft.com/office/drawing/2014/main" id="{2F2920B9-AA5D-4692-B6A5-45185F7E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5FB57AAE-7B76-4337-A393-CC12B2DC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B092EFF0-2147-4675-B2DA-7F29A377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Protect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E9BC35E0-B4C4-4B1B-BF02-A350417C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Warn people and, if necessary, call 112 and first aid.</a:t>
            </a:r>
          </a:p>
        </p:txBody>
      </p:sp>
      <p:sp>
        <p:nvSpPr>
          <p:cNvPr id="12" name="Овал 11">
            <a:extLst xmlns:a="http://schemas.openxmlformats.org/drawingml/2006/main">
              <a:ext uri="{FF2B5EF4-FFF2-40B4-BE49-F238E27FC236}">
                <a16:creationId xmlns:a16="http://schemas.microsoft.com/office/drawing/2014/main" id="{DDF6B936-B24C-452F-ABA6-AE3D442E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9DB1BA1F-6DB7-4203-ACFE-E88F45B9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CC70962C-62B4-47B9-B630-8807CEB5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0475B536-97FE-4448-A9A6-2FE55820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Notify supervisor, maintain situation if safe to do so.</a:t>
            </a:r>
          </a:p>
        </p:txBody>
      </p:sp>
      <p:sp>
        <p:nvSpPr>
          <p:cNvPr id="16" name="Овал 15">
            <a:extLst xmlns:a="http://schemas.openxmlformats.org/drawingml/2006/main">
              <a:ext uri="{FF2B5EF4-FFF2-40B4-BE49-F238E27FC236}">
                <a16:creationId xmlns:a16="http://schemas.microsoft.com/office/drawing/2014/main" id="{835393D6-D308-48A7-BF99-5BB80F86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1B9A0D04-4AF0-48C9-B614-FEB2DEA9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B3DA6D99-53BA-4489-BDD2-25F8DB66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Resume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56759EE4-6D7A-4F01-ACBD-986F05EA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Only after eliminating the cause and permission of the person in charge.</a:t>
            </a:r>
          </a:p>
        </p:txBody>
      </p:sp>
      <p:sp>
        <p:nvSpPr>
          <p:cNvPr id="20" name="Прямоугольник: скругленные углы 19">
            <a:extLst xmlns:a="http://schemas.openxmlformats.org/drawingml/2006/main">
              <a:ext uri="{FF2B5EF4-FFF2-40B4-BE49-F238E27FC236}">
                <a16:creationId xmlns:a16="http://schemas.microsoft.com/office/drawing/2014/main" id="{F6B6CCC4-C17C-410D-A903-B797891F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00CCAB7A-71C7-4A79-9C5F-1521FAFE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BD7D8D25-B6FD-414A-AC30-7B3E105E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20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Jamming, electric shock, destruction of equipment and fire are reasons to stop immediately.</a:t>
            </a:r>
          </a:p>
        </p:txBody>
      </p:sp>
      <p:sp>
        <p:nvSpPr>
          <p:cNvPr id="25" name="Прямая соединительная линия 24">
            <a:extLst xmlns:a="http://schemas.openxmlformats.org/drawingml/2006/main">
              <a:ext uri="{FF2B5EF4-FFF2-40B4-BE49-F238E27FC236}">
                <a16:creationId xmlns:a16="http://schemas.microsoft.com/office/drawing/2014/main" id="{6FE12FFB-BFE4-44F3-9045-C42A8660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BE827D57-C383-430D-8F9F-09367829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Norm: Labor Code of the Republic of Kazakhstan</a:t>
            </a:r>
          </a:p>
        </p:txBody>
      </p:sp>
      <p:sp>
        <p:nvSpPr>
          <p:cNvPr id="27" name="DECK_FOOTER">
            <a:extLst xmlns:a="http://schemas.openxmlformats.org/drawingml/2006/main">
              <a:ext uri="{FF2B5EF4-FFF2-40B4-BE49-F238E27FC236}">
                <a16:creationId xmlns:a16="http://schemas.microsoft.com/office/drawing/2014/main" id="{00A6EAAB-04FF-49D5-8DE3-CC175D7E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Carpenter</a:t>
            </a:r>
          </a:p>
        </p:txBody>
      </p:sp>
      <p:sp>
        <p:nvSpPr>
          <p:cNvPr id="28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597EC14B-A2B4-49DB-8178-DDB9AE63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pic>
        <p:nvPicPr>
          <p:cNvPr id="5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86a66511d3443a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35430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098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CHECKLIST_TITLE">
            <a:extLst xmlns:a="http://schemas.openxmlformats.org/drawingml/2006/main">
              <a:ext uri="{FF2B5EF4-FFF2-40B4-BE49-F238E27FC236}">
                <a16:creationId xmlns:a16="http://schemas.microsoft.com/office/drawing/2014/main" id="{4D0CD42A-C883-4FC6-A57F-1D183504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Carpenter’s final checklist</a:t>
            </a:r>
          </a:p>
        </p:txBody>
      </p:sp>
      <p:sp>
        <p:nvSpPr>
          <p:cNvPr id="2" name="Овал 1">
            <a:extLst xmlns:a="http://schemas.openxmlformats.org/drawingml/2006/main">
              <a:ext uri="{FF2B5EF4-FFF2-40B4-BE49-F238E27FC236}">
                <a16:creationId xmlns:a16="http://schemas.microsoft.com/office/drawing/2014/main" id="{E928C206-2AED-49F6-9D8D-DABC5E01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C50D99D9-CF85-4E31-B813-AD262A23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669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187AFA18-C454-4921-B29D-41243AA7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task and technology are clear; material has been inspected.</a:t>
            </a:r>
          </a:p>
        </p:txBody>
      </p:sp>
      <p:sp>
        <p:nvSpPr>
          <p:cNvPr id="5" name="Овал 4">
            <a:extLst xmlns:a="http://schemas.openxmlformats.org/drawingml/2006/main">
              <a:ext uri="{FF2B5EF4-FFF2-40B4-BE49-F238E27FC236}">
                <a16:creationId xmlns:a16="http://schemas.microsoft.com/office/drawing/2014/main" id="{194DC14E-46FB-41CD-8C61-CAD1B98A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4C9CDDB0-7772-4342-8100-C734F255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527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CF5F149D-76A0-435A-A5E3-CA21BA7B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241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workplace is illuminated, the aisles are clear, the workpiece is secured.</a:t>
            </a:r>
          </a:p>
        </p:txBody>
      </p:sp>
      <p:sp>
        <p:nvSpPr>
          <p:cNvPr id="8" name="Овал 7">
            <a:extLst xmlns:a="http://schemas.openxmlformats.org/drawingml/2006/main">
              <a:ext uri="{FF2B5EF4-FFF2-40B4-BE49-F238E27FC236}">
                <a16:creationId xmlns:a16="http://schemas.microsoft.com/office/drawing/2014/main" id="{EA02E7FF-BF94-48E3-84F8-39CAC6E0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4F074794-DFE6-4856-BA13-49DD538E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86BB7BB9-F235-4BF8-804A-D02DA7AB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099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tools and equipment are in good working order, the guards are installed.</a:t>
            </a:r>
          </a:p>
        </p:txBody>
      </p:sp>
      <p:sp>
        <p:nvSpPr>
          <p:cNvPr id="11" name="Овал 10">
            <a:extLst xmlns:a="http://schemas.openxmlformats.org/drawingml/2006/main">
              <a:ext uri="{FF2B5EF4-FFF2-40B4-BE49-F238E27FC236}">
                <a16:creationId xmlns:a16="http://schemas.microsoft.com/office/drawing/2014/main" id="{FD1FD7D0-D24F-48DA-988A-A17B2032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43998026-5F1D-4EAF-8079-45F27E93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75604780-A8C8-4A71-AB58-5873CC83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957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PPE selected by risk; dust extraction and ventilation work.</a:t>
            </a:r>
          </a:p>
        </p:txBody>
      </p:sp>
      <p:sp>
        <p:nvSpPr>
          <p:cNvPr id="14" name="Овал 13">
            <a:extLst xmlns:a="http://schemas.openxmlformats.org/drawingml/2006/main">
              <a:ext uri="{FF2B5EF4-FFF2-40B4-BE49-F238E27FC236}">
                <a16:creationId xmlns:a16="http://schemas.microsoft.com/office/drawing/2014/main" id="{DE3876AE-0514-4D81-B30F-5E311A20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A82D3724-FD5D-4725-90EF-CDC20CBF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B3C418EC-8899-493C-B00A-DEAC7C75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815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In the event of a malfunction, change in conditions or threat, operation is stopped.</a:t>
            </a:r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860DB556-EA56-454C-B527-F4DC1AFE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“Start Test”</a:t>
            </a:r>
          </a:p>
        </p:txBody>
      </p:sp>
      <p:sp>
        <p:nvSpPr>
          <p:cNvPr id="18" name="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1CE80253-E00F-496D-B0ED-9B9F166F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6578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Updated: 08/21/2026</a:t>
            </a:r>
          </a:p>
        </p:txBody>
      </p:sp>
      <p:pic>
        <p:nvPicPr>
          <p:cNvPr id="41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fc637526e341ea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0823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2026-09-01T18:05:36.9570000Z</dcterms:created>
  <dcterms:modified xsi:type="dcterms:W3CDTF">2026-09-01T18:05:36.9570000Z</dcterms:modified>
</coreProperties>
</file>