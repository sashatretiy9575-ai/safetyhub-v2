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266efd975347f6" /><Relationship Type="http://schemas.openxmlformats.org/officeDocument/2006/relationships/extended-properties" Target="/docProps/app.xml" Id="R5ae3db56bf114520" /><Relationship Type="http://schemas.openxmlformats.org/officeDocument/2006/relationships/officeDocument" Target="/ppt/presentation.xml" Id="R9d85f7b19cff46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99dd8208054a89"/>
    <p:sldMasterId xmlns:r="http://schemas.openxmlformats.org/officeDocument/2006/relationships" id="2147483650" r:id="Rc04d42bb26d8442d"/>
  </p:sldMasterIdLst>
  <p:notesMasterIdLst>
    <p:notesMasterId xmlns:r="http://schemas.openxmlformats.org/officeDocument/2006/relationships" r:id="Rd523c4f0655b4cc6"/>
  </p:notesMasterIdLst>
  <p:sldIdLst>
    <p:sldId xmlns:r="http://schemas.openxmlformats.org/officeDocument/2006/relationships" id="256" r:id="Rea570692f550427c"/>
    <p:sldId xmlns:r="http://schemas.openxmlformats.org/officeDocument/2006/relationships" id="257" r:id="R572decf5258a4f0c"/>
    <p:sldId xmlns:r="http://schemas.openxmlformats.org/officeDocument/2006/relationships" id="258" r:id="Rd1b422907df54094"/>
    <p:sldId xmlns:r="http://schemas.openxmlformats.org/officeDocument/2006/relationships" id="259" r:id="R32213253b6794c31"/>
    <p:sldId xmlns:r="http://schemas.openxmlformats.org/officeDocument/2006/relationships" id="260" r:id="Rfe25d19df6af45be"/>
    <p:sldId xmlns:r="http://schemas.openxmlformats.org/officeDocument/2006/relationships" id="261" r:id="R112d680a412e429a"/>
    <p:sldId xmlns:r="http://schemas.openxmlformats.org/officeDocument/2006/relationships" id="262" r:id="R6eeb97f99f494b86"/>
    <p:sldId xmlns:r="http://schemas.openxmlformats.org/officeDocument/2006/relationships" id="263" r:id="Rae05793770af4c60"/>
    <p:sldId xmlns:r="http://schemas.openxmlformats.org/officeDocument/2006/relationships" id="264" r:id="Rfe9fc852aeb046b8"/>
    <p:sldId xmlns:r="http://schemas.openxmlformats.org/officeDocument/2006/relationships" id="265" r:id="Rdeab10b6237c4b13"/>
    <p:sldId xmlns:r="http://schemas.openxmlformats.org/officeDocument/2006/relationships" id="266" r:id="R4d6ea847325f43b5"/>
    <p:sldId xmlns:r="http://schemas.openxmlformats.org/officeDocument/2006/relationships" id="267" r:id="Rf89cb8e1cdfd4a00"/>
    <p:sldId xmlns:r="http://schemas.openxmlformats.org/officeDocument/2006/relationships" id="268" r:id="Rf9cf2cf52a6c4c82"/>
    <p:sldId xmlns:r="http://schemas.openxmlformats.org/officeDocument/2006/relationships" id="269" r:id="Rdb63c98ad8734e8a"/>
    <p:sldId xmlns:r="http://schemas.openxmlformats.org/officeDocument/2006/relationships" id="270" r:id="R5f372cf4feae45ea"/>
    <p:sldId xmlns:r="http://schemas.openxmlformats.org/officeDocument/2006/relationships" id="271" r:id="Rb97bce7f7d074911"/>
    <p:sldId xmlns:r="http://schemas.openxmlformats.org/officeDocument/2006/relationships" id="272" r:id="R4ede02e159f14ec7"/>
    <p:sldId xmlns:r="http://schemas.openxmlformats.org/officeDocument/2006/relationships" id="273" r:id="R5e613075cc8e4f0c"/>
    <p:sldId xmlns:r="http://schemas.openxmlformats.org/officeDocument/2006/relationships" id="274" r:id="R9819aed88e084109"/>
    <p:sldId xmlns:r="http://schemas.openxmlformats.org/officeDocument/2006/relationships" id="275" r:id="R69ebda0a4db84cf7"/>
    <p:sldId xmlns:r="http://schemas.openxmlformats.org/officeDocument/2006/relationships" id="276" r:id="R3e897ff5ea564f79"/>
    <p:sldId xmlns:r="http://schemas.openxmlformats.org/officeDocument/2006/relationships" id="277" r:id="R488ef8d22e874141"/>
    <p:sldId xmlns:r="http://schemas.openxmlformats.org/officeDocument/2006/relationships" id="278" r:id="R11581d0a576c4c1d"/>
    <p:sldId xmlns:r="http://schemas.openxmlformats.org/officeDocument/2006/relationships" id="279" r:id="R1018911cfcc84b0d"/>
    <p:sldId xmlns:r="http://schemas.openxmlformats.org/officeDocument/2006/relationships" id="280" r:id="R2269bdc3edc54e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55bddcb20c4d36" /><Relationship Type="http://schemas.openxmlformats.org/officeDocument/2006/relationships/slideMaster" Target="/ppt/slideMasters/slideMaster1.xml" Id="Rd699dd8208054a89" /><Relationship Type="http://schemas.openxmlformats.org/officeDocument/2006/relationships/slideMaster" Target="/ppt/slideMasters/slideMaster2.xml" Id="Rc04d42bb26d8442d" /><Relationship Type="http://schemas.openxmlformats.org/officeDocument/2006/relationships/notesMaster" Target="/ppt/notesMasters/notesMaster1.xml" Id="Rd523c4f0655b4cc6" /><Relationship Type="http://schemas.openxmlformats.org/officeDocument/2006/relationships/presProps" Target="/ppt/presProps.xml" Id="R2b1377f8915640bb" /><Relationship Type="http://schemas.openxmlformats.org/officeDocument/2006/relationships/viewProps" Target="/ppt/viewProps.xml" Id="Rdb51fd524a0746e0" /><Relationship Type="http://schemas.openxmlformats.org/officeDocument/2006/relationships/tableStyles" Target="/ppt/tableStyles.xml" Id="Rf21d32b43c504e77" /><Relationship Type="http://schemas.openxmlformats.org/officeDocument/2006/relationships/slide" Target="/ppt/slides/slide1.xml" Id="Rea570692f550427c" /><Relationship Type="http://schemas.openxmlformats.org/officeDocument/2006/relationships/slide" Target="/ppt/slides/slide2.xml" Id="R572decf5258a4f0c" /><Relationship Type="http://schemas.openxmlformats.org/officeDocument/2006/relationships/slide" Target="/ppt/slides/slide3.xml" Id="Rd1b422907df54094" /><Relationship Type="http://schemas.openxmlformats.org/officeDocument/2006/relationships/slide" Target="/ppt/slides/slide4.xml" Id="R32213253b6794c31" /><Relationship Type="http://schemas.openxmlformats.org/officeDocument/2006/relationships/slide" Target="/ppt/slides/slide5.xml" Id="Rfe25d19df6af45be" /><Relationship Type="http://schemas.openxmlformats.org/officeDocument/2006/relationships/slide" Target="/ppt/slides/slide6.xml" Id="R112d680a412e429a" /><Relationship Type="http://schemas.openxmlformats.org/officeDocument/2006/relationships/slide" Target="/ppt/slides/slide7.xml" Id="R6eeb97f99f494b86" /><Relationship Type="http://schemas.openxmlformats.org/officeDocument/2006/relationships/slide" Target="/ppt/slides/slide8.xml" Id="Rae05793770af4c60" /><Relationship Type="http://schemas.openxmlformats.org/officeDocument/2006/relationships/slide" Target="/ppt/slides/slide9.xml" Id="Rfe9fc852aeb046b8" /><Relationship Type="http://schemas.openxmlformats.org/officeDocument/2006/relationships/slide" Target="/ppt/slides/slide10.xml" Id="Rdeab10b6237c4b13" /><Relationship Type="http://schemas.openxmlformats.org/officeDocument/2006/relationships/slide" Target="/ppt/slides/slide11.xml" Id="R4d6ea847325f43b5" /><Relationship Type="http://schemas.openxmlformats.org/officeDocument/2006/relationships/slide" Target="/ppt/slides/slide12.xml" Id="Rf89cb8e1cdfd4a00" /><Relationship Type="http://schemas.openxmlformats.org/officeDocument/2006/relationships/slide" Target="/ppt/slides/slide13.xml" Id="Rf9cf2cf52a6c4c82" /><Relationship Type="http://schemas.openxmlformats.org/officeDocument/2006/relationships/slide" Target="/ppt/slides/slide14.xml" Id="Rdb63c98ad8734e8a" /><Relationship Type="http://schemas.openxmlformats.org/officeDocument/2006/relationships/slide" Target="/ppt/slides/slide15.xml" Id="R5f372cf4feae45ea" /><Relationship Type="http://schemas.openxmlformats.org/officeDocument/2006/relationships/slide" Target="/ppt/slides/slide16.xml" Id="Rb97bce7f7d074911" /><Relationship Type="http://schemas.openxmlformats.org/officeDocument/2006/relationships/slide" Target="/ppt/slides/slide17.xml" Id="R4ede02e159f14ec7" /><Relationship Type="http://schemas.openxmlformats.org/officeDocument/2006/relationships/slide" Target="/ppt/slides/slide18.xml" Id="R5e613075cc8e4f0c" /><Relationship Type="http://schemas.openxmlformats.org/officeDocument/2006/relationships/slide" Target="/ppt/slides/slide19.xml" Id="R9819aed88e084109" /><Relationship Type="http://schemas.openxmlformats.org/officeDocument/2006/relationships/slide" Target="/ppt/slides/slide20.xml" Id="R69ebda0a4db84cf7" /><Relationship Type="http://schemas.openxmlformats.org/officeDocument/2006/relationships/slide" Target="/ppt/slides/slide21.xml" Id="R3e897ff5ea564f79" /><Relationship Type="http://schemas.openxmlformats.org/officeDocument/2006/relationships/slide" Target="/ppt/slides/slide22.xml" Id="R488ef8d22e874141" /><Relationship Type="http://schemas.openxmlformats.org/officeDocument/2006/relationships/slide" Target="/ppt/slides/slide23.xml" Id="R11581d0a576c4c1d" /><Relationship Type="http://schemas.openxmlformats.org/officeDocument/2006/relationships/slide" Target="/ppt/slides/slide24.xml" Id="R1018911cfcc84b0d" /><Relationship Type="http://schemas.openxmlformats.org/officeDocument/2006/relationships/slide" Target="/ppt/slides/slide25.xml" Id="R2269bdc3edc54e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85da6fca489145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18ef1c33644f31" /><Relationship Type="http://schemas.openxmlformats.org/officeDocument/2006/relationships/notesMaster" Target="/ppt/notesMasters/notesMaster1.xml" Id="R51d514a563ed43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0b5ed07a734f4b" /><Relationship Type="http://schemas.openxmlformats.org/officeDocument/2006/relationships/notesMaster" Target="/ppt/notesMasters/notesMaster1.xml" Id="R5b1fdbb83b1246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974626bec244a3" /><Relationship Type="http://schemas.openxmlformats.org/officeDocument/2006/relationships/notesMaster" Target="/ppt/notesMasters/notesMaster1.xml" Id="R634c8e5cfe7442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abc8b91fef4048" /><Relationship Type="http://schemas.openxmlformats.org/officeDocument/2006/relationships/notesMaster" Target="/ppt/notesMasters/notesMaster1.xml" Id="R0013c830c8714f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59a606af74402d" /><Relationship Type="http://schemas.openxmlformats.org/officeDocument/2006/relationships/notesMaster" Target="/ppt/notesMasters/notesMaster1.xml" Id="R084b33b977f942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69602744d94743" /><Relationship Type="http://schemas.openxmlformats.org/officeDocument/2006/relationships/notesMaster" Target="/ppt/notesMasters/notesMaster1.xml" Id="R9990f0ef46a34d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e365ff3e6a4eb4" /><Relationship Type="http://schemas.openxmlformats.org/officeDocument/2006/relationships/notesMaster" Target="/ppt/notesMasters/notesMaster1.xml" Id="R658201959eb341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119db2f3484816" /><Relationship Type="http://schemas.openxmlformats.org/officeDocument/2006/relationships/notesMaster" Target="/ppt/notesMasters/notesMaster1.xml" Id="R03047db25c2941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fb1b4dce7946b9" /><Relationship Type="http://schemas.openxmlformats.org/officeDocument/2006/relationships/notesMaster" Target="/ppt/notesMasters/notesMaster1.xml" Id="Ra394c711a79e48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6eaffb0b6994b66" /><Relationship Type="http://schemas.openxmlformats.org/officeDocument/2006/relationships/notesMaster" Target="/ppt/notesMasters/notesMaster1.xml" Id="R09c15369bfdf4e0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fffe63bb9d43db" /><Relationship Type="http://schemas.openxmlformats.org/officeDocument/2006/relationships/notesMaster" Target="/ppt/notesMasters/notesMaster1.xml" Id="R7cedcb8bdf264ce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ac48899b3ed4880" /><Relationship Type="http://schemas.openxmlformats.org/officeDocument/2006/relationships/notesMaster" Target="/ppt/notesMasters/notesMaster1.xml" Id="R3480903e4efc4d9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685ed3415ca4587" /><Relationship Type="http://schemas.openxmlformats.org/officeDocument/2006/relationships/notesMaster" Target="/ppt/notesMasters/notesMaster1.xml" Id="R3f4ba21c8aff4eb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526c0b1d1af4cc3" /><Relationship Type="http://schemas.openxmlformats.org/officeDocument/2006/relationships/notesMaster" Target="/ppt/notesMasters/notesMaster1.xml" Id="R1fe0b835892e45c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775f0f4beae4eba" /><Relationship Type="http://schemas.openxmlformats.org/officeDocument/2006/relationships/notesMaster" Target="/ppt/notesMasters/notesMaster1.xml" Id="Rbfcf6a527944481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6cdab0ce0c744ee" /><Relationship Type="http://schemas.openxmlformats.org/officeDocument/2006/relationships/notesMaster" Target="/ppt/notesMasters/notesMaster1.xml" Id="R8336c00c66dd48f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9a7fe54b3bd43e0" /><Relationship Type="http://schemas.openxmlformats.org/officeDocument/2006/relationships/notesMaster" Target="/ppt/notesMasters/notesMaster1.xml" Id="R09a0870a8f4e444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1b2279508764da3" /><Relationship Type="http://schemas.openxmlformats.org/officeDocument/2006/relationships/notesMaster" Target="/ppt/notesMasters/notesMaster1.xml" Id="R8d9c3e5a8eb2414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49bdb13c80f4ac8" /><Relationship Type="http://schemas.openxmlformats.org/officeDocument/2006/relationships/notesMaster" Target="/ppt/notesMasters/notesMaster1.xml" Id="Rf00af6a3cfd7452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48c62cbf11c47c4" /><Relationship Type="http://schemas.openxmlformats.org/officeDocument/2006/relationships/notesMaster" Target="/ppt/notesMasters/notesMaster1.xml" Id="Rf310b77f5a3e43c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b3d6c6ab9514547" /><Relationship Type="http://schemas.openxmlformats.org/officeDocument/2006/relationships/notesMaster" Target="/ppt/notesMasters/notesMaster1.xml" Id="R9f75ece1120d402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4816bd8ed404cfb" /><Relationship Type="http://schemas.openxmlformats.org/officeDocument/2006/relationships/notesMaster" Target="/ppt/notesMasters/notesMaster1.xml" Id="R0e1e933b996e427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83498f38ef6415d" /><Relationship Type="http://schemas.openxmlformats.org/officeDocument/2006/relationships/notesMaster" Target="/ppt/notesMasters/notesMaster1.xml" Id="R4980eebba2bf4e2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abce88e8c7049c4" /><Relationship Type="http://schemas.openxmlformats.org/officeDocument/2006/relationships/notesMaster" Target="/ppt/notesMasters/notesMaster1.xml" Id="R5f4b350a3a61485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79e6da1ab8646fa" /><Relationship Type="http://schemas.openxmlformats.org/officeDocument/2006/relationships/notesMaster" Target="/ppt/notesMasters/notesMaster1.xml" Id="Rb94ec4da804b48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ZH text map: content/localizations/staged-2026-09-01/presentations/plotnik/zh/text-map.json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ZH text map: content/localizations/staged-2026-09-01/presentations/plotnik/zh/text-map.json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ZH text map: content/localizations/staged-2026-09-01/presentations/plotnik/zh/text-map.json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ZH text map: content/localizations/staged-2026-09-01/presentations/plotnik/zh/text-map.json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ZH text map: content/localizations/staged-2026-09-01/presentations/plotnik/zh/text-map.json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ZH text map: content/localizations/staged-2026-09-01/presentations/plotnik/zh/text-map.json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ZH text map: content/localizations/staged-2026-09-01/presentations/plotnik/zh/text-map.json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ZH text map: content/localizations/staged-2026-09-01/presentations/plotnik/zh/text-map.json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ZH text map: content/localizations/staged-2026-09-01/presentations/plotnik/zh/text-map.json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ZH text map: content/localizations/staged-2026-09-01/presentations/plotnik/zh/text-map.json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ZH text map: content/localizations/staged-2026-09-01/presentations/plotnik/zh/text-map.json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ZH text map: content/localizations/staged-2026-09-01/presentations/plotnik/zh/text-map.json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ZH text map: content/localizations/staged-2026-09-01/presentations/plotnik/zh/text-map.json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ZH text map: content/localizations/staged-2026-09-01/presentations/plotnik/zh/text-map.json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ZH text map: content/localizations/staged-2026-09-01/presentations/plotnik/zh/text-map.json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ZH text map: content/localizations/staged-2026-09-01/presentations/plotnik/zh/text-map.json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ZH text map: content/localizations/staged-2026-09-01/presentations/plotnik/zh/text-map.json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ZH text map: content/localizations/staged-2026-09-01/presentations/plotnik/zh/text-map.json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ZH text map: content/localizations/staged-2026-09-01/presentations/plotnik/zh/text-map.json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ZH text map: content/localizations/staged-2026-09-01/presentations/plotnik/zh/text-map.json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ZH text map: content/localizations/staged-2026-09-01/presentations/plotnik/zh/text-map.json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ZH text map: content/localizations/staged-2026-09-01/presentations/plotnik/zh/text-map.json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ZH text map: content/localizations/staged-2026-09-01/presentations/plotnik/zh/text-map.json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ZH text map: content/localizations/staged-2026-09-01/presentations/plotnik/zh/text-map.json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ZH text map: content/localizations/staged-2026-09-01/presentations/plotnik/zh/text-map.json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d3a092190841b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ee1d32e19014e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Work Safety — базовы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e169af72264103" /><Relationship Type="http://schemas.openxmlformats.org/officeDocument/2006/relationships/slideLayout" Target="/ppt/slideLayouts/slideLayout1.xml" Id="R07ba6b9953ab4bc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beb48a6fcf14d66" /><Relationship Type="http://schemas.openxmlformats.org/officeDocument/2006/relationships/slideLayout" Target="/ppt/slideLayouts/slideLayout2.xml" Id="R5d3e77a9215649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ba6b9953ab4b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Work Safety 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5d3e77a92156496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3aa59af9eb48ec" /><Relationship Type="http://schemas.openxmlformats.org/officeDocument/2006/relationships/image" Target="/ppt/media/image.jpeg" Id="R037f91a9744a4625" /><Relationship Type="http://schemas.openxmlformats.org/officeDocument/2006/relationships/image" Target="/ppt/media/image.png" Id="Ra8c3cedb94ae4c74" /><Relationship Type="http://schemas.openxmlformats.org/officeDocument/2006/relationships/notesSlide" Target="/ppt/notesSlides/notesSlide1.xml" Id="R9f6b665201b144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24a006787b4ff9" /><Relationship Type="http://schemas.openxmlformats.org/officeDocument/2006/relationships/image" Target="/ppt/media/image2.png" Id="Rae14ef7a2bd541e1" /><Relationship Type="http://schemas.openxmlformats.org/officeDocument/2006/relationships/notesSlide" Target="/ppt/notesSlides/notesSlide2.xml" Id="Rc1fc19a878234e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7ff9c04e944807" /><Relationship Type="http://schemas.openxmlformats.org/officeDocument/2006/relationships/image" Target="/ppt/media/image3.png" Id="R0c29166faa2446bc" /><Relationship Type="http://schemas.openxmlformats.org/officeDocument/2006/relationships/notesSlide" Target="/ppt/notesSlides/notesSlide3.xml" Id="R15b9133dc7e645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203155704f4f74" /><Relationship Type="http://schemas.openxmlformats.org/officeDocument/2006/relationships/image" Target="/ppt/media/image2.jpeg" Id="R613988e3393e4e38" /><Relationship Type="http://schemas.openxmlformats.org/officeDocument/2006/relationships/image" Target="/ppt/media/image4.png" Id="R2103a6ead32a4397" /><Relationship Type="http://schemas.openxmlformats.org/officeDocument/2006/relationships/notesSlide" Target="/ppt/notesSlides/notesSlide4.xml" Id="R2e7a6a975c5240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af2f8f369c433b" /><Relationship Type="http://schemas.openxmlformats.org/officeDocument/2006/relationships/image" Target="/ppt/media/image5.png" Id="R860d5d0e462d4147" /><Relationship Type="http://schemas.openxmlformats.org/officeDocument/2006/relationships/notesSlide" Target="/ppt/notesSlides/notesSlide5.xml" Id="Rfbee08ead54746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b8aea6f6e4415c" /><Relationship Type="http://schemas.openxmlformats.org/officeDocument/2006/relationships/image" Target="/ppt/media/image6.png" Id="R8151b3f8d4544509" /><Relationship Type="http://schemas.openxmlformats.org/officeDocument/2006/relationships/notesSlide" Target="/ppt/notesSlides/notesSlide6.xml" Id="R4891b739ff8d4c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31c1a8bfd04caf" /><Relationship Type="http://schemas.openxmlformats.org/officeDocument/2006/relationships/image" Target="/ppt/media/image3.jpeg" Id="R6d44113ec7ca44fe" /><Relationship Type="http://schemas.openxmlformats.org/officeDocument/2006/relationships/image" Target="/ppt/media/image7.png" Id="Rc688d97fd7e54b23" /><Relationship Type="http://schemas.openxmlformats.org/officeDocument/2006/relationships/notesSlide" Target="/ppt/notesSlides/notesSlide7.xml" Id="R6005c53f5b2f4a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1414e61afa41f6" /><Relationship Type="http://schemas.openxmlformats.org/officeDocument/2006/relationships/image" Target="/ppt/media/image4.jpeg" Id="R1041b5ab21f84691" /><Relationship Type="http://schemas.openxmlformats.org/officeDocument/2006/relationships/image" Target="/ppt/media/image8.png" Id="R303a7e9d27a9493a" /><Relationship Type="http://schemas.openxmlformats.org/officeDocument/2006/relationships/notesSlide" Target="/ppt/notesSlides/notesSlide8.xml" Id="R67edc5c2ef6c49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d4d57e228e430e" /><Relationship Type="http://schemas.openxmlformats.org/officeDocument/2006/relationships/image" Target="/ppt/media/image5.jpeg" Id="R20be9736e0e549d1" /><Relationship Type="http://schemas.openxmlformats.org/officeDocument/2006/relationships/image" Target="/ppt/media/image9.png" Id="R366194b2fbd64cfd" /><Relationship Type="http://schemas.openxmlformats.org/officeDocument/2006/relationships/notesSlide" Target="/ppt/notesSlides/notesSlide9.xml" Id="R6ec63dc44a2b41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e0171a3d3c4f6c" /><Relationship Type="http://schemas.openxmlformats.org/officeDocument/2006/relationships/image" Target="/ppt/media/image6.jpeg" Id="R5902aa81def445a9" /><Relationship Type="http://schemas.openxmlformats.org/officeDocument/2006/relationships/image" Target="/ppt/media/image10.png" Id="R55b4e755debb4652" /><Relationship Type="http://schemas.openxmlformats.org/officeDocument/2006/relationships/notesSlide" Target="/ppt/notesSlides/notesSlide10.xml" Id="R136b51fb6f0041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c27d08b1354979" /><Relationship Type="http://schemas.openxmlformats.org/officeDocument/2006/relationships/image" Target="/ppt/media/image7.jpeg" Id="R1154a68294314662" /><Relationship Type="http://schemas.openxmlformats.org/officeDocument/2006/relationships/image" Target="/ppt/media/image11.png" Id="Rccd3a89a988f4ab4" /><Relationship Type="http://schemas.openxmlformats.org/officeDocument/2006/relationships/notesSlide" Target="/ppt/notesSlides/notesSlide11.xml" Id="R6f893fd695ac4ce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3e402c09224ac0" /><Relationship Type="http://schemas.openxmlformats.org/officeDocument/2006/relationships/image" Target="/ppt/media/image12.png" Id="R81d6f935ce074df2" /><Relationship Type="http://schemas.openxmlformats.org/officeDocument/2006/relationships/notesSlide" Target="/ppt/notesSlides/notesSlide12.xml" Id="Rd108323800bd4c3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fb2ae12f1b42a5" /><Relationship Type="http://schemas.openxmlformats.org/officeDocument/2006/relationships/image" Target="/ppt/media/image8.jpeg" Id="R3be96d438318476c" /><Relationship Type="http://schemas.openxmlformats.org/officeDocument/2006/relationships/image" Target="/ppt/media/image13.png" Id="R47154193efb34310" /><Relationship Type="http://schemas.openxmlformats.org/officeDocument/2006/relationships/notesSlide" Target="/ppt/notesSlides/notesSlide13.xml" Id="R8b5624d34b5b4e0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1a3ae2baff43f8" /><Relationship Type="http://schemas.openxmlformats.org/officeDocument/2006/relationships/image" Target="/ppt/media/image14.png" Id="R449b90b1eb434f4a" /><Relationship Type="http://schemas.openxmlformats.org/officeDocument/2006/relationships/notesSlide" Target="/ppt/notesSlides/notesSlide14.xml" Id="R4fb93cf5f09246c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5cc7cd53d24db2" /><Relationship Type="http://schemas.openxmlformats.org/officeDocument/2006/relationships/image" Target="/ppt/media/image15.png" Id="R6fe291b31ed744ff" /><Relationship Type="http://schemas.openxmlformats.org/officeDocument/2006/relationships/notesSlide" Target="/ppt/notesSlides/notesSlide15.xml" Id="Rdc8735b831ec4b8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e3d000d3e84946" /><Relationship Type="http://schemas.openxmlformats.org/officeDocument/2006/relationships/image" Target="/ppt/media/image9.jpeg" Id="R6f8f1c3e40d64346" /><Relationship Type="http://schemas.openxmlformats.org/officeDocument/2006/relationships/image" Target="/ppt/media/image16.png" Id="R3ea9bbf278334853" /><Relationship Type="http://schemas.openxmlformats.org/officeDocument/2006/relationships/notesSlide" Target="/ppt/notesSlides/notesSlide16.xml" Id="Rde9039f5d764460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a1ec6ae55c4220" /><Relationship Type="http://schemas.openxmlformats.org/officeDocument/2006/relationships/image" Target="/ppt/media/image10.jpeg" Id="R70c93dbc14cd4ff1" /><Relationship Type="http://schemas.openxmlformats.org/officeDocument/2006/relationships/image" Target="/ppt/media/image17.png" Id="Rf773ef7d47e94001" /><Relationship Type="http://schemas.openxmlformats.org/officeDocument/2006/relationships/notesSlide" Target="/ppt/notesSlides/notesSlide17.xml" Id="R757ae40b865c428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9250d5e0514779" /><Relationship Type="http://schemas.openxmlformats.org/officeDocument/2006/relationships/image" Target="/ppt/media/image11.jpeg" Id="R8d4c1c2281394958" /><Relationship Type="http://schemas.openxmlformats.org/officeDocument/2006/relationships/image" Target="/ppt/media/image18.png" Id="R6724a62063e84294" /><Relationship Type="http://schemas.openxmlformats.org/officeDocument/2006/relationships/notesSlide" Target="/ppt/notesSlides/notesSlide18.xml" Id="R8b13b1d2d8f745c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4240146a734848" /><Relationship Type="http://schemas.openxmlformats.org/officeDocument/2006/relationships/image" Target="/ppt/media/image12.jpeg" Id="R898d4d10c22649ea" /><Relationship Type="http://schemas.openxmlformats.org/officeDocument/2006/relationships/image" Target="/ppt/media/image19.png" Id="R9a941fc9419c4119" /><Relationship Type="http://schemas.openxmlformats.org/officeDocument/2006/relationships/notesSlide" Target="/ppt/notesSlides/notesSlide19.xml" Id="R6bf70dfbf70847f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530463add74153" /><Relationship Type="http://schemas.openxmlformats.org/officeDocument/2006/relationships/image" Target="/ppt/media/image20.png" Id="R8d4d9fefa1b348ae" /><Relationship Type="http://schemas.openxmlformats.org/officeDocument/2006/relationships/notesSlide" Target="/ppt/notesSlides/notesSlide20.xml" Id="R870709d60b18462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087b105e104443" /><Relationship Type="http://schemas.openxmlformats.org/officeDocument/2006/relationships/image" Target="/ppt/media/image21.png" Id="R9f97edb4cbcc4c55" /><Relationship Type="http://schemas.openxmlformats.org/officeDocument/2006/relationships/notesSlide" Target="/ppt/notesSlides/notesSlide21.xml" Id="R8c4999eeb1034b2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6de12f0968490f" /><Relationship Type="http://schemas.openxmlformats.org/officeDocument/2006/relationships/image" Target="/ppt/media/image13.jpeg" Id="R5fd4797043fd4d25" /><Relationship Type="http://schemas.openxmlformats.org/officeDocument/2006/relationships/image" Target="/ppt/media/image22.png" Id="R3d1c43294fd44e7f" /><Relationship Type="http://schemas.openxmlformats.org/officeDocument/2006/relationships/notesSlide" Target="/ppt/notesSlides/notesSlide22.xml" Id="Rca8946e7bd874f2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011980d804445d" /><Relationship Type="http://schemas.openxmlformats.org/officeDocument/2006/relationships/image" Target="/ppt/media/image14.jpeg" Id="Rdf86855436444d68" /><Relationship Type="http://schemas.openxmlformats.org/officeDocument/2006/relationships/image" Target="/ppt/media/image23.png" Id="Re5c62bbb36e94185" /><Relationship Type="http://schemas.openxmlformats.org/officeDocument/2006/relationships/notesSlide" Target="/ppt/notesSlides/notesSlide23.xml" Id="R4b0f4023d550425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d7431ebd92489d" /><Relationship Type="http://schemas.openxmlformats.org/officeDocument/2006/relationships/image" Target="/ppt/media/image24.png" Id="R6af517be47fe41f6" /><Relationship Type="http://schemas.openxmlformats.org/officeDocument/2006/relationships/notesSlide" Target="/ppt/notesSlides/notesSlide24.xml" Id="R477166f578c54b0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ce308372da49af" /><Relationship Type="http://schemas.openxmlformats.org/officeDocument/2006/relationships/image" Target="/ppt/media/image25.png" Id="Rd03285ca5656452c" /><Relationship Type="http://schemas.openxmlformats.org/officeDocument/2006/relationships/notesSlide" Target="/ppt/notesSlides/notesSlide25.xml" Id="Rdf02c4d7f74f48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7CBFE11A-598D-4C97-8988-CEC24680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VISUAL_01_s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7f91a9744a462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524750" y="1104900"/>
            <a:ext cx="4095750" cy="476250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75EF4EA2-07CA-4429-B9A8-F5E2DF6C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04900"/>
            <a:ext cx="762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URSE_KICKER">
            <a:extLst xmlns:a="http://schemas.openxmlformats.org/drawingml/2006/main">
              <a:ext uri="{FF2B5EF4-FFF2-40B4-BE49-F238E27FC236}">
                <a16:creationId xmlns:a16="http://schemas.microsoft.com/office/drawing/2014/main" id="{5E42DA09-7E7F-4201-A568-A5E69194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培训课程</a:t>
            </a:r>
          </a:p>
        </p:txBody>
      </p:sp>
      <p:sp>
        <p:nvSpPr>
          <p:cNvPr id="5" name="DECK_TITLE">
            <a:extLst xmlns:a="http://schemas.openxmlformats.org/drawingml/2006/main">
              <a:ext uri="{FF2B5EF4-FFF2-40B4-BE49-F238E27FC236}">
                <a16:creationId xmlns:a16="http://schemas.microsoft.com/office/drawing/2014/main" id="{2E4725EF-FB5A-48EE-9F4D-04671A4B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5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木匠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E24C765F-3399-4FD6-B33B-8950F21B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CK_SUBTITLE">
            <a:extLst xmlns:a="http://schemas.openxmlformats.org/drawingml/2006/main">
              <a:ext uri="{FF2B5EF4-FFF2-40B4-BE49-F238E27FC236}">
                <a16:creationId xmlns:a16="http://schemas.microsoft.com/office/drawing/2014/main" id="{3BB15CB6-F1E3-42A8-83C6-43AA6975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5D625F"/>
                </a:solidFill>
                <a:latin typeface="Arial"/>
                <a:ea typeface="Arial"/>
                <a:cs typeface="Arial"/>
              </a:rPr>
              <a:t>安全组织和执行木工工作</a:t>
            </a:r>
          </a:p>
        </p:txBody>
      </p:sp>
      <p:sp>
        <p:nvSpPr>
          <p:cNvPr id="8" name="DECK_AUDIENCE">
            <a:extLst xmlns:a="http://schemas.openxmlformats.org/drawingml/2006/main">
              <a:ext uri="{FF2B5EF4-FFF2-40B4-BE49-F238E27FC236}">
                <a16:creationId xmlns:a16="http://schemas.microsoft.com/office/drawing/2014/main" id="{ECE97A22-BE04-4756-9CAD-05384233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D625F"/>
                </a:solidFill>
                <a:latin typeface="Arial"/>
                <a:ea typeface="Arial"/>
                <a:cs typeface="Arial"/>
              </a:rPr>
              <a:t>工人及一线人员培训课程</a:t>
            </a:r>
          </a:p>
        </p:txBody>
      </p:sp>
      <p:sp>
        <p:nvSpPr>
          <p:cNvPr id="11" name="Прямая соединительная линия 10">
            <a:extLst xmlns:a="http://schemas.openxmlformats.org/drawingml/2006/main">
              <a:ext uri="{FF2B5EF4-FFF2-40B4-BE49-F238E27FC236}">
                <a16:creationId xmlns:a16="http://schemas.microsoft.com/office/drawing/2014/main" id="{26B001E9-087F-42B2-A495-250D61B5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64CC3CA-6A29-4C9B-82B9-0A2DD7E6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木匠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B44347B7-5120-4089-A651-DAF33B7B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2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c3cedb94ae4c7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257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046F7711-9A11-4DC3-B9A2-C9D08BCA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67E63FA-0F46-4330-845D-AA047FC9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课程结束后作业人员将能够</a:t>
            </a:r>
          </a:p>
        </p:txBody>
      </p:sp>
      <p:sp>
        <p:nvSpPr>
          <p:cNvPr id="3" name="LIST_NUMBER_1">
            <a:extLst xmlns:a="http://schemas.openxmlformats.org/drawingml/2006/main">
              <a:ext uri="{FF2B5EF4-FFF2-40B4-BE49-F238E27FC236}">
                <a16:creationId xmlns:a16="http://schemas.microsoft.com/office/drawing/2014/main" id="{39168A94-DC42-4B86-8557-A36047EF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Прямая соединительная линия 3">
            <a:extLst xmlns:a="http://schemas.openxmlformats.org/drawingml/2006/main">
              <a:ext uri="{FF2B5EF4-FFF2-40B4-BE49-F238E27FC236}">
                <a16:creationId xmlns:a16="http://schemas.microsoft.com/office/drawing/2014/main" id="{0407B8AA-1CFB-4866-BDF1-A4603167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LIST_ITEM_1">
            <a:extLst xmlns:a="http://schemas.openxmlformats.org/drawingml/2006/main">
              <a:ext uri="{FF2B5EF4-FFF2-40B4-BE49-F238E27FC236}">
                <a16:creationId xmlns:a16="http://schemas.microsoft.com/office/drawing/2014/main" id="{C97D06C4-7949-4AD0-ADF9-8F394487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716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开始操作前准备工作场所、工件和工具。</a:t>
            </a:r>
          </a:p>
        </p:txBody>
      </p:sp>
      <p:sp>
        <p:nvSpPr>
          <p:cNvPr id="6" name="LIST_NUMBER_2">
            <a:extLst xmlns:a="http://schemas.openxmlformats.org/drawingml/2006/main">
              <a:ext uri="{FF2B5EF4-FFF2-40B4-BE49-F238E27FC236}">
                <a16:creationId xmlns:a16="http://schemas.microsoft.com/office/drawing/2014/main" id="{F82B6A1F-7394-4977-93A1-900A65C9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45B7729F-E090-4615-A890-2D8134B7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146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8" name="LIST_ITEM_2">
            <a:extLst xmlns:a="http://schemas.openxmlformats.org/drawingml/2006/main">
              <a:ext uri="{FF2B5EF4-FFF2-40B4-BE49-F238E27FC236}">
                <a16:creationId xmlns:a16="http://schemas.microsoft.com/office/drawing/2014/main" id="{1ED2848A-5257-47AB-A540-3CF69A29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860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选择安全的手工和机械化木材加工方法。</a:t>
            </a:r>
          </a:p>
        </p:txBody>
      </p:sp>
      <p:sp>
        <p:nvSpPr>
          <p:cNvPr id="9" name="LIST_NUMBER_3">
            <a:extLst xmlns:a="http://schemas.openxmlformats.org/drawingml/2006/main">
              <a:ext uri="{FF2B5EF4-FFF2-40B4-BE49-F238E27FC236}">
                <a16:creationId xmlns:a16="http://schemas.microsoft.com/office/drawing/2014/main" id="{18D99DEA-335F-48B1-A16E-DEAB0155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Прямая соединительная линия 9">
            <a:extLst xmlns:a="http://schemas.openxmlformats.org/drawingml/2006/main">
              <a:ext uri="{FF2B5EF4-FFF2-40B4-BE49-F238E27FC236}">
                <a16:creationId xmlns:a16="http://schemas.microsoft.com/office/drawing/2014/main" id="{5F0EF419-01EE-4323-B77E-9DEE1AAB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1" name="LIST_ITEM_3">
            <a:extLst xmlns:a="http://schemas.openxmlformats.org/drawingml/2006/main">
              <a:ext uri="{FF2B5EF4-FFF2-40B4-BE49-F238E27FC236}">
                <a16:creationId xmlns:a16="http://schemas.microsoft.com/office/drawing/2014/main" id="{18E652A2-B9A9-4357-950D-BF91190C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004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识别故障、危险行为和立即停止情况。</a:t>
            </a:r>
          </a:p>
        </p:txBody>
      </p:sp>
      <p:sp>
        <p:nvSpPr>
          <p:cNvPr id="12" name="LIST_NUMBER_4">
            <a:extLst xmlns:a="http://schemas.openxmlformats.org/drawingml/2006/main">
              <a:ext uri="{FF2B5EF4-FFF2-40B4-BE49-F238E27FC236}">
                <a16:creationId xmlns:a16="http://schemas.microsoft.com/office/drawing/2014/main" id="{17DBE42E-2DD3-45BF-9949-DDF627BF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Прямая соединительная линия 12">
            <a:extLst xmlns:a="http://schemas.openxmlformats.org/drawingml/2006/main">
              <a:ext uri="{FF2B5EF4-FFF2-40B4-BE49-F238E27FC236}">
                <a16:creationId xmlns:a16="http://schemas.microsoft.com/office/drawing/2014/main" id="{35C915DE-78B3-4C6B-B6FA-FEC081E7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43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4" name="LIST_ITEM_4">
            <a:extLst xmlns:a="http://schemas.openxmlformats.org/drawingml/2006/main">
              <a:ext uri="{FF2B5EF4-FFF2-40B4-BE49-F238E27FC236}">
                <a16:creationId xmlns:a16="http://schemas.microsoft.com/office/drawing/2014/main" id="{81B2DACE-D519-4661-B654-F00D7D76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148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针对灰尘、噪音、碎屑、电气和火灾风险采取防护措施。</a:t>
            </a:r>
          </a:p>
        </p:txBody>
      </p:sp>
      <p:sp>
        <p:nvSpPr>
          <p:cNvPr id="15" name="Прямоугольник: скругленные углы 14">
            <a:extLst xmlns:a="http://schemas.openxmlformats.org/drawingml/2006/main">
              <a:ext uri="{FF2B5EF4-FFF2-40B4-BE49-F238E27FC236}">
                <a16:creationId xmlns:a16="http://schemas.microsoft.com/office/drawing/2014/main" id="{902C88FD-DEA4-40EF-B13D-A3F64EA1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34290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C9979CBA-FD9C-4A1F-8E1C-1A756602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AB08009F-DFC4-438F-85CF-88E6F640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29718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安全操作在工具打开之前开始。</a:t>
            </a:r>
          </a:p>
        </p:txBody>
      </p:sp>
      <p:sp>
        <p:nvSpPr>
          <p:cNvPr id="20" name="Прямая соединительная линия 19">
            <a:extLst xmlns:a="http://schemas.openxmlformats.org/drawingml/2006/main">
              <a:ext uri="{FF2B5EF4-FFF2-40B4-BE49-F238E27FC236}">
                <a16:creationId xmlns:a16="http://schemas.microsoft.com/office/drawing/2014/main" id="{731914E6-ED92-4DA7-A166-2A8B95EE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E44852F-A604-405D-BDF9-7D0DE775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木匠</a:t>
            </a:r>
          </a:p>
        </p:txBody>
      </p:sp>
      <p:sp>
        <p:nvSpPr>
          <p:cNvPr id="2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03019B5-DE09-4EA5-8B3F-E6F5D80A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4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4ef7a2bd541e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6474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8F86629C-7322-4DB6-AEE1-2CE7FBDE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59F717D3-1F75-4DCE-824C-D6ED2B8A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课程逻辑</a:t>
            </a:r>
          </a:p>
        </p:txBody>
      </p:sp>
      <p:sp>
        <p:nvSpPr>
          <p:cNvPr id="3" name="LIST_NUMBER_1">
            <a:extLst xmlns:a="http://schemas.openxmlformats.org/drawingml/2006/main">
              <a:ext uri="{FF2B5EF4-FFF2-40B4-BE49-F238E27FC236}">
                <a16:creationId xmlns:a16="http://schemas.microsoft.com/office/drawing/2014/main" id="{92323DC2-5280-446D-B7A8-304BB564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Прямая соединительная линия 3">
            <a:extLst xmlns:a="http://schemas.openxmlformats.org/drawingml/2006/main">
              <a:ext uri="{FF2B5EF4-FFF2-40B4-BE49-F238E27FC236}">
                <a16:creationId xmlns:a16="http://schemas.microsoft.com/office/drawing/2014/main" id="{0ADBE542-91BD-43AC-8295-C829D78F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LIST_ITEM_1">
            <a:extLst xmlns:a="http://schemas.openxmlformats.org/drawingml/2006/main">
              <a:ext uri="{FF2B5EF4-FFF2-40B4-BE49-F238E27FC236}">
                <a16:creationId xmlns:a16="http://schemas.microsoft.com/office/drawing/2014/main" id="{FC0937D3-B268-4FEF-B303-320C40F9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716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职业和责任界限。</a:t>
            </a:r>
          </a:p>
        </p:txBody>
      </p:sp>
      <p:sp>
        <p:nvSpPr>
          <p:cNvPr id="6" name="LIST_NUMBER_2">
            <a:extLst xmlns:a="http://schemas.openxmlformats.org/drawingml/2006/main">
              <a:ext uri="{FF2B5EF4-FFF2-40B4-BE49-F238E27FC236}">
                <a16:creationId xmlns:a16="http://schemas.microsoft.com/office/drawing/2014/main" id="{0A37A062-19A3-4C3B-934E-4E82B1F0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45BB34E2-4926-40BA-B1D0-AC2BDB33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81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8" name="LIST_ITEM_2">
            <a:extLst xmlns:a="http://schemas.openxmlformats.org/drawingml/2006/main">
              <a:ext uri="{FF2B5EF4-FFF2-40B4-BE49-F238E27FC236}">
                <a16:creationId xmlns:a16="http://schemas.microsoft.com/office/drawing/2014/main" id="{3E69FC48-3C32-4301-BFBB-2E5F320D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527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工作场所和工件的准备。</a:t>
            </a:r>
          </a:p>
        </p:txBody>
      </p:sp>
      <p:sp>
        <p:nvSpPr>
          <p:cNvPr id="9" name="LIST_NUMBER_3">
            <a:extLst xmlns:a="http://schemas.openxmlformats.org/drawingml/2006/main">
              <a:ext uri="{FF2B5EF4-FFF2-40B4-BE49-F238E27FC236}">
                <a16:creationId xmlns:a16="http://schemas.microsoft.com/office/drawing/2014/main" id="{A4AE46E6-A913-4DAC-84FD-640D4840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Прямая соединительная линия 9">
            <a:extLst xmlns:a="http://schemas.openxmlformats.org/drawingml/2006/main">
              <a:ext uri="{FF2B5EF4-FFF2-40B4-BE49-F238E27FC236}">
                <a16:creationId xmlns:a16="http://schemas.microsoft.com/office/drawing/2014/main" id="{E2243870-5DB4-4709-BE53-36DBC14E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1" name="LIST_ITEM_3">
            <a:extLst xmlns:a="http://schemas.openxmlformats.org/drawingml/2006/main">
              <a:ext uri="{FF2B5EF4-FFF2-40B4-BE49-F238E27FC236}">
                <a16:creationId xmlns:a16="http://schemas.microsoft.com/office/drawing/2014/main" id="{4C014274-56F0-4B7F-B1E2-4D4DBB91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基本操作的安全技术。</a:t>
            </a:r>
          </a:p>
        </p:txBody>
      </p:sp>
      <p:sp>
        <p:nvSpPr>
          <p:cNvPr id="12" name="LIST_NUMBER_4">
            <a:extLst xmlns:a="http://schemas.openxmlformats.org/drawingml/2006/main">
              <a:ext uri="{FF2B5EF4-FFF2-40B4-BE49-F238E27FC236}">
                <a16:creationId xmlns:a16="http://schemas.microsoft.com/office/drawing/2014/main" id="{23521118-21CA-4D7E-977A-7296814B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Прямая соединительная линия 12">
            <a:extLst xmlns:a="http://schemas.openxmlformats.org/drawingml/2006/main">
              <a:ext uri="{FF2B5EF4-FFF2-40B4-BE49-F238E27FC236}">
                <a16:creationId xmlns:a16="http://schemas.microsoft.com/office/drawing/2014/main" id="{5EEDAEB3-DF73-4583-A7EA-9EB18E09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43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4" name="LIST_ITEM_4">
            <a:extLst xmlns:a="http://schemas.openxmlformats.org/drawingml/2006/main">
              <a:ext uri="{FF2B5EF4-FFF2-40B4-BE49-F238E27FC236}">
                <a16:creationId xmlns:a16="http://schemas.microsoft.com/office/drawing/2014/main" id="{0B38AA55-BDCB-414C-ADC0-9ABFDA39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148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工具、PPE和风险控制。</a:t>
            </a:r>
          </a:p>
        </p:txBody>
      </p:sp>
      <p:sp>
        <p:nvSpPr>
          <p:cNvPr id="15" name="LIST_NUMBER_5">
            <a:extLst xmlns:a="http://schemas.openxmlformats.org/drawingml/2006/main">
              <a:ext uri="{FF2B5EF4-FFF2-40B4-BE49-F238E27FC236}">
                <a16:creationId xmlns:a16="http://schemas.microsoft.com/office/drawing/2014/main" id="{A56E8ED8-EBBA-435C-BC6A-BEC4959D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Прямая соединительная линия 15">
            <a:extLst xmlns:a="http://schemas.openxmlformats.org/drawingml/2006/main">
              <a:ext uri="{FF2B5EF4-FFF2-40B4-BE49-F238E27FC236}">
                <a16:creationId xmlns:a16="http://schemas.microsoft.com/office/drawing/2014/main" id="{E7287DFB-8762-4F5E-BEEB-7A57B8BD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24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7" name="LIST_ITEM_5">
            <a:extLst xmlns:a="http://schemas.openxmlformats.org/drawingml/2006/main">
              <a:ext uri="{FF2B5EF4-FFF2-40B4-BE49-F238E27FC236}">
                <a16:creationId xmlns:a16="http://schemas.microsoft.com/office/drawing/2014/main" id="{660453F8-D82B-4AF8-8BE8-40D098EB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958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发生故障和事故时采取的措施。</a:t>
            </a:r>
          </a:p>
        </p:txBody>
      </p:sp>
      <p:sp>
        <p:nvSpPr>
          <p:cNvPr id="18" name="Прямоугольник: скругленные углы 17">
            <a:extLst xmlns:a="http://schemas.openxmlformats.org/drawingml/2006/main">
              <a:ext uri="{FF2B5EF4-FFF2-40B4-BE49-F238E27FC236}">
                <a16:creationId xmlns:a16="http://schemas.microsoft.com/office/drawing/2014/main" id="{5A136A3C-19CD-461D-92D2-BEC9F68B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381250" cy="29527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44383CCC-E647-4749-8904-5DE39220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381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课程</a:t>
            </a:r>
          </a:p>
        </p:txBody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C4D17E06-C9DB-4296-B898-DC2EE14E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957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D625F"/>
                </a:solidFill>
                <a:latin typeface="Arial"/>
                <a:ea typeface="Arial"/>
                <a:cs typeface="Arial"/>
              </a:rPr>
              <a:t>语义块</a:t>
            </a:r>
          </a:p>
        </p:txBody>
      </p:sp>
      <p:sp>
        <p:nvSpPr>
          <p:cNvPr id="24" name="Прямая соединительная линия 23">
            <a:extLst xmlns:a="http://schemas.openxmlformats.org/drawingml/2006/main">
              <a:ext uri="{FF2B5EF4-FFF2-40B4-BE49-F238E27FC236}">
                <a16:creationId xmlns:a16="http://schemas.microsoft.com/office/drawing/2014/main" id="{040F6597-A2EC-42E6-8844-8847D40B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5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442E7C4-CF2D-45D2-8668-AEA56D5C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木匠</a:t>
            </a:r>
          </a:p>
        </p:txBody>
      </p:sp>
      <p:sp>
        <p:nvSpPr>
          <p:cNvPr id="26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2656132-3259-4B1B-8E27-73EF3C05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5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9166faa2446b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29" name="AGENDA_COUNT_CIRCLE">
            <a:extLst xmlns:a="http://schemas.openxmlformats.org/drawingml/2006/main">
              <a:ext uri="{FF2B5EF4-FFF2-40B4-BE49-F238E27FC236}">
                <a16:creationId xmlns:a16="http://schemas.microsoft.com/office/drawing/2014/main" id="{61126CF0-C4A8-47BA-94AA-F382BF2A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575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925882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D18006EF-AA1B-4983-8FAC-E0D226EE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1_s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3988e3393e4e3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9FBE42DC-9000-4B35-9852-3082E270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34F0C1F5-6624-436E-84F6-4E85C97F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60ED6C65-A92C-485F-A010-5241E86C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专业与培训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1839EC1B-5E88-48C9-BDE3-C0681638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首先定义任务、条件和执行任务的安全方法。</a:t>
            </a:r>
          </a:p>
        </p:txBody>
      </p:sp>
      <p:sp>
        <p:nvSpPr>
          <p:cNvPr id="9" name="Прямая соединительная линия 8">
            <a:extLst xmlns:a="http://schemas.openxmlformats.org/drawingml/2006/main">
              <a:ext uri="{FF2B5EF4-FFF2-40B4-BE49-F238E27FC236}">
                <a16:creationId xmlns:a16="http://schemas.microsoft.com/office/drawing/2014/main" id="{8D7F881C-BDF0-4516-9C85-6F24A91A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CAB3A28-0F46-4612-828C-BD7F1443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木匠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E5D1439-D133-4F73-9F1D-72CBC68D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03a6ead32a439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6177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3EA67158-F0DD-4229-A0F2-7B3DC3A7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32251EC-C5DC-4F35-9033-A8E44721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木工负责精度和安全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82DCE8F2-BB0A-4D41-ACDD-469C1330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在工作范围内使用木材、板材、结构和紧固件。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阅读图纸或图表，选择顺序并检查源材料。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不执行未经批准、没有适当设备或可理解技术的操作。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与经理协调设计和尺寸的变更，未经许可不得修改项目。</a:t>
            </a:r>
          </a:p>
        </p:txBody>
      </p:sp>
      <p:sp>
        <p:nvSpPr>
          <p:cNvPr id="4" name="Прямоугольник: скругленные углы 3">
            <a:extLst xmlns:a="http://schemas.openxmlformats.org/drawingml/2006/main">
              <a:ext uri="{FF2B5EF4-FFF2-40B4-BE49-F238E27FC236}">
                <a16:creationId xmlns:a16="http://schemas.microsoft.com/office/drawing/2014/main" id="{271C5BA8-EE03-4AB6-8680-B55DB4B3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C34306B3-8E97-4B6D-8D10-1877A92B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EE3D5A1-ADBA-4995-8DF7-CBCB2981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职业的界限是由任务、资格和许可决定的。</a:t>
            </a:r>
          </a:p>
        </p:txBody>
      </p:sp>
      <p:sp>
        <p:nvSpPr>
          <p:cNvPr id="9" name="Прямая соединительная линия 8">
            <a:extLst xmlns:a="http://schemas.openxmlformats.org/drawingml/2006/main">
              <a:ext uri="{FF2B5EF4-FFF2-40B4-BE49-F238E27FC236}">
                <a16:creationId xmlns:a16="http://schemas.microsoft.com/office/drawing/2014/main" id="{ED4B47E5-9C7D-489F-93A9-220A027A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C493BEA-0479-4A51-B465-37F55230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木匠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24089E4-13B8-489F-AA6D-2B508825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0d5d0e462d414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6855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6405498F-2E1A-4E10-B951-96062538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EAFD6753-2867-4730-B50E-68B4064B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排名反映了工作日益复杂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1E1CB8AF-4A34-4F5D-A3B8-7B046D71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第2-3 类：准备、简单组装和辅助操作。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第4-5类：较复杂结构的制造和安装、精密装配。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第6-7 类：特别复杂的工作、修复、模板和质量控制。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指定具体操作时会考虑资格、培训和当地许可。</a:t>
            </a:r>
          </a:p>
        </p:txBody>
      </p:sp>
      <p:sp>
        <p:nvSpPr>
          <p:cNvPr id="4" name="Прямоугольник: скругленные углы 3">
            <a:extLst xmlns:a="http://schemas.openxmlformats.org/drawingml/2006/main">
              <a:ext uri="{FF2B5EF4-FFF2-40B4-BE49-F238E27FC236}">
                <a16:creationId xmlns:a16="http://schemas.microsoft.com/office/drawing/2014/main" id="{3CA1BB71-BE5A-4D60-89C9-76EC50E4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11B397E4-D584-4D3E-81CF-9614C1F9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BD4DF698-6F8F-4CD3-A183-819AC7E6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高级别不会凌驾于说明和风险评估之上。</a:t>
            </a:r>
          </a:p>
        </p:txBody>
      </p:sp>
      <p:sp>
        <p:nvSpPr>
          <p:cNvPr id="9" name="Прямая соединительная линия 8">
            <a:extLst xmlns:a="http://schemas.openxmlformats.org/drawingml/2006/main">
              <a:ext uri="{FF2B5EF4-FFF2-40B4-BE49-F238E27FC236}">
                <a16:creationId xmlns:a16="http://schemas.microsoft.com/office/drawing/2014/main" id="{50E619F9-21F2-4089-973C-B980F6A1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AB95390-F6DD-473B-BF23-C8AD9BB4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木匠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DF456E49-0595-46CA-90E2-2FA153CD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51b3f8d454450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7183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792390FA-A9F1-469D-8E39-CE13306C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5E57AEBE-4CB0-4B97-8E6F-1D92CA45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工作场所准备减少 风险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A45AF275-23C9-4F03-AD90-2399ED43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清除废物和妨碍稳定站立和自由活动的物体。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提供充足的照明、通风和紧急关闭通道。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放置材料和工具，使其不会拖过切割区域。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检查走道和逃生路线是否畅通。</a:t>
            </a:r>
          </a:p>
        </p:txBody>
      </p:sp>
      <p:pic>
        <p:nvPicPr>
          <p:cNvPr id="17" name="VISUAL_01_s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4113ec7ca44f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79F6B0C7-9458-4446-A0BF-A9708DA4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干净的地方是技术的一部分，而不是下班后的清洁。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A7F81FEE-5C77-419B-A249-B48E83C2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66CBD2A-0FE2-458B-B322-190A636F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木匠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A41801D-16A2-4170-880E-E666826D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88d97fd7e54b2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7608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8B71033B-3EF6-4A3E-8C58-5661FD07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A0576B46-3C9A-4AF7-B0DA-0621EAED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必须检查并固定工件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D6ED4432-8629-46CB-AF31-D0F698D3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去除或标记钉子、订书钉、石头、金属和碎片。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检查是否有裂纹、节疤、翘曲和纹理方向。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使用挡块、虎钳或夹具固定工件，而不损坏零件。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切割线和工具出口不得穿过手、支撑物或电缆。</a:t>
            </a:r>
          </a:p>
        </p:txBody>
      </p:sp>
      <p:pic>
        <p:nvPicPr>
          <p:cNvPr id="17" name="VISUAL_01_s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41b5ab21f8469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E0B04E89-644E-4112-9516-8687833F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手握住控制装置，而不是不稳定的工件。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843EACCA-2787-48A7-99A1-658F84C8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C582445-9B00-476E-AEA6-2B1E803A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木匠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3079ACB-C63C-4511-ACD8-15425BCC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3a7e9d27a9493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085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32CDDDCE-17B3-4D5C-9B71-E657C39E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1_s0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be9736e0e549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36CF325E-69EF-45A8-88F7-276F9CCF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075C6B1F-2314-48D9-8DA6-93BE4C42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9E0CFF7C-2875-493F-91BC-37A2FD58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安全技术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49B4F638-961B-4CE7-BB49-982EB535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每次操作都从稳定的位置和受控的刀具路径开始。</a:t>
            </a:r>
          </a:p>
        </p:txBody>
      </p:sp>
      <p:sp>
        <p:nvSpPr>
          <p:cNvPr id="9" name="Прямая соединительная линия 8">
            <a:extLst xmlns:a="http://schemas.openxmlformats.org/drawingml/2006/main">
              <a:ext uri="{FF2B5EF4-FFF2-40B4-BE49-F238E27FC236}">
                <a16:creationId xmlns:a16="http://schemas.microsoft.com/office/drawing/2014/main" id="{C98FA197-75A5-453B-9D4A-EDA41097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E3B3BB88-5E93-4162-BB90-F9E0FA3F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木匠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4132BA9-6694-4D49-80E5-921A071D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194b2fbd64cf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075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EBA480C2-AA32-4D5D-8140-D7CAC127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10AF65A1-43E0-4686-8DB4-69E59C46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沿自由线手动锯切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DB831EA7-632C-46D2-A37E-61F8447F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根据材料和切割类型选择合适的锯；锯条应完好并正确张紧。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先用短促的引导动作起锯，手指始终避开锯条运动线。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托住被切下的部分，防止其夹住锯条或突然断落。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不要朝自己身体方向推锯，也不要在锯条运动时用手清理锯齿。</a:t>
            </a:r>
          </a:p>
        </p:txBody>
      </p:sp>
      <p:pic>
        <p:nvPicPr>
          <p:cNvPr id="17" name="VISUAL_01_s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02aa81def445a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D02D0588-8FCD-4B87-8AE1-EB06F404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刀片前后切割线必须清晰。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5C08A0B4-7218-48FD-A3C7-27A76A4E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5ECD4C93-CB3E-456A-8417-A94F3B97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木匠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C6D2414-F071-49D5-B3D4-8A5106AB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b4e755debb4652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8018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AE431C7B-FDE3-4CB1-B9DE-BBAB594E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5ED21605-646A-44D9-9753-D41B6469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凿削和刨削应朝远离身体的方向进行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D71384C9-3307-4A1F-9D10-A63582C3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检查斧柄的紧固情况以及刨刃的状况。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固定工件，使其在被工具撞击或经过时不会移动。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将空着的手放在刀片路径之外，并远离可能打滑的区域。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停止后，使用刷子或设备清除切屑。</a:t>
            </a:r>
          </a:p>
        </p:txBody>
      </p:sp>
      <p:pic>
        <p:nvPicPr>
          <p:cNvPr id="17" name="VISUAL_01_s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54a6829431466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69F927B4-D39E-4174-AE67-A864FF50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工作路径不与工人的身体相交。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AF70691E-9E86-4D55-9C5C-2D399F05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E6A1759E-D8E3-4719-988D-365555F3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木匠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6741C8B-FAE7-44B0-BF0B-349B7DF7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d3a89a988f4ab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1169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A8E2FD86-47A6-4EBA-9581-C1DAA729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3A8B50A-B802-41AD-A953-44E102A8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凿子和锤子：良好的支撑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263B836A-2F7C-4054-97B2-26FD7ECD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凿子必须有完整的手柄和工作环；钝边可以安全地磨利。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请勿将切削刃指向手掌或将工件放在刀片前面。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对于锤子，检查撞针附件、楔入情况以及手柄上是否有裂纹。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以不会碰到手指的方式送入和固定紧固件。</a:t>
            </a:r>
          </a:p>
        </p:txBody>
      </p:sp>
      <p:sp>
        <p:nvSpPr>
          <p:cNvPr id="4" name="Прямоугольник: скругленные углы 3">
            <a:extLst xmlns:a="http://schemas.openxmlformats.org/drawingml/2006/main">
              <a:ext uri="{FF2B5EF4-FFF2-40B4-BE49-F238E27FC236}">
                <a16:creationId xmlns:a16="http://schemas.microsoft.com/office/drawing/2014/main" id="{7F3A762E-C540-4459-B772-219BC88A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92BBFA0F-FCF0-4211-9ACF-69E32649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9CB35B84-B31C-46A0-B35B-B8FA29F4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功能正常的手柄和适当的支撑可防止打滑。</a:t>
            </a:r>
          </a:p>
        </p:txBody>
      </p:sp>
      <p:sp>
        <p:nvSpPr>
          <p:cNvPr id="9" name="Прямая соединительная линия 8">
            <a:extLst xmlns:a="http://schemas.openxmlformats.org/drawingml/2006/main">
              <a:ext uri="{FF2B5EF4-FFF2-40B4-BE49-F238E27FC236}">
                <a16:creationId xmlns:a16="http://schemas.microsoft.com/office/drawing/2014/main" id="{70685DF7-BFFC-4AC1-B195-BD41752C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BC94E892-00B6-43C8-9813-0F39FD33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木匠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D7458B0-E0BF-4347-88B0-D6A2F5FD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6f935ce074df2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7296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14314511-D3A0-4ED2-8F1A-8FE0D13B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5471E668-F5A7-4D0F-8357-34EEF387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按图纸进行施工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5EECDD15-05BE-455B-A968-82D84508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在切割材料之前，根据工作文件检查标记和部件。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在结构稳定之前，不得拆除临时支撑和紧固件。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安装时，应就零件的供应顺序达成一致，并确保负载下无人。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向您的主管报告尺寸、湿度或材料质量的偏差。</a:t>
            </a:r>
          </a:p>
        </p:txBody>
      </p:sp>
      <p:pic>
        <p:nvPicPr>
          <p:cNvPr id="17" name="VISUAL_01_s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e96d438318476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6E19A659-C7A3-4BC9-AF31-130FA1D1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未经授权调整承载元件可能会改变其操作。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DAF4D435-824E-4A88-BFE3-81408D97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0B09CD3-EF20-4BD3-99F2-60AE8E74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木匠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C7CE6132-E579-4151-8438-48FA66FB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154193efb3431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0573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FB9BEA6F-D163-4BE1-86A6-9BF3C565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0935B50-667E-4C32-9BD1-E5A1A586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地板和开口的安全调整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3D780975-1D5E-4DAB-B30A-7499B85A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稳定地储存材料，不要堵塞通道或开口边缘。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在固定可靠的工作场所调整部件，而不是依靠重量。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在开口附近工作时，请使用提供的防护装置和安全通道。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使用合适的夹具以协调的方式移动玻璃、配件和重型元件。</a:t>
            </a:r>
          </a:p>
        </p:txBody>
      </p:sp>
      <p:sp>
        <p:nvSpPr>
          <p:cNvPr id="4" name="Прямоугольник: скругленные углы 3">
            <a:extLst xmlns:a="http://schemas.openxmlformats.org/drawingml/2006/main">
              <a:ext uri="{FF2B5EF4-FFF2-40B4-BE49-F238E27FC236}">
                <a16:creationId xmlns:a16="http://schemas.microsoft.com/office/drawing/2014/main" id="{6FD37536-3707-4929-836C-4CA44EB6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E671F67D-32BF-4217-AAE0-078E1FA7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A7455C35-1E29-41A6-A96B-E0CD675A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安装未封闭的开口需要单独的防坠落保护。</a:t>
            </a:r>
          </a:p>
        </p:txBody>
      </p:sp>
      <p:sp>
        <p:nvSpPr>
          <p:cNvPr id="9" name="Прямая соединительная линия 8">
            <a:extLst xmlns:a="http://schemas.openxmlformats.org/drawingml/2006/main">
              <a:ext uri="{FF2B5EF4-FFF2-40B4-BE49-F238E27FC236}">
                <a16:creationId xmlns:a16="http://schemas.microsoft.com/office/drawing/2014/main" id="{20862FDF-17C0-438E-A9EF-F51805B1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01160A29-3685-40E5-9ACB-822AE45C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规范：高处作业——第109号命令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0B1647B-FB5C-42DB-9D1F-C02FEF5E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木匠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A417637-B562-4548-AE39-45E84206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9b90b1eb434f4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864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E5EAE338-F110-4721-BEEE-47197D76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364B104-EAE1-45DD-A2CA-7C799D61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技术取决于工作领域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CF89B55C-C8CE-4068-91BF-4FC8B640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建筑工程：结构、模板、盖板、开口和临时构件。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精加工和家具：更精确的精加工、组装、配件和表面质量。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修复：保存现有材料和协调修复技术。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记录操作涉及单独的工作和风险组织。</a:t>
            </a:r>
          </a:p>
        </p:txBody>
      </p:sp>
      <p:sp>
        <p:nvSpPr>
          <p:cNvPr id="4" name="Прямоугольник: скругленные углы 3">
            <a:extLst xmlns:a="http://schemas.openxmlformats.org/drawingml/2006/main">
              <a:ext uri="{FF2B5EF4-FFF2-40B4-BE49-F238E27FC236}">
                <a16:creationId xmlns:a16="http://schemas.microsoft.com/office/drawing/2014/main" id="{71E301DC-E431-4D28-831F-5D214848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E0DA54CA-1517-4279-84AD-D6094153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CDB6B7B-35C7-4685-8C3C-1AB968D8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相同的工具不能使技术互换。</a:t>
            </a:r>
          </a:p>
        </p:txBody>
      </p:sp>
      <p:sp>
        <p:nvSpPr>
          <p:cNvPr id="9" name="Прямая соединительная линия 8">
            <a:extLst xmlns:a="http://schemas.openxmlformats.org/drawingml/2006/main">
              <a:ext uri="{FF2B5EF4-FFF2-40B4-BE49-F238E27FC236}">
                <a16:creationId xmlns:a16="http://schemas.microsoft.com/office/drawing/2014/main" id="{F43A04B9-45D7-4CC4-8735-2B781916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BCECB31-1BD8-4A94-8B04-B6048078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木匠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30080F4-9E57-4627-8688-101EEC0C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e291b31ed744f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2322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224BAC6E-E258-4C01-AA00-C1B0219D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1_s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8f1c3e40d6434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1EE5230A-B576-47F5-BC53-12BA4B40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208629E8-2832-4D3D-92DA-430C1BA4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CF353C49-8C2F-4754-89C1-823FD3CA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工具和风险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9B51E954-202B-4613-A0E7-C5A2E763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可维护性、合适的设备和安全装置比操作速度更重要。</a:t>
            </a:r>
          </a:p>
        </p:txBody>
      </p:sp>
      <p:sp>
        <p:nvSpPr>
          <p:cNvPr id="9" name="Прямая соединительная линия 8">
            <a:extLst xmlns:a="http://schemas.openxmlformats.org/drawingml/2006/main">
              <a:ext uri="{FF2B5EF4-FFF2-40B4-BE49-F238E27FC236}">
                <a16:creationId xmlns:a16="http://schemas.microsoft.com/office/drawing/2014/main" id="{19E8F559-F9DE-4271-A130-5DED88BD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FF524AF-0402-4929-B9A5-085A44E1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木匠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43AFA046-BA08-448D-BE04-FE8F6091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a9bbf27833485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3846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8DDAFC3E-11A0-4A5B-8D3F-CA27BA8D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EDCFB8E-22B0-43F5-9E00-50DAA003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工作前检查手动工具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5FCE04BD-4FE5-4ACD-82BC-2E968F27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工具与操作、零件尺寸和材料相匹配。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手柄完好、干燥且紧固；边缘和牙齿无裂纹或缺口。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防护罩和存储区域不会损坏切割部件。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有故障的工具被标记并停止使用。</a:t>
            </a:r>
          </a:p>
        </p:txBody>
      </p:sp>
      <p:pic>
        <p:nvPicPr>
          <p:cNvPr id="18" name="VISUAL_01_s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93dbc14cd4f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A9A47D10-F086-442F-A7B6-9BD23A9C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方便地更换工具会产生不可预测的负载。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78D2D896-2CBE-47F8-8D6C-DFC1A0DF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DD3952ED-FC53-4234-A1E3-113A7CD6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规范：工具安全——第204号命令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F195D56-EBF3-48B0-9D21-D51A0CDC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木匠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FB062D9-4E33-4ED5-8ADC-EA432615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73ef7d47e9400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45565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E881498A-94FF-4D08-90DD-42A46970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B6862D9-CD15-4201-A7F8-0B52826D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电动工具已用于其预期用途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21018B5A-4DDA-4AB5-9D41-7B1E560B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圆锯：防护良好，锯片合适，导向稳定，无侧压。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竖锯和刳刨机：固定工件、适当的设备、调整前完全停止。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钻头：正确夹紧钻头并防止零件旋转。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砂光机：适合工具、材料和允许速度的砂轮或砂带。</a:t>
            </a:r>
          </a:p>
        </p:txBody>
      </p:sp>
      <p:pic>
        <p:nvPicPr>
          <p:cNvPr id="18" name="VISUAL_01_s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4c1c228139495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68695593-F136-4D58-AA34-0882EEB7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更换设备前，应先关闭电源，并排除意外启动。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8F665187-3174-46A2-92AF-59D96717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0F0219F9-AB08-4003-B0A7-26969647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规范：工具安全——第204号命令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36C4853-F615-467B-A1AE-6EEAED44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木匠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BCCE750D-6ADA-4B34-8470-C2178909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24a62063e8429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2758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535FC0E9-73DF-44CF-BD87-85B3BF3E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1392265-EFEB-46D1-A3A6-B665AB12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不得绕过护栏和设备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8F2F3BEC-BFAD-45BA-A882-696A4E09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盖子和防护装置必须就位、可自由移动并覆盖危险部分。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电缆、插头、开关和外壳入口未损坏或有任何过热迹象。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圆盘、刀片、刀具或钻头的尺寸和制造商规格正确。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禁止自制适配器、锁定 开关和拆除保护装置。</a:t>
            </a:r>
          </a:p>
        </p:txBody>
      </p:sp>
      <p:pic>
        <p:nvPicPr>
          <p:cNvPr id="18" name="VISUAL_01_s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d4d10c22649e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AF0A70BA-A1DC-4AEB-98F2-2A263AC4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保护不会干扰工作 - 它限制接触危险能量。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261BD0DF-658C-44AF-A459-F83D1B16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268E9B9A-781F-494C-802F-4C582F4B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规范：工具安全——第204号命令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654D49CC-587F-4E49-9774-042A4DD0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木匠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0D0D857-9523-422D-838F-8E4516C9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941fc9419c411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0955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8E07682F-2E70-4B2E-8CA8-4F88331A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F1049FA1-0344-4E8F-9AB7-7204D4C6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故障表示停止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FE20C953-3971-42B3-A40C-254D9AC2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Прямоугольник: скругленные углы 3">
            <a:extLst xmlns:a="http://schemas.openxmlformats.org/drawingml/2006/main">
              <a:ext uri="{FF2B5EF4-FFF2-40B4-BE49-F238E27FC236}">
                <a16:creationId xmlns:a16="http://schemas.microsoft.com/office/drawing/2014/main" id="{5FCC0A0B-8681-40E4-BCAD-B98385E4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Прямая соединительная линия 5">
            <a:extLst xmlns:a="http://schemas.openxmlformats.org/drawingml/2006/main">
              <a:ext uri="{FF2B5EF4-FFF2-40B4-BE49-F238E27FC236}">
                <a16:creationId xmlns:a16="http://schemas.microsoft.com/office/drawing/2014/main" id="{08ACC252-0EA7-4E30-80C8-0317C5C2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C9EE63C0-C037-439B-ABA5-97DA83FC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火花、过热气味、异常噪音或振动。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盘、叶片或主体卡住、敲打、破裂。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自启动、开关或保护壳损坏。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电缆、插头、接地损坏或受潮。</a:t>
            </a:r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93056046-457C-4F78-BBCA-4D0158F6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禁用-指定-报告。未经授权请勿修理。</a:t>
            </a:r>
          </a:p>
        </p:txBody>
      </p:sp>
      <p:sp>
        <p:nvSpPr>
          <p:cNvPr id="11" name="Прямая соединительная линия 10">
            <a:extLst xmlns:a="http://schemas.openxmlformats.org/drawingml/2006/main">
              <a:ext uri="{FF2B5EF4-FFF2-40B4-BE49-F238E27FC236}">
                <a16:creationId xmlns:a16="http://schemas.microsoft.com/office/drawing/2014/main" id="{4994AA51-36B1-44CD-B58F-42B0EB84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334DCEEB-4403-4897-A97C-80CB71F5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规范：工具安全——第204号命令</a:t>
            </a:r>
          </a:p>
        </p:txBody>
      </p:sp>
      <p:sp>
        <p:nvSpPr>
          <p:cNvPr id="13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0A5B65D-E1FB-4663-93D9-C4F19320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木匠</a:t>
            </a:r>
          </a:p>
        </p:txBody>
      </p:sp>
      <p:sp>
        <p:nvSpPr>
          <p:cNvPr id="14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3705FF3-5D01-4874-A228-403254BF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pic>
        <p:nvPicPr>
          <p:cNvPr id="30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4d9fefa1b348a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7" name="STOP_SIGN">
            <a:extLst xmlns:a="http://schemas.openxmlformats.org/drawingml/2006/main">
              <a:ext uri="{FF2B5EF4-FFF2-40B4-BE49-F238E27FC236}">
                <a16:creationId xmlns:a16="http://schemas.microsoft.com/office/drawing/2014/main" id="{DDE9D41F-F78F-488B-B272-0D32F37D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停止</a:t>
            </a:r>
          </a:p>
        </p:txBody>
      </p:sp>
    </p:spTree>
    <p:extLst>
      <p:ext uri="{BB962C8B-B14F-4D97-AF65-F5344CB8AC3E}">
        <p14:creationId xmlns:p14="http://schemas.microsoft.com/office/powerpoint/2010/main" val="46779276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Прямоугольник 28">
            <a:extLst xmlns:a="http://schemas.openxmlformats.org/drawingml/2006/main">
              <a:ext uri="{FF2B5EF4-FFF2-40B4-BE49-F238E27FC236}">
                <a16:creationId xmlns:a16="http://schemas.microsoft.com/office/drawing/2014/main" id="{ED4C03F1-8F19-4246-B88C-51890FCB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ACBCEF85-1EB5-46E0-A16E-6A970F20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灰尘、噪音和切屑需要控制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7733910A-406C-4712-B85B-D1D2F995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风险 / 来源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4E34184E-7779-438D-9977-DD878E5B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结果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1973402E-4438-46E0-8ECD-17314866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控制措施</a:t>
            </a:r>
          </a:p>
        </p:txBody>
      </p:sp>
      <p:sp>
        <p:nvSpPr>
          <p:cNvPr id="6" name="Прямоугольник: скругленные углы 5">
            <a:extLst xmlns:a="http://schemas.openxmlformats.org/drawingml/2006/main">
              <a:ext uri="{FF2B5EF4-FFF2-40B4-BE49-F238E27FC236}">
                <a16:creationId xmlns:a16="http://schemas.microsoft.com/office/drawing/2014/main" id="{4D6D3273-4369-4772-A3E6-B3528253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D0E89325-4FE5-4FE7-86DC-7EB75557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木粉</a:t>
            </a:r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87396B99-A12D-4095-98A8-DC5D2ECC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刺激，能见度降低，消防员 风险</a:t>
            </a:r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B4BE0934-8B3C-43D8-B5FC-BF7E9AAB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局部清除、清洁、适当的呼吸防护</a:t>
            </a:r>
          </a:p>
        </p:txBody>
      </p:sp>
      <p:sp>
        <p:nvSpPr>
          <p:cNvPr id="10" name="Прямоугольник: скругленные углы 9">
            <a:extLst xmlns:a="http://schemas.openxmlformats.org/drawingml/2006/main">
              <a:ext uri="{FF2B5EF4-FFF2-40B4-BE49-F238E27FC236}">
                <a16:creationId xmlns:a16="http://schemas.microsoft.com/office/drawing/2014/main" id="{D898839C-CDF2-4F51-8955-D3A8D980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5F1310D6-B766-4AB4-907E-EF3FB7BB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噪音</a:t>
            </a:r>
          </a:p>
        </p:txBody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90F88AA8-88B9-4807-BFD6-AE2DCDB0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527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听力逐渐丧失</a:t>
            </a:r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7A2238CC-91FE-4BB0-B1A3-F23C12DA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功能性仪器、暴露限制、听力保护</a:t>
            </a:r>
          </a:p>
        </p:txBody>
      </p:sp>
      <p:sp>
        <p:nvSpPr>
          <p:cNvPr id="14" name="Прямоугольник: скругленные углы 13">
            <a:extLst xmlns:a="http://schemas.openxmlformats.org/drawingml/2006/main">
              <a:ext uri="{FF2B5EF4-FFF2-40B4-BE49-F238E27FC236}">
                <a16:creationId xmlns:a16="http://schemas.microsoft.com/office/drawing/2014/main" id="{2AA32AF0-8319-4622-A095-70F89DFF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DCC7F83A-033C-4F94-B975-7595EF23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碎片和碎片</a:t>
            </a:r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89EE5928-B4BE-4457-8D41-0E37C572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100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眼睛和皮肤损伤</a:t>
            </a:r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3C1FCDE7-7CA3-4C35-BED2-DEC4856C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100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防护罩，弹射方向，护眼</a:t>
            </a:r>
          </a:p>
        </p:txBody>
      </p:sp>
      <p:sp>
        <p:nvSpPr>
          <p:cNvPr id="18" name="Прямоугольник: скругленные углы 17">
            <a:extLst xmlns:a="http://schemas.openxmlformats.org/drawingml/2006/main">
              <a:ext uri="{FF2B5EF4-FFF2-40B4-BE49-F238E27FC236}">
                <a16:creationId xmlns:a16="http://schemas.microsoft.com/office/drawing/2014/main" id="{873A9AE0-5640-4761-92A0-1F0A95BA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30E6B301-22FE-47B4-839C-068C0584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废物</a:t>
            </a:r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A12BF260-B8C0-438D-8436-38F1E347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672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滑倒和火灾蔓延</a:t>
            </a:r>
          </a:p>
        </p:txBody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A8DCABAE-8FA7-402B-86D1-10164645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672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定期清洁、安全堆积</a:t>
            </a:r>
          </a:p>
        </p:txBody>
      </p:sp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5C65ECE8-92D7-4961-A7CD-E65ECEB0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灰尘从源头清除，而不是吹入工作区域。</a:t>
            </a:r>
          </a:p>
        </p:txBody>
      </p:sp>
      <p:sp>
        <p:nvSpPr>
          <p:cNvPr id="25" name="Прямая соединительная линия 24">
            <a:extLst xmlns:a="http://schemas.openxmlformats.org/drawingml/2006/main">
              <a:ext uri="{FF2B5EF4-FFF2-40B4-BE49-F238E27FC236}">
                <a16:creationId xmlns:a16="http://schemas.microsoft.com/office/drawing/2014/main" id="{90789FBE-9D86-4A40-AB94-8A88DA0E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6B5EEFE6-C648-4C75-8DE2-29EDD8FD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标准：消防安全规则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AB5D39B-3C64-4228-AF6A-B4DB3D6B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木匠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E1FDF37-2D44-44AA-A3FE-E4324A83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97edb4cbcc4c5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65893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6D670721-0A6A-4158-BF01-22A0FAEF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2D84E7F-00AF-4967-9F97-7F6C62ED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清洁 - 仅在完全停止后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4D02AB1B-35B9-4313-A9C6-47AFF74A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关闭电源，等待其完全停止并防止重新启动。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使用刷子、钩子或掸子清除切屑，而不是用手靠近切削部分。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根据说明检查紧固件、通风孔和设备状况。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将干燥工具和锋利部件存放在箱子或指定区域。</a:t>
            </a:r>
          </a:p>
        </p:txBody>
      </p:sp>
      <p:pic>
        <p:nvPicPr>
          <p:cNvPr id="18" name="VISUAL_01_s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d4797043fd4d2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4E8F306B-3006-4B7D-85CD-934C56F5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仅在危险能量被移除后才开始维护。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7AF8A746-DE06-4BCD-B708-8893BF3B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FEA6C51E-15E3-4EFC-9615-27C9C90E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规范：工具安全——第204号命令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5236FF23-EC3C-418F-9128-4F295C8B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木匠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4FA8DCEC-A96D-474D-9D21-A5038B06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1c43294fd44e7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59129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44095FF4-A3DF-483D-AF2E-8E6AA640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6475F29-B0C0-43C4-8FBC-D30E0DE6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PPE 根据实际风险选择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F17447B0-738F-4267-9D43-123235E9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眼睛保护 - 防止碎屑、灰尘和设备损坏；听力保护 - 防止噪音。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呼吸防护是对除尘和通风的补充，但不能替代。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鞋子和衣服应稳定且没有松动的部分。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请勿在可能被旋转部件夹住的地方使用宽松的手套。</a:t>
            </a:r>
          </a:p>
        </p:txBody>
      </p:sp>
      <p:pic>
        <p:nvPicPr>
          <p:cNvPr id="18" name="VISUAL_01_s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86855436444d6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651AE924-BD5C-447E-B8B8-50303BED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PPE是技术和组织措施后的最后一道防线。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792727B1-EAE7-49B4-ACDA-6DFEA2A6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69C3F487-50CB-40C9-BAAB-C105A641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规范：哈萨克斯坦共和国劳动法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EDFF39C-B7FB-407C-932F-79E8606C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木匠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4369D574-DEC9-4AE9-BE4F-2F60F956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c62bbb36e9418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76877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Прямоугольник 28">
            <a:extLst xmlns:a="http://schemas.openxmlformats.org/drawingml/2006/main">
              <a:ext uri="{FF2B5EF4-FFF2-40B4-BE49-F238E27FC236}">
                <a16:creationId xmlns:a16="http://schemas.microsoft.com/office/drawing/2014/main" id="{C1038A7F-F03C-4125-9255-D55F3615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4778BF8-484D-4B28-A412-8707C4AF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发生事件时，按照优先级采取行动</a:t>
            </a:r>
          </a:p>
        </p:txBody>
      </p:sp>
      <p:sp>
        <p:nvSpPr>
          <p:cNvPr id="3" name="Прямая соединительная линия 2">
            <a:extLst xmlns:a="http://schemas.openxmlformats.org/drawingml/2006/main">
              <a:ext uri="{FF2B5EF4-FFF2-40B4-BE49-F238E27FC236}">
                <a16:creationId xmlns:a16="http://schemas.microsoft.com/office/drawing/2014/main" id="{A0906B2E-30BC-438C-989F-125E7195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Овал 3">
            <a:extLst xmlns:a="http://schemas.openxmlformats.org/drawingml/2006/main">
              <a:ext uri="{FF2B5EF4-FFF2-40B4-BE49-F238E27FC236}">
                <a16:creationId xmlns:a16="http://schemas.microsoft.com/office/drawing/2014/main" id="{3CF736D1-139A-4235-8528-EEACAD3B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DB735D3B-0916-4101-B26A-D9EA8798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042A979C-FC13-46A5-BA0E-BAF29FCE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停止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296CC09C-58E1-442F-A9C7-86D22236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释放启动，关闭电源，请勿进入危险区域。</a:t>
            </a:r>
          </a:p>
        </p:txBody>
      </p:sp>
      <p:sp>
        <p:nvSpPr>
          <p:cNvPr id="8" name="Овал 7">
            <a:extLst xmlns:a="http://schemas.openxmlformats.org/drawingml/2006/main">
              <a:ext uri="{FF2B5EF4-FFF2-40B4-BE49-F238E27FC236}">
                <a16:creationId xmlns:a16="http://schemas.microsoft.com/office/drawing/2014/main" id="{2F2920B9-AA5D-4692-B6A5-45185F7E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5FB57AAE-7B76-4337-A393-CC12B2DC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B092EFF0-2147-4675-B2DA-7F29A377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保护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E9BC35E0-B4C4-4B1B-BF02-A350417C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警告人们，如有必要，拨打 112 和急救。</a:t>
            </a:r>
          </a:p>
        </p:txBody>
      </p:sp>
      <p:sp>
        <p:nvSpPr>
          <p:cNvPr id="12" name="Овал 11">
            <a:extLst xmlns:a="http://schemas.openxmlformats.org/drawingml/2006/main">
              <a:ext uri="{FF2B5EF4-FFF2-40B4-BE49-F238E27FC236}">
                <a16:creationId xmlns:a16="http://schemas.microsoft.com/office/drawing/2014/main" id="{DDF6B936-B24C-452F-ABA6-AE3D442E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9DB1BA1F-6DB7-4203-ACFE-E88F45B9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CC70962C-62B4-47B9-B630-8807CEB5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报告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0475B536-97FE-4448-A9A6-2FE55820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通知主管，在安全的情况下维持现状。</a:t>
            </a:r>
          </a:p>
        </p:txBody>
      </p:sp>
      <p:sp>
        <p:nvSpPr>
          <p:cNvPr id="16" name="Овал 15">
            <a:extLst xmlns:a="http://schemas.openxmlformats.org/drawingml/2006/main">
              <a:ext uri="{FF2B5EF4-FFF2-40B4-BE49-F238E27FC236}">
                <a16:creationId xmlns:a16="http://schemas.microsoft.com/office/drawing/2014/main" id="{835393D6-D308-48A7-BF99-5BB80F86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1B9A0D04-4AF0-48C9-B614-FEB2DEA9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B3DA6D99-53BA-4489-BDD2-25F8DB66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简历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56759EE4-6D7A-4F01-ACBD-986F05EA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排除原因并经负责人许可后。</a:t>
            </a:r>
          </a:p>
        </p:txBody>
      </p:sp>
      <p:sp>
        <p:nvSpPr>
          <p:cNvPr id="20" name="Прямоугольник: скругленные углы 19">
            <a:extLst xmlns:a="http://schemas.openxmlformats.org/drawingml/2006/main">
              <a:ext uri="{FF2B5EF4-FFF2-40B4-BE49-F238E27FC236}">
                <a16:creationId xmlns:a16="http://schemas.microsoft.com/office/drawing/2014/main" id="{F6B6CCC4-C17C-410D-A903-B797891F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00CCAB7A-71C7-4A79-9C5F-1521FAFE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BD7D8D25-B6FD-414A-AC30-7B3E105E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干扰、触电、设备损坏和火灾是立即停止的原因。</a:t>
            </a:r>
          </a:p>
        </p:txBody>
      </p:sp>
      <p:sp>
        <p:nvSpPr>
          <p:cNvPr id="25" name="Прямая соединительная линия 24">
            <a:extLst xmlns:a="http://schemas.openxmlformats.org/drawingml/2006/main">
              <a:ext uri="{FF2B5EF4-FFF2-40B4-BE49-F238E27FC236}">
                <a16:creationId xmlns:a16="http://schemas.microsoft.com/office/drawing/2014/main" id="{6FE12FFB-BFE4-44F3-9045-C42A8660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BE827D57-C383-430D-8F9F-09367829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规范：哈萨克斯坦共和国劳动法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0A6EAAB-04FF-49D5-8DE3-CC175D7E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木匠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97EC14B-A2B4-49DB-8178-DDB9AE63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f517be47fe41f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35430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098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HECKLIST_TITLE">
            <a:extLst xmlns:a="http://schemas.openxmlformats.org/drawingml/2006/main">
              <a:ext uri="{FF2B5EF4-FFF2-40B4-BE49-F238E27FC236}">
                <a16:creationId xmlns:a16="http://schemas.microsoft.com/office/drawing/2014/main" id="{4D0CD42A-C883-4FC6-A57F-1D183504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木匠的最终检查表</a:t>
            </a:r>
          </a:p>
        </p:txBody>
      </p:sp>
      <p:sp>
        <p:nvSpPr>
          <p:cNvPr id="2" name="Овал 1">
            <a:extLst xmlns:a="http://schemas.openxmlformats.org/drawingml/2006/main">
              <a:ext uri="{FF2B5EF4-FFF2-40B4-BE49-F238E27FC236}">
                <a16:creationId xmlns:a16="http://schemas.microsoft.com/office/drawing/2014/main" id="{E928C206-2AED-49F6-9D8D-DABC5E01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C50D99D9-CF85-4E31-B813-AD262A23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187AFA18-C454-4921-B29D-41243AA7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任务和技术明确；材料已经过检验。</a:t>
            </a:r>
          </a:p>
        </p:txBody>
      </p:sp>
      <p:sp>
        <p:nvSpPr>
          <p:cNvPr id="5" name="Овал 4">
            <a:extLst xmlns:a="http://schemas.openxmlformats.org/drawingml/2006/main">
              <a:ext uri="{FF2B5EF4-FFF2-40B4-BE49-F238E27FC236}">
                <a16:creationId xmlns:a16="http://schemas.microsoft.com/office/drawing/2014/main" id="{194DC14E-46FB-41CD-8C61-CAD1B98A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4C9CDDB0-7772-4342-8100-C734F255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CF5F149D-76A0-435A-A5E3-CA21BA7B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24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工作场所照明，通道畅通，工件固定。</a:t>
            </a:r>
          </a:p>
        </p:txBody>
      </p:sp>
      <p:sp>
        <p:nvSpPr>
          <p:cNvPr id="8" name="Овал 7">
            <a:extLst xmlns:a="http://schemas.openxmlformats.org/drawingml/2006/main">
              <a:ext uri="{FF2B5EF4-FFF2-40B4-BE49-F238E27FC236}">
                <a16:creationId xmlns:a16="http://schemas.microsoft.com/office/drawing/2014/main" id="{EA02E7FF-BF94-48E3-84F8-39CAC6E0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4F074794-DFE6-4856-BA13-49DD538E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86BB7BB9-F235-4BF8-804A-D02DA7AB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099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工具和设备运转良好，防护装置已安装。</a:t>
            </a:r>
          </a:p>
        </p:txBody>
      </p:sp>
      <p:sp>
        <p:nvSpPr>
          <p:cNvPr id="11" name="Овал 10">
            <a:extLst xmlns:a="http://schemas.openxmlformats.org/drawingml/2006/main">
              <a:ext uri="{FF2B5EF4-FFF2-40B4-BE49-F238E27FC236}">
                <a16:creationId xmlns:a16="http://schemas.microsoft.com/office/drawing/2014/main" id="{FD1FD7D0-D24F-48DA-988A-A17B2032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43998026-5F1D-4EAF-8079-45F27E93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75604780-A8C8-4A71-AB58-5873CC83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95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PPE；除尘、通风工作。</a:t>
            </a:r>
          </a:p>
        </p:txBody>
      </p:sp>
      <p:sp>
        <p:nvSpPr>
          <p:cNvPr id="14" name="Овал 13">
            <a:extLst xmlns:a="http://schemas.openxmlformats.org/drawingml/2006/main">
              <a:ext uri="{FF2B5EF4-FFF2-40B4-BE49-F238E27FC236}">
                <a16:creationId xmlns:a16="http://schemas.microsoft.com/office/drawing/2014/main" id="{DE3876AE-0514-4D81-B30F-5E311A20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A82D3724-FD5D-4725-90EF-CDC20CBF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B3C418EC-8899-493C-B00A-DEAC7C75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815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如果发生故障、条件变化或威胁，操作将停止。</a:t>
            </a:r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860DB556-EA56-454C-B527-F4DC1AFE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点击“开始测试”</a:t>
            </a:r>
          </a:p>
        </p:txBody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1CE80253-E00F-496D-B0ED-9B9F166F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578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更新日期：2026 年 8 月 21 日</a:t>
            </a:r>
          </a:p>
        </p:txBody>
      </p:sp>
      <p:pic>
        <p:nvPicPr>
          <p:cNvPr id="41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3285ca5656452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0823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2026-09-01T18:05:38.3260000Z</dcterms:created>
  <dcterms:modified xsi:type="dcterms:W3CDTF">2026-09-01T18:05:38.3260000Z</dcterms:modified>
</coreProperties>
</file>