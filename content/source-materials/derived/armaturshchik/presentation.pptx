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cbfbf6fadf49b4" /><Relationship Type="http://schemas.openxmlformats.org/officeDocument/2006/relationships/extended-properties" Target="/docProps/app.xml" Id="R2f5d78fd446b4f79" /><Relationship Type="http://schemas.openxmlformats.org/officeDocument/2006/relationships/officeDocument" Target="/ppt/presentation.xml" Id="R21eeb58f8e194a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40799848f2486e"/>
    <p:sldMasterId xmlns:r="http://schemas.openxmlformats.org/officeDocument/2006/relationships" id="2147483650" r:id="R751055ea0d03478b"/>
  </p:sldMasterIdLst>
  <p:sldIdLst>
    <p:sldId xmlns:r="http://schemas.openxmlformats.org/officeDocument/2006/relationships" id="256" r:id="R94ec4a6c2f90452a"/>
    <p:sldId xmlns:r="http://schemas.openxmlformats.org/officeDocument/2006/relationships" id="257" r:id="Rfdc5076bef794185"/>
    <p:sldId xmlns:r="http://schemas.openxmlformats.org/officeDocument/2006/relationships" id="258" r:id="R65cd9b6ca4b04f39"/>
    <p:sldId xmlns:r="http://schemas.openxmlformats.org/officeDocument/2006/relationships" id="259" r:id="Rf0767a99f7644cf9"/>
    <p:sldId xmlns:r="http://schemas.openxmlformats.org/officeDocument/2006/relationships" id="260" r:id="R5094f3358c6a4738"/>
    <p:sldId xmlns:r="http://schemas.openxmlformats.org/officeDocument/2006/relationships" id="261" r:id="R057affd60f564991"/>
    <p:sldId xmlns:r="http://schemas.openxmlformats.org/officeDocument/2006/relationships" id="262" r:id="R1b7ef1d8018f4f7d"/>
    <p:sldId xmlns:r="http://schemas.openxmlformats.org/officeDocument/2006/relationships" id="263" r:id="R03160d3382f440ad"/>
    <p:sldId xmlns:r="http://schemas.openxmlformats.org/officeDocument/2006/relationships" id="264" r:id="R6369d79ea8d24ec6"/>
    <p:sldId xmlns:r="http://schemas.openxmlformats.org/officeDocument/2006/relationships" id="265" r:id="R600c7710cc674775"/>
    <p:sldId xmlns:r="http://schemas.openxmlformats.org/officeDocument/2006/relationships" id="266" r:id="R1b3afcd60fbe499a"/>
    <p:sldId xmlns:r="http://schemas.openxmlformats.org/officeDocument/2006/relationships" id="267" r:id="R57b11f9b7cab4bde"/>
    <p:sldId xmlns:r="http://schemas.openxmlformats.org/officeDocument/2006/relationships" id="268" r:id="R2bc9a2e6fa934399"/>
    <p:sldId xmlns:r="http://schemas.openxmlformats.org/officeDocument/2006/relationships" id="269" r:id="R4abe25dfb5734384"/>
    <p:sldId xmlns:r="http://schemas.openxmlformats.org/officeDocument/2006/relationships" id="270" r:id="R6ab9dcd096934471"/>
    <p:sldId xmlns:r="http://schemas.openxmlformats.org/officeDocument/2006/relationships" id="271" r:id="R49609a5a80204b7d"/>
    <p:sldId xmlns:r="http://schemas.openxmlformats.org/officeDocument/2006/relationships" id="272" r:id="Raf00e155f5b849ce"/>
    <p:sldId xmlns:r="http://schemas.openxmlformats.org/officeDocument/2006/relationships" id="273" r:id="Rcc0241db5d3147b4"/>
    <p:sldId xmlns:r="http://schemas.openxmlformats.org/officeDocument/2006/relationships" id="274" r:id="R54437a50356e4452"/>
    <p:sldId xmlns:r="http://schemas.openxmlformats.org/officeDocument/2006/relationships" id="275" r:id="Rdd98b583245d4373"/>
    <p:sldId xmlns:r="http://schemas.openxmlformats.org/officeDocument/2006/relationships" id="276" r:id="R52783f0c9da64183"/>
    <p:sldId xmlns:r="http://schemas.openxmlformats.org/officeDocument/2006/relationships" id="277" r:id="Rd80af8e66d014d3c"/>
    <p:sldId xmlns:r="http://schemas.openxmlformats.org/officeDocument/2006/relationships" id="278" r:id="R85a0e2f33853423d"/>
    <p:sldId xmlns:r="http://schemas.openxmlformats.org/officeDocument/2006/relationships" id="279" r:id="R882b1cec9d7e4aa7"/>
    <p:sldId xmlns:r="http://schemas.openxmlformats.org/officeDocument/2006/relationships" id="280" r:id="Rfa5d92e4bdab4399"/>
    <p:sldId xmlns:r="http://schemas.openxmlformats.org/officeDocument/2006/relationships" id="281" r:id="R3658096432254983"/>
    <p:sldId xmlns:r="http://schemas.openxmlformats.org/officeDocument/2006/relationships" id="282" r:id="Rca83769786e44f69"/>
    <p:sldId xmlns:r="http://schemas.openxmlformats.org/officeDocument/2006/relationships" id="283" r:id="R6ff358e97f8e44d1"/>
    <p:sldId xmlns:r="http://schemas.openxmlformats.org/officeDocument/2006/relationships" id="284" r:id="R4518ddf70a074a49"/>
    <p:sldId xmlns:r="http://schemas.openxmlformats.org/officeDocument/2006/relationships" id="285" r:id="Rfdd7bbbd57bc444e"/>
    <p:sldId xmlns:r="http://schemas.openxmlformats.org/officeDocument/2006/relationships" id="286" r:id="Rff5a66dc603f40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8d2fda04ef44c5" /><Relationship Type="http://schemas.openxmlformats.org/officeDocument/2006/relationships/slideMaster" Target="/ppt/slideMasters/slideMaster1.xml" Id="R6340799848f2486e" /><Relationship Type="http://schemas.openxmlformats.org/officeDocument/2006/relationships/slideMaster" Target="/ppt/slideMasters/slideMaster2.xml" Id="R751055ea0d03478b" /><Relationship Type="http://schemas.openxmlformats.org/officeDocument/2006/relationships/presProps" Target="/ppt/presProps.xml" Id="Rdaf1c7a8c20f4c43" /><Relationship Type="http://schemas.openxmlformats.org/officeDocument/2006/relationships/tableStyles" Target="/ppt/tableStyles.xml" Id="R6edd749803b64ac8" /><Relationship Type="http://schemas.openxmlformats.org/officeDocument/2006/relationships/slide" Target="/ppt/slides/slide1.xml" Id="R94ec4a6c2f90452a" /><Relationship Type="http://schemas.openxmlformats.org/officeDocument/2006/relationships/slide" Target="/ppt/slides/slide2.xml" Id="Rfdc5076bef794185" /><Relationship Type="http://schemas.openxmlformats.org/officeDocument/2006/relationships/slide" Target="/ppt/slides/slide3.xml" Id="R65cd9b6ca4b04f39" /><Relationship Type="http://schemas.openxmlformats.org/officeDocument/2006/relationships/slide" Target="/ppt/slides/slide4.xml" Id="Rf0767a99f7644cf9" /><Relationship Type="http://schemas.openxmlformats.org/officeDocument/2006/relationships/slide" Target="/ppt/slides/slide5.xml" Id="R5094f3358c6a4738" /><Relationship Type="http://schemas.openxmlformats.org/officeDocument/2006/relationships/slide" Target="/ppt/slides/slide6.xml" Id="R057affd60f564991" /><Relationship Type="http://schemas.openxmlformats.org/officeDocument/2006/relationships/slide" Target="/ppt/slides/slide7.xml" Id="R1b7ef1d8018f4f7d" /><Relationship Type="http://schemas.openxmlformats.org/officeDocument/2006/relationships/slide" Target="/ppt/slides/slide8.xml" Id="R03160d3382f440ad" /><Relationship Type="http://schemas.openxmlformats.org/officeDocument/2006/relationships/slide" Target="/ppt/slides/slide9.xml" Id="R6369d79ea8d24ec6" /><Relationship Type="http://schemas.openxmlformats.org/officeDocument/2006/relationships/slide" Target="/ppt/slides/slide10.xml" Id="R600c7710cc674775" /><Relationship Type="http://schemas.openxmlformats.org/officeDocument/2006/relationships/slide" Target="/ppt/slides/slide11.xml" Id="R1b3afcd60fbe499a" /><Relationship Type="http://schemas.openxmlformats.org/officeDocument/2006/relationships/slide" Target="/ppt/slides/slide12.xml" Id="R57b11f9b7cab4bde" /><Relationship Type="http://schemas.openxmlformats.org/officeDocument/2006/relationships/slide" Target="/ppt/slides/slide13.xml" Id="R2bc9a2e6fa934399" /><Relationship Type="http://schemas.openxmlformats.org/officeDocument/2006/relationships/slide" Target="/ppt/slides/slide14.xml" Id="R4abe25dfb5734384" /><Relationship Type="http://schemas.openxmlformats.org/officeDocument/2006/relationships/slide" Target="/ppt/slides/slide15.xml" Id="R6ab9dcd096934471" /><Relationship Type="http://schemas.openxmlformats.org/officeDocument/2006/relationships/slide" Target="/ppt/slides/slide16.xml" Id="R49609a5a80204b7d" /><Relationship Type="http://schemas.openxmlformats.org/officeDocument/2006/relationships/slide" Target="/ppt/slides/slide17.xml" Id="Raf00e155f5b849ce" /><Relationship Type="http://schemas.openxmlformats.org/officeDocument/2006/relationships/slide" Target="/ppt/slides/slide18.xml" Id="Rcc0241db5d3147b4" /><Relationship Type="http://schemas.openxmlformats.org/officeDocument/2006/relationships/slide" Target="/ppt/slides/slide19.xml" Id="R54437a50356e4452" /><Relationship Type="http://schemas.openxmlformats.org/officeDocument/2006/relationships/slide" Target="/ppt/slides/slide20.xml" Id="Rdd98b583245d4373" /><Relationship Type="http://schemas.openxmlformats.org/officeDocument/2006/relationships/slide" Target="/ppt/slides/slide21.xml" Id="R52783f0c9da64183" /><Relationship Type="http://schemas.openxmlformats.org/officeDocument/2006/relationships/slide" Target="/ppt/slides/slide22.xml" Id="Rd80af8e66d014d3c" /><Relationship Type="http://schemas.openxmlformats.org/officeDocument/2006/relationships/slide" Target="/ppt/slides/slide23.xml" Id="R85a0e2f33853423d" /><Relationship Type="http://schemas.openxmlformats.org/officeDocument/2006/relationships/slide" Target="/ppt/slides/slide24.xml" Id="R882b1cec9d7e4aa7" /><Relationship Type="http://schemas.openxmlformats.org/officeDocument/2006/relationships/slide" Target="/ppt/slides/slide25.xml" Id="Rfa5d92e4bdab4399" /><Relationship Type="http://schemas.openxmlformats.org/officeDocument/2006/relationships/slide" Target="/ppt/slides/slide26.xml" Id="R3658096432254983" /><Relationship Type="http://schemas.openxmlformats.org/officeDocument/2006/relationships/slide" Target="/ppt/slides/slide27.xml" Id="Rca83769786e44f69" /><Relationship Type="http://schemas.openxmlformats.org/officeDocument/2006/relationships/slide" Target="/ppt/slides/slide28.xml" Id="R6ff358e97f8e44d1" /><Relationship Type="http://schemas.openxmlformats.org/officeDocument/2006/relationships/slide" Target="/ppt/slides/slide29.xml" Id="R4518ddf70a074a49" /><Relationship Type="http://schemas.openxmlformats.org/officeDocument/2006/relationships/slide" Target="/ppt/slides/slide30.xml" Id="Rfdd7bbbd57bc444e" /><Relationship Type="http://schemas.openxmlformats.org/officeDocument/2006/relationships/slide" Target="/ppt/slides/slide31.xml" Id="Rff5a66dc603f40aa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ee2db0ac14d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3520551c60942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c57f6c42604032" /><Relationship Type="http://schemas.openxmlformats.org/officeDocument/2006/relationships/slideLayout" Target="/ppt/slideLayouts/slideLayout1.xml" Id="R1201baf45312430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fb7f21695e74cd0" /><Relationship Type="http://schemas.openxmlformats.org/officeDocument/2006/relationships/slideLayout" Target="/ppt/slideLayouts/slideLayout2.xml" Id="R6ffd5fe82e1f40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01baf4531243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Work Safety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6ffd5fe82e1f40bf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93641234f74270" /><Relationship Type="http://schemas.openxmlformats.org/officeDocument/2006/relationships/image" Target="/ppt/media/image.jpeg" Id="R1f4f157615414f17" /><Relationship Type="http://schemas.openxmlformats.org/officeDocument/2006/relationships/image" Target="/ppt/media/image.png" Id="Ra882fd0249c545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ed08408e134709" /><Relationship Type="http://schemas.openxmlformats.org/officeDocument/2006/relationships/image" Target="/ppt/media/image2.png" Id="Rd9a1bf7dfaeb44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e959d2b58044c3" /><Relationship Type="http://schemas.openxmlformats.org/officeDocument/2006/relationships/image" Target="/ppt/media/image3.png" Id="Rf1d38f92cd784c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a608db335145c7" /><Relationship Type="http://schemas.openxmlformats.org/officeDocument/2006/relationships/image" Target="/ppt/media/image2.jpeg" Id="R1101778361254d25" /><Relationship Type="http://schemas.openxmlformats.org/officeDocument/2006/relationships/image" Target="/ppt/media/image4.png" Id="R009730f09a924b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d742d8c97e43db" /><Relationship Type="http://schemas.openxmlformats.org/officeDocument/2006/relationships/image" Target="/ppt/media/image5.png" Id="R47f814a20ffc47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24c5acea14459c" /><Relationship Type="http://schemas.openxmlformats.org/officeDocument/2006/relationships/image" Target="/ppt/media/image6.png" Id="Ra31934ab833449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8b65cac7814a1f" /><Relationship Type="http://schemas.openxmlformats.org/officeDocument/2006/relationships/image" Target="/ppt/media/image3.jpeg" Id="Rafd86bf3b7be4e31" /><Relationship Type="http://schemas.openxmlformats.org/officeDocument/2006/relationships/image" Target="/ppt/media/image7.png" Id="R832036303a294c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bd22de09124d4a" /><Relationship Type="http://schemas.openxmlformats.org/officeDocument/2006/relationships/image" Target="/ppt/media/image4.jpeg" Id="R70f22caa26ec4908" /><Relationship Type="http://schemas.openxmlformats.org/officeDocument/2006/relationships/image" Target="/ppt/media/image8.png" Id="R7bfb1d6748c041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4ab01f36214d92" /><Relationship Type="http://schemas.openxmlformats.org/officeDocument/2006/relationships/image" Target="/ppt/media/image5.jpeg" Id="Re79666fa0f5b4c9d" /><Relationship Type="http://schemas.openxmlformats.org/officeDocument/2006/relationships/image" Target="/ppt/media/image9.png" Id="R1b8922a16fc849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9dac3c432240b5" /><Relationship Type="http://schemas.openxmlformats.org/officeDocument/2006/relationships/image" Target="/ppt/media/image6.jpeg" Id="R18aa1678d3f74442" /><Relationship Type="http://schemas.openxmlformats.org/officeDocument/2006/relationships/image" Target="/ppt/media/image10.png" Id="R6668d857f1fb49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57847c9c0d4bdc" /><Relationship Type="http://schemas.openxmlformats.org/officeDocument/2006/relationships/image" Target="/ppt/media/image11.png" Id="Rc288b5a2083e47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0e2ee3a0ec4881" /><Relationship Type="http://schemas.openxmlformats.org/officeDocument/2006/relationships/image" Target="/ppt/media/image7.jpeg" Id="R2a48ebcd5d224954" /><Relationship Type="http://schemas.openxmlformats.org/officeDocument/2006/relationships/image" Target="/ppt/media/image12.png" Id="R161d15f5726843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2c2767df764d80" /><Relationship Type="http://schemas.openxmlformats.org/officeDocument/2006/relationships/image" Target="/ppt/media/image8.jpeg" Id="Rf798333ff05741a9" /><Relationship Type="http://schemas.openxmlformats.org/officeDocument/2006/relationships/image" Target="/ppt/media/image13.png" Id="R129b7d7acfee4d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8eab6ebf844b8a" /><Relationship Type="http://schemas.openxmlformats.org/officeDocument/2006/relationships/image" Target="/ppt/media/image14.png" Id="R49d86e004d5245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63fd29f17946b2" /><Relationship Type="http://schemas.openxmlformats.org/officeDocument/2006/relationships/image" Target="/ppt/media/image9.jpeg" Id="Rbef8490be943490f" /><Relationship Type="http://schemas.openxmlformats.org/officeDocument/2006/relationships/image" Target="/ppt/media/image15.png" Id="Rc0dbca304ff84e5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a7329d7dd44e38" /><Relationship Type="http://schemas.openxmlformats.org/officeDocument/2006/relationships/image" Target="/ppt/media/image16.png" Id="Re240549b782147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1a998343fc4184" /><Relationship Type="http://schemas.openxmlformats.org/officeDocument/2006/relationships/image" Target="/ppt/media/image10.jpeg" Id="R34abd0009cb2477b" /><Relationship Type="http://schemas.openxmlformats.org/officeDocument/2006/relationships/image" Target="/ppt/media/image17.png" Id="R3167dbe9e74845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7fe2aaa3d84b4d" /><Relationship Type="http://schemas.openxmlformats.org/officeDocument/2006/relationships/image" Target="/ppt/media/image11.jpeg" Id="R7f6fea704efc420d" /><Relationship Type="http://schemas.openxmlformats.org/officeDocument/2006/relationships/image" Target="/ppt/media/image18.png" Id="Rf501207e3cfe4f8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7836c308af456c" /><Relationship Type="http://schemas.openxmlformats.org/officeDocument/2006/relationships/image" Target="/ppt/media/image12.jpeg" Id="R91ebd3a3911f487c" /><Relationship Type="http://schemas.openxmlformats.org/officeDocument/2006/relationships/image" Target="/ppt/media/image19.png" Id="R88726e01dde643c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03cc40ee0c4342" /><Relationship Type="http://schemas.openxmlformats.org/officeDocument/2006/relationships/image" Target="/ppt/media/image20.png" Id="Raef59ea3c07244d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1f145c5ca04821" /><Relationship Type="http://schemas.openxmlformats.org/officeDocument/2006/relationships/image" Target="/ppt/media/image13.jpeg" Id="Rf666554ad75a45bf" /><Relationship Type="http://schemas.openxmlformats.org/officeDocument/2006/relationships/image" Target="/ppt/media/image21.png" Id="R673acdbaa90a4dd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38d17626e747eb" /><Relationship Type="http://schemas.openxmlformats.org/officeDocument/2006/relationships/image" Target="/ppt/media/image14.jpeg" Id="Rf760c82733e34e75" /><Relationship Type="http://schemas.openxmlformats.org/officeDocument/2006/relationships/image" Target="/ppt/media/image22.png" Id="R1bbe43f455ef4f5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8dd7db90074e04" /><Relationship Type="http://schemas.openxmlformats.org/officeDocument/2006/relationships/image" Target="/ppt/media/image23.png" Id="R720635128cdb4c3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d0bccf86174117" /><Relationship Type="http://schemas.openxmlformats.org/officeDocument/2006/relationships/image" Target="/ppt/media/image24.png" Id="R592a59d6a31d41d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bb0dd54e7140cb" /><Relationship Type="http://schemas.openxmlformats.org/officeDocument/2006/relationships/image" Target="/ppt/media/image25.png" Id="R2b5a99b4a831494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79ff4541a04a3d" /><Relationship Type="http://schemas.openxmlformats.org/officeDocument/2006/relationships/image" Target="/ppt/media/image15.jpeg" Id="R77693b489f2844a4" /><Relationship Type="http://schemas.openxmlformats.org/officeDocument/2006/relationships/image" Target="/ppt/media/image26.png" Id="R9e7f96f5ee13408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383c5bce714bf0" /><Relationship Type="http://schemas.openxmlformats.org/officeDocument/2006/relationships/image" Target="/ppt/media/image16.jpeg" Id="Rebc1dff66b8d4ad0" /><Relationship Type="http://schemas.openxmlformats.org/officeDocument/2006/relationships/image" Target="/ppt/media/image27.png" Id="R699a8fc40a82447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e50a88bdfd4963" /><Relationship Type="http://schemas.openxmlformats.org/officeDocument/2006/relationships/image" Target="/ppt/media/image17.jpeg" Id="Rf052303d1bf44bfc" /><Relationship Type="http://schemas.openxmlformats.org/officeDocument/2006/relationships/image" Target="/ppt/media/image28.png" Id="R82b954f26f86407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9ed89dcc764be0" /><Relationship Type="http://schemas.openxmlformats.org/officeDocument/2006/relationships/image" Target="/ppt/media/image18.jpeg" Id="R2f4f12a14e5b4400" /><Relationship Type="http://schemas.openxmlformats.org/officeDocument/2006/relationships/image" Target="/ppt/media/image29.png" Id="Rc867fa2143cd491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5ef49ab3484753" /><Relationship Type="http://schemas.openxmlformats.org/officeDocument/2006/relationships/image" Target="/ppt/media/image30.png" Id="R9a3302774e91438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101adbfcfd4a67" /><Relationship Type="http://schemas.openxmlformats.org/officeDocument/2006/relationships/image" Target="/ppt/media/image31.png" Id="Rc0c088f321a546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C0357-5236-410E-B5B0-CB653A42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VISUAL_02_s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f157615414f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24750" y="1104900"/>
            <a:ext cx="4095750" cy="47625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05A4C-D100-460C-9827-5434BBBB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049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_KICKER">
            <a:extLst xmlns:a="http://schemas.openxmlformats.org/drawingml/2006/main">
              <a:ext uri="{FF2B5EF4-FFF2-40B4-BE49-F238E27FC236}">
                <a16:creationId xmlns:a16="http://schemas.microsoft.com/office/drawing/2014/main" id="{D53F21A1-2F8C-435D-A8B2-4188473F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УЧЕБНЫЙ КУРС</a:t>
            </a:r>
          </a:p>
        </p:txBody>
      </p:sp>
      <p:sp>
        <p:nvSpPr>
          <p:cNvPr id="5" name="DECK_TITLE">
            <a:extLst xmlns:a="http://schemas.openxmlformats.org/drawingml/2006/main">
              <a:ext uri="{FF2B5EF4-FFF2-40B4-BE49-F238E27FC236}">
                <a16:creationId xmlns:a16="http://schemas.microsoft.com/office/drawing/2014/main" id="{2E2EE2C6-6BF8-4C37-B454-A6416022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65ACF-CAAF-434E-B22B-743E5CEE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K_SUBTITLE">
            <a:extLst xmlns:a="http://schemas.openxmlformats.org/drawingml/2006/main">
              <a:ext uri="{FF2B5EF4-FFF2-40B4-BE49-F238E27FC236}">
                <a16:creationId xmlns:a16="http://schemas.microsoft.com/office/drawing/2014/main" id="{3A9719E9-CB1B-47CA-8791-938CBDB7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5D625F"/>
                </a:solidFill>
                <a:latin typeface="Arial"/>
                <a:ea typeface="Arial"/>
                <a:cs typeface="Arial"/>
              </a:rPr>
              <a:t>Технология, качество и безопасное выполнение арматурных работ</a:t>
            </a:r>
          </a:p>
        </p:txBody>
      </p:sp>
      <p:sp>
        <p:nvSpPr>
          <p:cNvPr id="8" name="DECK_AUDIENCE">
            <a:extLst xmlns:a="http://schemas.openxmlformats.org/drawingml/2006/main">
              <a:ext uri="{FF2B5EF4-FFF2-40B4-BE49-F238E27FC236}">
                <a16:creationId xmlns:a16="http://schemas.microsoft.com/office/drawing/2014/main" id="{3553A45A-7A2A-41B2-9451-EA55C985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25F"/>
                </a:solidFill>
                <a:latin typeface="Arial"/>
                <a:ea typeface="Arial"/>
                <a:cs typeface="Arial"/>
              </a:rPr>
              <a:t>Учебный курс для рабочих и линейного персонала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D2445-6DB4-469B-B390-28906465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215B88B-19A7-4D68-AC62-4FA4195D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AFE8735-1E0B-4B5A-BCFF-FFA7123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2fd0249c5456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690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587DF6-8372-447B-809C-BA138A36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5F7721F-5C28-496B-A7DE-0DC80410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После курса работник сможет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06753266-04A9-437C-9F60-769383C2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0FEEF-1C8D-4230-9421-4B464052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D25142DC-EC74-4D0B-A848-320C4179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Подготовить материал, инструмент и рабочую зону по проекту и заданию.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934DA8A0-E93E-4E2B-82B2-32C378B8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19EEB-5A53-408B-B03F-E6DEF9D6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DB87B45A-B020-4027-A70D-59475D5C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Безопасно выполнить правку, резку, гибку, вязку и сборку каркаса.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B5985B86-6107-4E91-8F09-6639761A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8B10D-5185-4E93-A2D9-0685C8AA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BB4F5B62-EC69-4CBD-971A-39D70069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Различать способы соединения и не подменять проектное решение.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F19A4199-EF70-445A-9043-DADF8810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F8C38-263F-4544-87F7-079C54AF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E8F25FCA-15F8-4333-946E-F379C42C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Проверить качество, распознать опасное условие и остановить работу.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DEDB0-DDC4-42F6-8900-F96A9259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BE5DF-F3F0-4C38-A6BB-2608054A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B408602-F59E-48AE-9AC0-B2B6D990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71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Арматура работает в конструкции только при точном положении и надёжном соединении.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BDCFB8-A122-40DE-8B07-16D1444A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A6768B7-7A90-4CF0-97FA-B248B293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2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1844978-4573-4096-B402-A06FAAFE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1bf7dfaeb444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599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1A3AA8-6182-4F30-B756-683CD6B0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1F9DACD-C984-462F-BED4-6BBD90F6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Логика курса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2D56CFB6-BC26-452D-BB62-89ED6D63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3DBEB-2635-4D84-A274-D00E4EA9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01B7F3B4-A814-4AC0-BBC9-40F0D12D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Материалы, проект и подготовка.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6A3659E1-D4CF-44FD-B01C-3F57C10D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21BA3-750F-4D17-B654-489F96EC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0D7624C9-3D79-43B8-8853-5AB5D43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52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Технологическая последовательность.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E9FA4B90-4772-49E7-8CBB-8EA6068E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7A04C-7337-4881-B040-3C0EAC1B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6A1E9526-A696-4A98-B50F-8072135D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Соединения и установка каркаса.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48C5A4D6-8765-48FE-97AF-D9ECAAE6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471A9-91E2-4ED7-B976-BECF11CC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271F0722-4F0D-4B20-AA55-FA5ADEC5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Контроль качества и типовые дефекты.</a:t>
            </a:r>
          </a:p>
        </p:txBody>
      </p:sp>
      <p:sp>
        <p:nvSpPr>
          <p:cNvPr id="15" name="LIST_NUMBER_5">
            <a:extLst xmlns:a="http://schemas.openxmlformats.org/drawingml/2006/main">
              <a:ext uri="{FF2B5EF4-FFF2-40B4-BE49-F238E27FC236}">
                <a16:creationId xmlns:a16="http://schemas.microsoft.com/office/drawing/2014/main" id="{F6B62691-5C08-4E53-B0E3-46AB98E9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C381A-60E7-4CE5-BEA1-D0488678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7" name="LIST_ITEM_5">
            <a:extLst xmlns:a="http://schemas.openxmlformats.org/drawingml/2006/main">
              <a:ext uri="{FF2B5EF4-FFF2-40B4-BE49-F238E27FC236}">
                <a16:creationId xmlns:a16="http://schemas.microsoft.com/office/drawing/2014/main" id="{34A8A596-0E2F-4898-96D2-A2EF8857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Риски, СИЗ и условия остановки.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D84487-87EC-417A-BEAE-B4868147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29527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C89EA-1FCF-4AE9-904A-A95C90E8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КУРС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DFB96C-BFBD-4724-84DD-F89FADE6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смысловых блоков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15E8F7-91E0-4A0E-B60C-44193D92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A7CA4CF-6FBE-49EA-89E0-21BB3435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2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543B9FB-3A55-4E96-A458-8E28665A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38f92cd784c9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29" name="AGENDA_COUNT_CIRCLE">
            <a:extLst xmlns:a="http://schemas.openxmlformats.org/drawingml/2006/main">
              <a:ext uri="{FF2B5EF4-FFF2-40B4-BE49-F238E27FC236}">
                <a16:creationId xmlns:a16="http://schemas.microsoft.com/office/drawing/2014/main" id="{0CFC697B-442A-4C80-BB0F-4DFB8D4E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861699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37FAF-7E92-4E9A-ADC7-D6A19730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2_s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1778361254d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08821389-2DFD-4CDD-ADC4-EE329522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5BB48-1E87-40C9-B2F3-F9809151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BC38C373-BA70-4712-940C-3231FE7B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Задание, материал и подготовка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C8A4101D-9671-4171-8DCE-7113E1E0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До обработки нужно понять проект, организовать перемещение и исключить самовольные замены.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00B66-0DAF-45DE-9E57-5E398643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4CEB7BE-3965-4A1D-A69F-96891E2C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823C054-D865-492B-87E9-A72F664F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730f09a924b9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859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4B633-FDAF-4655-8709-F5DB58F7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C6D88A7-5526-4A22-82A6-549787BF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Арматура формирует силовую схему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8FF12-CAF6-458E-85DA-60EDDB12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Арматурщик заготавливает, собирает и устанавливает элементы усиления железобетонных конструкций.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Работа связана с проектными размерами, положением стержней, соединениями и защитным слоем.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Изменение диаметра, шага, формы или способа соединения выполняют только по согласованному решению.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Готовность каркаса подтверждается контролем до бетонирования.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58B10-093C-4393-A51D-458EEF70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443C2-FA08-42A1-826B-93C3A8A2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0FE69C3-9653-489C-821F-FF32CE85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Скрытая после бетонирования ошибка должна быть выявлена заранее.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2390B-BBBC-4DBB-8130-1B8D9F6F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737D1D8-9129-4E09-8A0D-C1A3E558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612DDD1-7D76-4DBD-8009-59E7E960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814a20ffc47c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599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1E8DE-ED94-4E49-93D4-462D51EA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E8E9DF8-F75D-4668-BE33-08F10131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Сложность работ растёт вместе с разрядом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9DFDD-EA2B-4D0B-9868-F3FEB344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2–3-й разряды: простая подготовка, правка, резка, вязка и помощь при сборке.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4–5-й разряды: сложные каркасы, установка, соединения и чтение рабочих схем.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6–7-й разряды: особо сложные пространственные каркасы и ответственные конструкции.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Фактическое поручение зависит от квалификации, допуска и технологии на объекте.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77158-24A8-4BFB-9684-E09EF39A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55C95-D147-4F6B-880F-1970FC7B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AAACD16-D615-42CF-8095-227713F5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Разряд подтверждает компетенцию, но не заменяет проект и инструктаж.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CD6DC-4CEB-40FD-8281-2C3F1C35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F224BFF-2191-48BE-B6C9-9112551B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2E17123-8076-4190-97B6-0B0F239A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934ab833449a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6186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E9B77-C9D4-44CB-A878-CA45F7E4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7408D4B-18AD-4F46-9F70-359EECEF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Материал идентифицируют до обработки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2B660-41F7-47A6-8A87-5F2C0703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Проверяют маркировку партии, диаметр, профиль, состояние поверхности и документы поставки.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Стержни, сетки, проволоку, фиксаторы и соединительные элементы хранят раздельно и устойчиво.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Сильную коррозию, загрязнение, деформацию и несоответствие проекту фиксируют до работы.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Неподтверждённую замену материала не используют.</a:t>
            </a:r>
          </a:p>
        </p:txBody>
      </p:sp>
      <p:pic>
        <p:nvPicPr>
          <p:cNvPr id="17" name="VISUAL_02_s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86bf3b7be4e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EFC6BD82-B586-480C-9701-1A2E9D46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Марка и диаметр определяются проектом, а не наличием на складе.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46AEB-A63B-411B-BDDC-0B21816B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773D7E6-4C31-4542-8FA2-4007ED72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009BB77-432A-474C-B960-3A8D7E86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036303a294ce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4286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2DB26-2B6E-4E15-AB7C-F9A0E8D9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3315423-A20D-46D2-90EF-610AE7D2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Проект задаёт форму и положение каркаса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0811F-AAA0-49B1-B2AB-724ECE16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До начала уточняют чертёж, спецификацию, монтажную схему, последовательность и контрольные точки.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Разметку выполняют от установленной базы, проверяя единицы измерения и привязки.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Неясный узел, конфликт размеров или отсутствующий элемент передают руководителю.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Рабочее место готовят под конкретные операции и безопасное перемещение заготовок.</a:t>
            </a:r>
          </a:p>
        </p:txBody>
      </p:sp>
      <p:pic>
        <p:nvPicPr>
          <p:cNvPr id="17" name="VISUAL_02_s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22caa26ec49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9EF09CC-AE07-44EB-8673-EC2C7E60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Сомнение в чертеже решают до резки и гибки.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492CB-8D81-4773-9D68-69CFD7B1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A1E14F4-B4E9-462E-8CC3-B2C7C8A1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E9C9F1C-AFA3-4F0E-A0EB-84320F66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b1d6748c0419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14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D1C14-D78B-4D61-AFA3-A1466863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373760F-4517-4BAE-9AE7-6685F89A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Складирование исключает скатывание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92B99-90A4-4D97-A05F-F9476088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Пакеты размещают на устойчивых подкладках с упорами и сохраняют маркировку.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Проходы, подъезд, места строповки и зоны работы механизмов оставляют свободными.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Ручное перемещение планируют по массе, длине и числу работников; длинный стержень несут согласованно.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Под поднятым пакетом и между грузом и неподвижным предметом не находятся.</a:t>
            </a:r>
          </a:p>
        </p:txBody>
      </p:sp>
      <p:pic>
        <p:nvPicPr>
          <p:cNvPr id="17" name="VISUAL_02_s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666fa0f5b4c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23422037-D652-4185-BB4D-1EC15C9E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До подъёма определите маршрут, команду и безопасное место укладки.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8A47A-FD18-4D5C-9D71-BFDA2A7E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020CD3F-B8BA-46E7-ABD8-4F082C63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58455B3-0AB2-4E8E-9164-54EDD2C4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922a16fc849a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722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4C507-F587-44EB-92CF-9EBE70F9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2_s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a1678d3f744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718BF4C8-F861-4168-8DC9-06F8A3AE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F8BAC-3E21-42E1-AA50-669702B4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8A358DB5-2DB2-4F30-96F6-2C4B3B81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Заготовка и сборка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923A0BBD-2B4C-4D17-B679-C7F8A126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Технологическая последовательность сохраняет размеры, качество и контроль опасной энергии.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D7A3F-F97A-42B5-A1B7-EA541E48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D02F3C9-08BA-4FB0-8E89-94A68A7A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0F91C06-C208-40D7-A67A-1429FEC2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8d857f1fb493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689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1374C6-A205-479D-9442-9DA793BB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5D9ED9F-3DCD-4C9A-862B-2CBBAE7B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Правка и очистка предшествуют разметке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16FFE-75DC-4F8C-9FC3-23FDADCD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C584B-10B1-44E6-AEAA-8EB7283A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996A1AA-1F57-41FE-A29E-FE358E8A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DA30749F-EA5D-449D-8BB9-DE1A37F8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Осмотреть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3127E3D5-8A05-49B6-95E7-66A615AA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Определить деформацию, загрязнение и состояние поверхности.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41591-233B-4261-B9DA-48DB9F1B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0C7BC44B-F29E-404D-9BF1-5C201A9D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0351D723-FB0C-41AF-A1CB-9916BF0B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Закрепить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BFD30566-31C2-40D2-8BDB-2ABB0B69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Установить материал и защитные устройства оборудования.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78C5B-1D98-45CC-AF50-37AFC6B4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B4D70871-C35C-4DC9-BC64-E9051506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825411D0-F861-4E54-BDC7-4BC97C53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Выправить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B5D54AD6-3014-4D47-8D64-9DE727B0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Работать штатным способом без рывков и нахождения в линии натяжения.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79245-EF5F-444C-8435-FE6D0473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4DD9609B-BC58-44DF-8D55-0C4533DF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662DB4CC-CC90-46AE-9D24-AA36AE4C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BE8464B2-58C9-4651-90E4-3E5E05BD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Сверить прямолинейность и пригодность к дальнейшей операции.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1C895-94FF-4E88-B6EE-94289CE1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D03FD9-3BA5-4830-9C55-92B0BE0D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8FBA63E-809C-426D-B22B-6E7F1BC6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Ручная правка длинного стержня без устойчивой опоры опасна.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90AFEC-5A77-458B-AD1E-F6A3132F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C9853DB-8450-4E42-AF80-62039C94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FD65C5C-87A3-4A03-88A9-1D1E38A1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8b5a2083e47b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9005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E39CEC-091E-47C0-9283-70484183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254065D-1E64-4AD1-95E5-9D6BF970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Измерение и резка идут от одной базы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61EE4-ADFA-46FA-95B8-38D0FAD4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Разметку сверяют со спецификацией и учитывают форму детали после гибки.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Заготовку фиксируют; зона отлёта отрезка и искр освобождается от людей и горючих материалов.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Оснастка соответствует диаметру, материалу и допустимым параметрам оборудования.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Измеренный элемент после резки идентифицируют, чтобы исключить смешение.</a:t>
            </a:r>
          </a:p>
        </p:txBody>
      </p:sp>
      <p:pic>
        <p:nvPicPr>
          <p:cNvPr id="18" name="VISUAL_02_s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8ebcd5d22495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117A2D91-D7DD-483E-AD43-94275702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Повторная проверка размера дешевле и безопаснее переделки каркаса.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13C0F-2D79-4928-B6F6-2D76C398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C0FA2BF-DCAA-4C37-B73D-185A8D3C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Безопасность инструмента — приказ № 204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F62F0DA-91D7-4097-BC4F-CFAA3C0D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83DF452-3496-48F7-96EF-B3E0DFF2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d15f57268438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5071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FCEC1-F522-471B-B932-F7B0A2CB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27002A7-5FFE-4586-B894-8E2F0128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Гибка выполняется штатным оборудованием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19187-B11D-42D1-86FD-60671EC1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Проверьте упоры, привод, ограждения и рабочую зону гибочного оборудования.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Стержень укладывают по схеме, не удерживая рукой рядом с подвижным органом.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Радиус, угол и направление гибки задаются проектом и технологией.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Исправление готовой детали повторной гибкой допускается только по согласованной технологии.</a:t>
            </a:r>
          </a:p>
        </p:txBody>
      </p:sp>
      <p:pic>
        <p:nvPicPr>
          <p:cNvPr id="17" name="VISUAL_02_s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8333ff05741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DBA7CDA1-6F2B-4E27-9B13-CE81DAC1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Находиться в плоскости возможного выброса стержня нельзя.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2BC43-432D-4639-9E62-E8612E47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92CFAE6-0444-4C49-8E2A-D1865F6E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E8E5397-D089-448F-8E4E-F0CD369D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b7d7acfee4d7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647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5BBDEF-84AD-4939-A3C1-2AD9F0B4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3D48F52-AC10-4C73-AF1B-41FB9F5F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Каркас собирают от устойчивой основы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54B7F-D2AD-4B6C-B407-2B496CA6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D4915-B833-4691-A744-191E06D6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0E5D3113-621A-4AF7-9B9F-839C7211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4FDE4905-3B1A-498B-B278-1F1007E8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Разложить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A6782F48-1F3D-421B-883C-76737926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Подготовить элементы по маркировке и порядку сборки.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A1F55-FE35-4533-A86F-D9A0BD1C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887CD979-1F5C-4477-99D0-522C2259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CA75E891-ADAE-48AE-A5DB-F822A843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Зафиксировать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D8FEEFDD-B8C6-4455-A9D7-B9F2AA29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Установить шаблоны, упоры и временные связи.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FD667-0058-4D93-A47F-38714755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91D09467-008F-4C97-B5F6-CE450877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DF89E244-8320-474B-8A3D-A54DFFFB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Соединить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710627B1-384A-4D70-A827-F4FF3267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Выполнить предусмотренную вязку или другое проектное соединение.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A1F37-8B37-43F5-A24A-A4F667C5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E56EA96B-5930-4BC9-B348-27DEEA22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8758B7A2-D403-4E5D-AFEA-D173F3FB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2BAF8C56-0828-4E70-AA5F-C5791228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Сверить геометрию, устойчивость и готовность к перемещению.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94A72-C9D6-4391-BEC0-6D84658D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267F7-CA7C-4C2C-ABF5-6DA2A606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613DF32-28FF-4452-BED5-B42AA7EC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Пространственный каркас не отпускают до временной фиксации.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FADA4A-932F-4DDC-9722-642A7CCA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4C154AD-8CF6-499D-8F2B-7807D519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1006F21-0F2E-4CF3-AECF-DD087293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86e004d52459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6472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761B5-3BE8-4818-844A-D4E42E57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2620F6E-C738-4E4D-8838-FE53DA5F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Вязка сохраняет проектное положение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D9915-4BB2-4617-B7D9-5D07F708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Проволоку и способ узла выбирают по технологической карте и назначению соединения.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Стержни фиксируют до затяжки, чтобы исключить защемление пальцев и смещение.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Концы проволоки загибают внутрь и не оставляют в зоне прохода или контакта.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Качество оценивают по устойчивости узла и сохранению проектной геометрии.</a:t>
            </a:r>
          </a:p>
        </p:txBody>
      </p:sp>
      <p:pic>
        <p:nvPicPr>
          <p:cNvPr id="17" name="VISUAL_02_s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8490be94349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30A8D0C1-8B11-4142-A921-812B8782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Лишняя затяжка не компенсирует неправильное положение стержня.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B335B-63C1-4DD5-92CA-057492A8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4DD9A06-694C-4035-98D5-A8EA62B1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DBAB170-7BC7-42FC-9111-55427698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bca304ff84e5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778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9ACE2-C8BD-436B-A71D-2297424B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025D404-35DC-448C-865F-57C06FA7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Проволока и инструмент: острые риски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F76D1-B605-4EB4-B219-1F7038FC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Отрезанные концы сразу убирают в тару, не оставляют на настиле или в каркасе.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Крюк, клещи или механизированный инструмент проверяют до работы.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Кисть держат вне линии возможного срыва; не тянут проволоку на себя рывком.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Защита рук применяется там, где она не создаёт риск захвата движущимися частями.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C099D-F94A-428B-A84D-21CD89E1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9DF2D-963B-44A4-A9B0-8010582B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68B63F2-8CC7-4971-83B1-1E6480C0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Острый конец проволоки должен быть контролируем от резки до утилизации.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4AE9E-CA66-4C88-A54B-81B5C157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2CD7742-8D3E-4950-B5A1-93D9CC7D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0CE43DE-E0BE-48DD-9597-3A78715E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0549b782147d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2237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D51B7-462B-47B9-8D91-2AD5941E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BFEEBF7-D464-4DC4-8EED-DBD77ED3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Сварка требует проекта и допуска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21044-3AA4-4AAF-A6DE-77F882E6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Свариваемость материала, тип шва и подготовка определяются проектом и технологией.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Работу выполняет допущенный сварщик с исправным оборудованием и защитой зоны.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Огневые риски контролируют нарядом-допуском там, где он требуется.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Качество соединения проверяют установленным методом, а дефект не маскируют дополнительным металлом.</a:t>
            </a:r>
          </a:p>
        </p:txBody>
      </p:sp>
      <p:pic>
        <p:nvPicPr>
          <p:cNvPr id="18" name="VISUAL_02_s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bd0009cb247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F947818-0867-434B-BF08-D40D0B5F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Вязка и сварка не являются свободно взаимозаменяемыми.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2DBB9-D75A-44FD-8027-957036DE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42D40B4-6626-4939-A9F5-148CC33B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Правила пожарной безопасности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6A40EE0-A771-4697-A681-857EE4C7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292891A-83C1-4BA2-8A5D-BECA76F0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7dbe9e748454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780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C4214-6845-4968-9745-B4241340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0BF3A72-52F8-4171-AC78-37CDCA1F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Муфты применяют как проектную систему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A283E-2D65-4071-BA3D-C4C1BD77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Тип муфты, подготовка концов и допуски определяются проектом и инструкцией изготовителя.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Резьбовые, обжимные и иные механические решения не подменяют друг друга.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Перед соединением проверяют чистоту, геометрию и маркировку компонентов.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Затяжку, обжатие и контроль выполняют предусмотренным инструментом и методом.</a:t>
            </a:r>
          </a:p>
        </p:txBody>
      </p:sp>
      <p:pic>
        <p:nvPicPr>
          <p:cNvPr id="17" name="VISUAL_02_s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fea704efc42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58100" y="1752600"/>
            <a:ext cx="3962400" cy="342900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12FAA360-C403-4146-BDC2-D2390F0A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57800"/>
            <a:ext cx="3962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Соединение считается готовым после контроля, а не после визуального совпадения деталей.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D5749-B037-4C32-808C-E0EFE747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1E03545-E28E-4649-ABBE-595BF6C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B110ABD-D66A-41A9-AECF-BFB5ED30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1207e3cfe4f8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8273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4730A-1F96-4094-81A8-AC13F489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144E3D3-870B-471D-A00F-0B63317A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Каркас фиксируют до бетонирования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B0ABE-25DA-4E74-AFCB-C3A8BD52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Согласуйте строповку, точки подъёма, команды и безопасное положение работников.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После установки закрепите каркас, фиксаторы и временные связи от смещения и опрокидывания.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 допускайте нахождения людей под грузом и в зоне защемления.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Перед бетонированием подтвердите геометрию, устойчивость и доступность проектных элементов.</a:t>
            </a:r>
          </a:p>
        </p:txBody>
      </p:sp>
      <p:pic>
        <p:nvPicPr>
          <p:cNvPr id="17" name="VISUAL_02_s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bd3a3911f48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E46458C7-E610-4F4E-BB93-1D4966D7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Освобождать грузозахватные средства можно только после устойчивой фиксации.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9A400-5A6B-4EA0-B6C7-9F79EB35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2D24497-7271-4167-9394-47EC145A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F8CE8FB-9CC7-4FB4-8BD4-5A9E336A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26e01dde643c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43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99DF5-E917-4221-99B7-E153165B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84BEED5-ACD4-4F57-8131-A12452A1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Защитный слой задаётся проектом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5FC22-8022-4367-9580-EC197FBC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Положение арматуры обеспечивают предусмотренными фиксаторами и опорами.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Универсальное значение защитного слоя не применяют ко всем конструкциям.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Перед бетонированием проверяют расстояния, устойчивость и отсутствие смещения фиксаторов.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Самодельные случайные подкладки используют только если они предусмотрены технологией.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1D355-BDD8-492E-918B-0CC4C1DE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9EC66-E01C-4FAF-8D58-0EFB5E9E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2AE3190-6DA7-4AA7-BDCE-A6A99BD7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Размеры защитного слоя и шага берут из конкретного проекта.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9A2F3-C0AD-48A5-9E5E-21CCAC41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9982510-14B3-479B-A47B-7731AE9D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3F09121-5ED7-40EA-B110-1A5C359C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59ea3c07244d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782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830A6-0FB4-4879-A230-59B4B1D3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2_s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6554ad75a45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0387BFEC-BF7D-4932-9212-30345C48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8976C-BCE9-4E72-909F-D69174E8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27C29E62-7952-404F-A9C1-AFD13DEF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Качество и безопасность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E2C07F48-149C-4E7A-AC83-37C001D7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Контроль качества одновременно предотвращает конструктивные дефекты и опасные переделки.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DFE18-97B3-4636-BE2B-2A4EF240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D11F84C-37B0-42C0-A386-E78F4490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F6750A5-2365-4FE6-9F55-20E86E79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acdbaa90a4dd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1634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D3034-E111-4C5B-AF61-A4A35EFF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AAFFA75-58D0-4722-8CF0-E81DA35B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Контроль выполняют до скрытия работ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67676-E32E-46A0-8AFE-6C1ACA73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Сверяют тип, количество, положение и маркировку элементов с проектом.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Проверяют размеры, геометрию, соединения, фиксаторы и временные связи.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Контролируют чистоту арматуры и готовность к бетонированию.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Несоответствия фиксируют и устраняют по согласованному решению.</a:t>
            </a:r>
          </a:p>
        </p:txBody>
      </p:sp>
      <p:pic>
        <p:nvPicPr>
          <p:cNvPr id="17" name="VISUAL_02_s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0c82733e34e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021285A0-C28C-40E2-8BCC-4C3D6F9E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Фото или запись контроля не заменяет фактическую проверку каркаса.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29CA8-1A2D-427B-98B7-1CC21775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0EB43CB-BCC0-43F6-92CE-6BAEC067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340CA84-A80C-4598-BC2F-F84F2577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e43f455ef4f5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114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39F34E-06BF-4867-9DBD-EB87BB41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036E737-C418-4419-A9E0-E9679987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Типовые дефекты имеют конкретные причины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1F89A-201E-4081-89EE-A18C279F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РИСК / ИСТОЧНИК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ACFB3-D812-4B2F-9DEA-2966B99D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ПОСЛЕДСТВИЕ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56565-914E-4526-A6CC-DA877769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МЕРА КОНТРОЛЯ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0F1C9-C483-4C66-B26B-52F78D04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BBC0D-6021-4AD9-A905-DEF7F175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Смещение стержней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11B52-E3F2-4C8E-A948-E5361CFC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Слабая фиксация или удар при монтаже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985C2-E6DE-48B4-B2C5-E65CD5F6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Восстановить положение по проекту и усилить фиксацию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5A00C-4AAB-4838-AFD5-CCDAA0FF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F0821-DBBB-4295-ADC2-85F06CC9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Неполное соединение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19AD0-9354-4E74-8825-00E87DE8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Нарушена технология вязки, сварки или муфты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B9E77-9BE5-47FA-B755-479BD59B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Остановить приёмку и выполнить утверждённое исправление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00134-3432-47B2-8674-5AC2E1BF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80EA4-7BBE-43C5-A01F-7A4F8BFE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Недостаточная устойчивость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ED911-6206-406C-BF31-2EEC50BD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Нет связей или опор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7C3E-3E1C-4086-B874-1DAF1501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 поднимать и не бетонировать до закрепления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A0CF3-E195-4354-9C9C-AED645D3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DB88A-E114-4EA2-B566-8DBADB25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Острые выступы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6AA9D6-0AF2-4858-BFC9-F08FB350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Не защищены концы и проволока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F212E3-7B6F-4F9D-9999-66E5C8DE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Оградить, обозначить и установить защиту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364FE3-FBE1-4FA3-BAB2-645E6D3B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Дефект не исправляют способом, который сам не предусмотрен проектом.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16A256-D4C1-4DAB-89AE-F0A623B7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CC06F06-67C3-44ED-9F58-DCE65BD6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853F0C2-F45E-4553-8C24-A4E7EBF8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635128cdb4c3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7573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6A61C-1984-4229-B8E5-EDFB346C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369D75D-65A6-496C-8F54-524027F9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Сложные работы планируют отдельно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8B41F-2E36-43E5-99C3-A3A20F20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Крупные пространственные каркасы, стеснённые зоны и нестандартные узлы оценивают заранее.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Назначают последовательность сборки, временную устойчивость и безопасный доступ.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Подъём, сварку, работу на высоте и взаимодействие бригад увязывают в общем плане.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Изменение условий приводит к повторной оценке риска.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B26E3-82C6-41F1-A3C8-70E20BF0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AAFDC-7B4D-4818-B4D4-7D7508E5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ECE0E9A3-EC51-4F1D-8BA3-EE819B10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Чем сложнее каркас, тем важнее временная устойчивость на каждом этапе.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8E54F-13BC-4448-9ADE-2DA2D828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589FC11-C02A-4916-AAB4-A1C622CD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70B690F-2BB7-492F-8AE1-2214F6E9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2a59d6a31d41d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82318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813C0-6FE9-4C6C-A6A8-F813FB59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761042B-A113-42D4-8EAB-0BA2F2EF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Основные риски меняются по операции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EF994-A12E-4D25-8276-3EB2A623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РИСК / ИСТОЧНИК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B28FC-27C2-4C60-9670-0CCAEDA6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ПОСЛЕДСТВИЕ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E20C3-1036-4F39-B6D3-1DB0F6D6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МЕРА КОНТРОЛЯ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C3BC3-5344-4D9D-AA0B-F79CCCAC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DAC0A-0CB2-47D4-87AF-2EFCFA1F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Резка и гибка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DE4DC-B75B-43A7-B72D-E42FD37C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Отлёт, захват, выброс стержня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A38E4-EA45-42DA-8068-29527552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Ограждение, фиксация, безопасная зона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B833F-EDCE-4690-A3C1-C5C14F6C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57A82-2B44-47CD-A985-620D3046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Сварка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88A22-DEB0-4F3D-BB71-716ACAAD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Ожог, дым, пожар, поражение током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7DF3E-43CD-4838-A600-29132FF1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Допуск, вентиляция, защита, контроль огневых работ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D08CF-85C1-47B3-B1F3-A2E5F820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17015-EDE8-468F-A902-5C4C3111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Подъём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48FAD-71E5-4BE2-B715-4F82C915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Падение груза и защемление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1A82D-052F-43EF-85B1-9C8185DD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План строповки, сигнальщик, запрет зоны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0BC33-8697-4B22-B60F-FBDB90C8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CB216-28E4-4354-AACA-0C18BEEE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Установка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EB60E-7235-4ADA-9471-0826E7E5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Падение с высоты, потеря устойчивости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0B195-0308-4908-A89B-CD11B240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Коллективная защита, связи, безопасный доступ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25CE68-78F8-4ABA-9B37-1E5C8631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Один комплект мер не покрывает все этапы арматурных работ.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5C1131-BE8C-4168-A5C8-8A7AC8B6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1C0F636-C0A2-4FD2-B9D9-9731A31F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4F8A035-8756-4D11-AFD0-4739077D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a99b4a831494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3965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A558D-424B-465B-924B-DEC38978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0E4DAA7-258E-45A0-BA65-19E203F2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Инструмент проверяют перед каждой сменой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2A8F3-1ABE-4DF5-8F36-C099E4B7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 ручного инструмента проверяют рукоятки, режущие кромки и соответствие операции.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 электроинструмента — корпус, кабель, выключатель, ограждение и оснастку.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Регулировку, очистку и смену оснастки выполняют после отключения энергии.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Неисправный инструмент выводят из применения и сообщают ответственному лицу.</a:t>
            </a:r>
          </a:p>
        </p:txBody>
      </p:sp>
      <p:pic>
        <p:nvPicPr>
          <p:cNvPr id="18" name="VISUAL_02_s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93b489f2844a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9BDB8BED-EA69-48B2-BBE4-A29369EC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Исправность подтверждают осмотром и предусмотренной проверкой, а не пробным риском.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C54F8-78CF-4327-A893-E14FE37C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B0051030-D529-4CAE-BF15-5BCD62A6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Безопасность инструмента — приказ № 204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49F66DC-9145-4807-A0F8-EF2B2D98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2F6FA5B-9200-4C8C-827B-A4345ECF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f96f5ee13408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4037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0936A-30B6-4444-A375-52A7FDFE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BFF0ABD-800F-452D-9D09-6EE607B6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Высота и подъём требуют общей координации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9975F-8EFF-4AE9-8FA7-BE138AF1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Безопасный доступ и коллективная защита организуются до подъёма работника.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Рабочий не находится под грузом и не направляет подвешенный каркас руками из опасной зоны.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Команды подаёт назначенное лицо; связь и сигналы согласуются до операции.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Инструмент и мелкие детали закрепляют от падения.</a:t>
            </a:r>
          </a:p>
        </p:txBody>
      </p:sp>
      <p:pic>
        <p:nvPicPr>
          <p:cNvPr id="18" name="VISUAL_02_s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1dff66b8d4a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75D54858-6DB0-4053-AC67-FB31A950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Монтажник и машинист должны понимать одну последовательность и одни сигналы.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51BB4-AD97-4405-8D0A-090B0AF9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E1BA4A7B-CE34-4AA9-A4DF-2760FCA3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Работы на высоте — приказ № 109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FDCAAF3-F789-4C9A-94DF-10FA1DFE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7473C43-9030-4ED4-93A7-C3F52CF0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a8fc40a82447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7176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12A4F-C847-4673-B59B-9516B19E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A74CD28-85DE-4FBC-A9BF-9EC0F322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Выступающие концы защищают немедленно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457C2-BCF2-4176-B557-8FB39A91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Опасные концы ограждают, обозначают или закрывают предусмотренной защитой.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Проходы не прокладывают через зоны торчащей арматуры и остатков проволоки.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Руки защищают от порезов, а положение тела — от защемления между элементами.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При перемещении длинных стержней сохраняют дистанцию и согласованные команды.</a:t>
            </a:r>
          </a:p>
        </p:txBody>
      </p:sp>
      <p:pic>
        <p:nvPicPr>
          <p:cNvPr id="17" name="VISUAL_02_s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2303d1bf44b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864828A4-B00D-4703-95C3-2244A29E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Защитный колпачок не заменяет ограждение там, где возможно падение на арматуру.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EBB38-EEE1-48BF-BC21-8F019C01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29E5C13-B6BB-48EB-A6F2-D137CFF6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BCC59C7-ECDE-40A8-A4B1-930A37A4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954f26f86407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3976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4E6EF-68CF-4D22-AB6A-F0927349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145F99C-D59D-478A-9286-D2E9AB07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СИЗ дополняют технические меры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C1FD6-FA0D-4261-80EF-339134D5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Каска, защитная обувь и одежда соответствуют условиям площадки.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Защита глаз и лица нужна при резке, шлифовании, натяжении и сварке.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Перчатки выбирают под проволоку, острые кромки и работу с инструментом.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Для высоты и сварки применяют специализированные системы и СИЗ по оценке риска.</a:t>
            </a:r>
          </a:p>
        </p:txBody>
      </p:sp>
      <p:pic>
        <p:nvPicPr>
          <p:cNvPr id="18" name="VISUAL_02_s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f12a14e5b44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298D9CEE-FB07-47CC-810C-187D62A9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СИЗ не делают безопасной работу без ограждения, фиксации и допуска.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3CA27-4295-4174-A82A-8D2D8A00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46B9B23C-12B1-4C1D-8A2E-504AB3AF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Трудовой кодекс РК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6E6904A-6BFB-4AF6-8452-3ED9E4D9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7010A08-4EFD-4972-BFA4-D743724D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7fa2143cd491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40196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3308C-A35E-4CDB-A271-D6F6FA59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D0486D0-2B34-4B90-B92B-FFE6FFE3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Работу останавливают при изменении условий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F0061-64AE-4D18-9639-FADAAFF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0DFF8-69AE-4F1C-A9D9-E76EB55A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91C96-487D-440E-B1CE-5F98C5D9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972B7-D187-4F06-854E-9DA29C0A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Проект или узел непонятен, материал не идентифицирован либо обнаружено несоответствие.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Нет ограждения, устойчивой опоры, временных связей или безопасного доступа.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Инструмент, оснастка, сварочное или подъёмное оборудование неисправны.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Люди находятся в опасной зоне, связь потеряна или погода мешает безопасной работе.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55FFB-63BA-44E7-AFBD-EAA6BEF6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Остановить — оградить — сообщить — возобновить после разрешения.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8FB1C-2ABC-4DB0-B81A-77EB0BFC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142AEB3C-61C5-4C0D-B189-976B0E70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Трудовой кодекс РК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A541257-D99B-4331-9C10-1020C8A1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Арматурщик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60B8A02-363F-4131-A458-4345D038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302774e91438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70E4E708-0417-457E-AD91-1552BD79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СТОП</a:t>
            </a:r>
          </a:p>
        </p:txBody>
      </p:sp>
    </p:spTree>
    <p:extLst>
      <p:ext uri="{BB962C8B-B14F-4D97-AF65-F5344CB8AC3E}">
        <p14:creationId xmlns:p14="http://schemas.microsoft.com/office/powerpoint/2010/main" val="159499270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09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ECKLIST_TITLE">
            <a:extLst xmlns:a="http://schemas.openxmlformats.org/drawingml/2006/main">
              <a:ext uri="{FF2B5EF4-FFF2-40B4-BE49-F238E27FC236}">
                <a16:creationId xmlns:a16="http://schemas.microsoft.com/office/drawing/2014/main" id="{8D06159C-C997-48CC-998C-22001C11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Итоговый чек-лист арматурщика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C83AD-4306-4D30-81F4-F39982C0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D9AAD-2045-4DB6-9DDB-19961958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68A6C-DCA5-4B70-BA37-5463A2A9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Проект, материал и последовательность понятны.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D6A67-CCB7-439A-9057-9F4D2512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5FAA1-EB6E-4565-9F4D-4FEE3FAE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22C11-1580-4E77-81DF-790E4FBD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Зона работ, складирование и маршрут перемещения безопасны.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E4A92-6FB1-440E-8CE1-C4511C05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28C2B-3E42-4A9D-8544-7922E5B1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43AEA-8BCD-423D-8E18-2B0E9306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Инструмент, оборудование и оснастка исправны.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23EF1-7C5D-4C1C-ABB9-1E3A4682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A7398-FAFE-4CFB-AB35-80C5F2DA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386EC-D69B-4E98-BA48-0BE37D88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Каркас устойчив, соединения и положение проверены до бетонирования.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3F6A9-6E44-4B15-997D-C3918C76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AD3E9-E7D7-4FD9-B831-0BA4E9AF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B70E6-9819-4744-94E5-3F4C25DF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 угрозе, неисправности или несоответствии работа остановлена.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870D4-C607-4A85-B9E6-0250A5E1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Нажмите «Начать тест»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A93A6E-ED8F-411D-810F-9E0A5748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Актуализировано: 21.08.2026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088f321a546e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97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2026-08-25T14:17:39.3600000Z</dcterms:created>
  <dcterms:modified xsi:type="dcterms:W3CDTF">2026-08-25T14:17:39.3600000Z</dcterms:modified>
</coreProperties>
</file>