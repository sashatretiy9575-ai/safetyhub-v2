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826fb3b6ae450c" /><Relationship Type="http://schemas.openxmlformats.org/officeDocument/2006/relationships/extended-properties" Target="/docProps/app.xml" Id="R85b3d20db2934f6c" /><Relationship Type="http://schemas.openxmlformats.org/officeDocument/2006/relationships/officeDocument" Target="/ppt/presentation.xml" Id="R1ca06c65a89c4e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3f4e6238c54126"/>
    <p:sldMasterId xmlns:r="http://schemas.openxmlformats.org/officeDocument/2006/relationships" id="2147483650" r:id="Raf2402c6ea64426e"/>
  </p:sldMasterIdLst>
  <p:sldIdLst>
    <p:sldId xmlns:r="http://schemas.openxmlformats.org/officeDocument/2006/relationships" id="256" r:id="Ra553a9d87a104ff9"/>
    <p:sldId xmlns:r="http://schemas.openxmlformats.org/officeDocument/2006/relationships" id="257" r:id="R2293bca7acc643ad"/>
    <p:sldId xmlns:r="http://schemas.openxmlformats.org/officeDocument/2006/relationships" id="258" r:id="R3ad2155b07584565"/>
    <p:sldId xmlns:r="http://schemas.openxmlformats.org/officeDocument/2006/relationships" id="259" r:id="Re2109918fe604067"/>
    <p:sldId xmlns:r="http://schemas.openxmlformats.org/officeDocument/2006/relationships" id="260" r:id="Ra9eb799b5868461e"/>
    <p:sldId xmlns:r="http://schemas.openxmlformats.org/officeDocument/2006/relationships" id="261" r:id="R8907f1b584bb4850"/>
    <p:sldId xmlns:r="http://schemas.openxmlformats.org/officeDocument/2006/relationships" id="262" r:id="R2514fdf8c0d149a3"/>
    <p:sldId xmlns:r="http://schemas.openxmlformats.org/officeDocument/2006/relationships" id="263" r:id="Rf453b3d07ffc41c4"/>
    <p:sldId xmlns:r="http://schemas.openxmlformats.org/officeDocument/2006/relationships" id="264" r:id="Re69598931ee1483e"/>
    <p:sldId xmlns:r="http://schemas.openxmlformats.org/officeDocument/2006/relationships" id="265" r:id="Rd9423d7ecbed42b1"/>
    <p:sldId xmlns:r="http://schemas.openxmlformats.org/officeDocument/2006/relationships" id="266" r:id="R02c104fa98e14ba3"/>
    <p:sldId xmlns:r="http://schemas.openxmlformats.org/officeDocument/2006/relationships" id="267" r:id="Re09d42665ff14f5e"/>
    <p:sldId xmlns:r="http://schemas.openxmlformats.org/officeDocument/2006/relationships" id="268" r:id="R84fa482efb964ea2"/>
    <p:sldId xmlns:r="http://schemas.openxmlformats.org/officeDocument/2006/relationships" id="269" r:id="Rb82467a7ccf7482d"/>
    <p:sldId xmlns:r="http://schemas.openxmlformats.org/officeDocument/2006/relationships" id="270" r:id="Rcf3de9b13b3b4a86"/>
    <p:sldId xmlns:r="http://schemas.openxmlformats.org/officeDocument/2006/relationships" id="271" r:id="Ref52e16b3e7b4025"/>
    <p:sldId xmlns:r="http://schemas.openxmlformats.org/officeDocument/2006/relationships" id="272" r:id="Rbc5289f31dfa46d0"/>
    <p:sldId xmlns:r="http://schemas.openxmlformats.org/officeDocument/2006/relationships" id="273" r:id="R850b38486da341cc"/>
    <p:sldId xmlns:r="http://schemas.openxmlformats.org/officeDocument/2006/relationships" id="274" r:id="R8b66a0da4cfb4086"/>
    <p:sldId xmlns:r="http://schemas.openxmlformats.org/officeDocument/2006/relationships" id="275" r:id="R39bf45a07a3f4ce3"/>
    <p:sldId xmlns:r="http://schemas.openxmlformats.org/officeDocument/2006/relationships" id="276" r:id="Rfc607f11652a4f2f"/>
    <p:sldId xmlns:r="http://schemas.openxmlformats.org/officeDocument/2006/relationships" id="277" r:id="R833be7ca60f74ef4"/>
    <p:sldId xmlns:r="http://schemas.openxmlformats.org/officeDocument/2006/relationships" id="278" r:id="R2e4daf44138f4bc2"/>
    <p:sldId xmlns:r="http://schemas.openxmlformats.org/officeDocument/2006/relationships" id="279" r:id="Rbd40695fa2c04e49"/>
    <p:sldId xmlns:r="http://schemas.openxmlformats.org/officeDocument/2006/relationships" id="280" r:id="R3a475470567943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319e14a6324b5b" /><Relationship Type="http://schemas.openxmlformats.org/officeDocument/2006/relationships/slideMaster" Target="/ppt/slideMasters/slideMaster1.xml" Id="R593f4e6238c54126" /><Relationship Type="http://schemas.openxmlformats.org/officeDocument/2006/relationships/slideMaster" Target="/ppt/slideMasters/slideMaster2.xml" Id="Raf2402c6ea64426e" /><Relationship Type="http://schemas.openxmlformats.org/officeDocument/2006/relationships/presProps" Target="/ppt/presProps.xml" Id="R8fe09caacf4643f3" /><Relationship Type="http://schemas.openxmlformats.org/officeDocument/2006/relationships/viewProps" Target="/ppt/viewProps.xml" Id="R8bee85effa6e4a23" /><Relationship Type="http://schemas.openxmlformats.org/officeDocument/2006/relationships/tableStyles" Target="/ppt/tableStyles.xml" Id="R0929848f2d4c436c" /><Relationship Type="http://schemas.openxmlformats.org/officeDocument/2006/relationships/slide" Target="/ppt/slides/slide1.xml" Id="Ra553a9d87a104ff9" /><Relationship Type="http://schemas.openxmlformats.org/officeDocument/2006/relationships/slide" Target="/ppt/slides/slide2.xml" Id="R2293bca7acc643ad" /><Relationship Type="http://schemas.openxmlformats.org/officeDocument/2006/relationships/slide" Target="/ppt/slides/slide3.xml" Id="R3ad2155b07584565" /><Relationship Type="http://schemas.openxmlformats.org/officeDocument/2006/relationships/slide" Target="/ppt/slides/slide4.xml" Id="Re2109918fe604067" /><Relationship Type="http://schemas.openxmlformats.org/officeDocument/2006/relationships/slide" Target="/ppt/slides/slide5.xml" Id="Ra9eb799b5868461e" /><Relationship Type="http://schemas.openxmlformats.org/officeDocument/2006/relationships/slide" Target="/ppt/slides/slide6.xml" Id="R8907f1b584bb4850" /><Relationship Type="http://schemas.openxmlformats.org/officeDocument/2006/relationships/slide" Target="/ppt/slides/slide7.xml" Id="R2514fdf8c0d149a3" /><Relationship Type="http://schemas.openxmlformats.org/officeDocument/2006/relationships/slide" Target="/ppt/slides/slide8.xml" Id="Rf453b3d07ffc41c4" /><Relationship Type="http://schemas.openxmlformats.org/officeDocument/2006/relationships/slide" Target="/ppt/slides/slide9.xml" Id="Re69598931ee1483e" /><Relationship Type="http://schemas.openxmlformats.org/officeDocument/2006/relationships/slide" Target="/ppt/slides/slide10.xml" Id="Rd9423d7ecbed42b1" /><Relationship Type="http://schemas.openxmlformats.org/officeDocument/2006/relationships/slide" Target="/ppt/slides/slide11.xml" Id="R02c104fa98e14ba3" /><Relationship Type="http://schemas.openxmlformats.org/officeDocument/2006/relationships/slide" Target="/ppt/slides/slide12.xml" Id="Re09d42665ff14f5e" /><Relationship Type="http://schemas.openxmlformats.org/officeDocument/2006/relationships/slide" Target="/ppt/slides/slide13.xml" Id="R84fa482efb964ea2" /><Relationship Type="http://schemas.openxmlformats.org/officeDocument/2006/relationships/slide" Target="/ppt/slides/slide14.xml" Id="Rb82467a7ccf7482d" /><Relationship Type="http://schemas.openxmlformats.org/officeDocument/2006/relationships/slide" Target="/ppt/slides/slide15.xml" Id="Rcf3de9b13b3b4a86" /><Relationship Type="http://schemas.openxmlformats.org/officeDocument/2006/relationships/slide" Target="/ppt/slides/slide16.xml" Id="Ref52e16b3e7b4025" /><Relationship Type="http://schemas.openxmlformats.org/officeDocument/2006/relationships/slide" Target="/ppt/slides/slide17.xml" Id="Rbc5289f31dfa46d0" /><Relationship Type="http://schemas.openxmlformats.org/officeDocument/2006/relationships/slide" Target="/ppt/slides/slide18.xml" Id="R850b38486da341cc" /><Relationship Type="http://schemas.openxmlformats.org/officeDocument/2006/relationships/slide" Target="/ppt/slides/slide19.xml" Id="R8b66a0da4cfb4086" /><Relationship Type="http://schemas.openxmlformats.org/officeDocument/2006/relationships/slide" Target="/ppt/slides/slide20.xml" Id="R39bf45a07a3f4ce3" /><Relationship Type="http://schemas.openxmlformats.org/officeDocument/2006/relationships/slide" Target="/ppt/slides/slide21.xml" Id="Rfc607f11652a4f2f" /><Relationship Type="http://schemas.openxmlformats.org/officeDocument/2006/relationships/slide" Target="/ppt/slides/slide22.xml" Id="R833be7ca60f74ef4" /><Relationship Type="http://schemas.openxmlformats.org/officeDocument/2006/relationships/slide" Target="/ppt/slides/slide23.xml" Id="R2e4daf44138f4bc2" /><Relationship Type="http://schemas.openxmlformats.org/officeDocument/2006/relationships/slide" Target="/ppt/slides/slide24.xml" Id="Rbd40695fa2c04e49" /><Relationship Type="http://schemas.openxmlformats.org/officeDocument/2006/relationships/slide" Target="/ppt/slides/slide25.xml" Id="R3a4754705679432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193bdcb3a4a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3b66dbec1a4f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5800f74ff147e0" /><Relationship Type="http://schemas.openxmlformats.org/officeDocument/2006/relationships/slideLayout" Target="/ppt/slideLayouts/slideLayout1.xml" Id="R2431c7aec1c7409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793464c93e34e14" /><Relationship Type="http://schemas.openxmlformats.org/officeDocument/2006/relationships/slideLayout" Target="/ppt/slideLayouts/slideLayout2.xml" Id="Re32d022c096340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31c7aec1c740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e32d022c0963407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287d0f7f584bb8" /><Relationship Type="http://schemas.openxmlformats.org/officeDocument/2006/relationships/image" Target="/ppt/media/image.jpeg" Id="Rf2c6ebad8aaa469c" /><Relationship Type="http://schemas.openxmlformats.org/officeDocument/2006/relationships/image" Target="/ppt/media/image.png" Id="R6c331284227447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b9a1860826418c" /><Relationship Type="http://schemas.openxmlformats.org/officeDocument/2006/relationships/image" Target="/ppt/media/image2.png" Id="Ra92e0d53cd894c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91e35682ba48bb" /><Relationship Type="http://schemas.openxmlformats.org/officeDocument/2006/relationships/image" Target="/ppt/media/image3.png" Id="R0f5b79b7b01c49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dd7625c5204bad" /><Relationship Type="http://schemas.openxmlformats.org/officeDocument/2006/relationships/image" Target="/ppt/media/image2.jpeg" Id="R3c7e4e882c074da6" /><Relationship Type="http://schemas.openxmlformats.org/officeDocument/2006/relationships/image" Target="/ppt/media/image4.png" Id="Raf210028f84043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c08278ae7c4315" /><Relationship Type="http://schemas.openxmlformats.org/officeDocument/2006/relationships/image" Target="/ppt/media/image5.png" Id="R6719957a9f3742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4bf1624d5a42ee" /><Relationship Type="http://schemas.openxmlformats.org/officeDocument/2006/relationships/image" Target="/ppt/media/image6.png" Id="Rfcc23b59d44d4d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6f74fde9a64228" /><Relationship Type="http://schemas.openxmlformats.org/officeDocument/2006/relationships/image" Target="/ppt/media/image3.jpeg" Id="R877f64b07dba4704" /><Relationship Type="http://schemas.openxmlformats.org/officeDocument/2006/relationships/image" Target="/ppt/media/image7.png" Id="R5c9ebe52663e43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f87b6a2cab4ed9" /><Relationship Type="http://schemas.openxmlformats.org/officeDocument/2006/relationships/image" Target="/ppt/media/image4.jpeg" Id="R4450a7c089d24c94" /><Relationship Type="http://schemas.openxmlformats.org/officeDocument/2006/relationships/image" Target="/ppt/media/image8.png" Id="R89eb949776c845a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f5d6eacc8a4d47" /><Relationship Type="http://schemas.openxmlformats.org/officeDocument/2006/relationships/image" Target="/ppt/media/image5.jpeg" Id="R95fff1de74e7452f" /><Relationship Type="http://schemas.openxmlformats.org/officeDocument/2006/relationships/image" Target="/ppt/media/image9.png" Id="Rd92d443542f347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470336f37f4ab1" /><Relationship Type="http://schemas.openxmlformats.org/officeDocument/2006/relationships/image" Target="/ppt/media/image6.jpeg" Id="R5b7ce2769ba241b5" /><Relationship Type="http://schemas.openxmlformats.org/officeDocument/2006/relationships/image" Target="/ppt/media/image10.png" Id="R298d535e6c3e473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6b6b0fdb984d41" /><Relationship Type="http://schemas.openxmlformats.org/officeDocument/2006/relationships/image" Target="/ppt/media/image7.jpeg" Id="R02c51ea0720f46f5" /><Relationship Type="http://schemas.openxmlformats.org/officeDocument/2006/relationships/image" Target="/ppt/media/image11.png" Id="Re1454a806c8248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3ca802de984029" /><Relationship Type="http://schemas.openxmlformats.org/officeDocument/2006/relationships/image" Target="/ppt/media/image12.png" Id="Ra88c4ec396c94f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6457333a04ff4" /><Relationship Type="http://schemas.openxmlformats.org/officeDocument/2006/relationships/image" Target="/ppt/media/image8.jpeg" Id="R109830b706b2468f" /><Relationship Type="http://schemas.openxmlformats.org/officeDocument/2006/relationships/image" Target="/ppt/media/image13.png" Id="R3b9b0c7d1390431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2551f54d2f4561" /><Relationship Type="http://schemas.openxmlformats.org/officeDocument/2006/relationships/image" Target="/ppt/media/image14.png" Id="Re079b27255b048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80c01c61cd41c2" /><Relationship Type="http://schemas.openxmlformats.org/officeDocument/2006/relationships/image" Target="/ppt/media/image15.png" Id="R4dbbd852ba0346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29551bdec44d07" /><Relationship Type="http://schemas.openxmlformats.org/officeDocument/2006/relationships/image" Target="/ppt/media/image9.jpeg" Id="R42f8305fb3e64f3c" /><Relationship Type="http://schemas.openxmlformats.org/officeDocument/2006/relationships/image" Target="/ppt/media/image16.png" Id="R3e03dfcae8114cf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f0ecd9d9574d06" /><Relationship Type="http://schemas.openxmlformats.org/officeDocument/2006/relationships/image" Target="/ppt/media/image10.jpeg" Id="R7eafe38ec54e4bab" /><Relationship Type="http://schemas.openxmlformats.org/officeDocument/2006/relationships/image" Target="/ppt/media/image17.png" Id="R6aa21f094add4c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efe0d79a5a4bea" /><Relationship Type="http://schemas.openxmlformats.org/officeDocument/2006/relationships/image" Target="/ppt/media/image11.jpeg" Id="R440e3f3287ba4b23" /><Relationship Type="http://schemas.openxmlformats.org/officeDocument/2006/relationships/image" Target="/ppt/media/image18.png" Id="Rc4f7499f75274a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2c20d8c706462b" /><Relationship Type="http://schemas.openxmlformats.org/officeDocument/2006/relationships/image" Target="/ppt/media/image12.jpeg" Id="Rcf0a9e0d3a39481d" /><Relationship Type="http://schemas.openxmlformats.org/officeDocument/2006/relationships/image" Target="/ppt/media/image19.png" Id="R52cc7ab80a2843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604ad7c06c4f23" /><Relationship Type="http://schemas.openxmlformats.org/officeDocument/2006/relationships/image" Target="/ppt/media/image20.png" Id="R93a682b5e31b4ad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f3851fdeef471d" /><Relationship Type="http://schemas.openxmlformats.org/officeDocument/2006/relationships/image" Target="/ppt/media/image21.png" Id="R7f4956df6922486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48d201113d4cfe" /><Relationship Type="http://schemas.openxmlformats.org/officeDocument/2006/relationships/image" Target="/ppt/media/image13.jpeg" Id="R20d4a26358ff41f7" /><Relationship Type="http://schemas.openxmlformats.org/officeDocument/2006/relationships/image" Target="/ppt/media/image22.png" Id="Rd7fe2386ecdc46e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ba71858fd94a42" /><Relationship Type="http://schemas.openxmlformats.org/officeDocument/2006/relationships/image" Target="/ppt/media/image14.jpeg" Id="R867b3e5a263d4ef5" /><Relationship Type="http://schemas.openxmlformats.org/officeDocument/2006/relationships/image" Target="/ppt/media/image23.png" Id="R9b739be28c604b4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be8c5b0ee840be" /><Relationship Type="http://schemas.openxmlformats.org/officeDocument/2006/relationships/image" Target="/ppt/media/image24.png" Id="Re751137e6749409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87375ccc544973" /><Relationship Type="http://schemas.openxmlformats.org/officeDocument/2006/relationships/image" Target="/ppt/media/image25.png" Id="Ra82779a4dfff4a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7CBFE11A-598D-4C97-8988-CEC24680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1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c6ebad8aaa46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5EF4EA2-07CA-4429-B9A8-F5E2DF6C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5E42DA09-7E7F-4201-A568-A5E69194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УЧЕБНЫЙ КУРС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2E4725EF-FB5A-48EE-9F4D-04671A4B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E24C765F-3399-4FD6-B33B-8950F21B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3BB15CB6-F1E3-42A8-83C6-43AA6975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Безопасная организация и выполнение плотницких работ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ECE97A22-BE04-4756-9CAD-05384233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Учебный курс для рабочих и линейного персонала</a:t>
            </a:r>
          </a:p>
        </p:txBody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26B001E9-087F-42B2-A495-250D61B5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4CC3CA-6A29-4C9B-82B9-0A2DD7E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44347B7-5120-4089-A651-DAF33B7B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31284227447d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257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046F7711-9A11-4DC3-B9A2-C9D08BCA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67E63FA-0F46-4330-845D-AA047FC9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После курса работник сможет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39168A94-DC42-4B86-8557-A36047EF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0407B8AA-1CFB-4866-BDF1-A4603167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C97D06C4-7949-4AD0-ADF9-8F394487D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Подготовить рабочее место, заготовку и инструмент до начала операции.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F82B6A1F-7394-4977-93A1-900A65C9B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45B7729F-E090-4615-A890-2D8134B7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1ED2848A-5257-47AB-A540-3CF69A29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Выбрать безопасный приём ручной и механизированной обработки древесины.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18D99DEA-335F-48B1-A16E-DEAB0155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5F0EF419-01EE-4323-B77E-9DEE1AAB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18E652A2-B9A9-4357-950D-BF91190C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Распознать неисправность, опасное действие и условие немедленной остановки.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17DBE42E-2DD3-45BF-9949-DDF627BF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35C915DE-78B3-4C6B-B6FA-FEC081E7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81B2DACE-D519-4661-B654-F00D7D76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Применить защитные меры при пыли, шуме, стружке, электрическом и пожарном риске.</a:t>
            </a:r>
          </a:p>
        </p:txBody>
      </p:sp>
      <p:sp>
        <p:nvSpPr>
          <p:cNvPr id="15" name="Прямоугольник: скругленные углы 14">
            <a:extLst xmlns:a="http://schemas.openxmlformats.org/drawingml/2006/main">
              <a:ext uri="{FF2B5EF4-FFF2-40B4-BE49-F238E27FC236}">
                <a16:creationId xmlns:a16="http://schemas.microsoft.com/office/drawing/2014/main" id="{902C88FD-DEA4-40EF-B13D-A3F64EA1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C9979CBA-FD9C-4A1F-8E1C-1A756602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B08009F-DFC4-438F-85CF-88E6F640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Безопасная работа начинается до включения инструмента.</a:t>
            </a:r>
          </a:p>
        </p:txBody>
      </p:sp>
      <p:sp>
        <p:nvSpPr>
          <p:cNvPr id="20" name="Прямая соединительная линия 19">
            <a:extLst xmlns:a="http://schemas.openxmlformats.org/drawingml/2006/main">
              <a:ext uri="{FF2B5EF4-FFF2-40B4-BE49-F238E27FC236}">
                <a16:creationId xmlns:a16="http://schemas.microsoft.com/office/drawing/2014/main" id="{731914E6-ED92-4DA7-A166-2A8B95EE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E44852F-A604-405D-BDF9-7D0DE775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2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03019B5-DE09-4EA5-8B3F-E6F5D80A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2e0d53cd894c0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47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8F86629C-7322-4DB6-AEE1-2CE7FBDE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9F717D3-1F75-4DCE-824C-D6ED2B8A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Логика курса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92323DC2-5280-446D-B7A8-304BB564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0ADBE542-91BD-43AC-8295-C829D78F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FC0937D3-B268-4FEF-B303-320C40F9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Профессия и границы ответственности.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0A37A062-19A3-4C3B-934E-4E82B1F0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45BB34E2-4926-40BA-B1D0-AC2BDB33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3E69FC48-3C32-4301-BFBB-2E5F320D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Подготовка рабочего места и заготовки.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A4AE46E6-A913-4DAC-84FD-640D4840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E2243870-5DB4-4709-BE53-36DBC14E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4C014274-56F0-4B7F-B1E2-4D4DBB91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Безопасные приёмы основных операций.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23521118-21CA-4D7E-977A-7296814B6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5EEDAEB3-DF73-4583-A7EA-9EB18E0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0B38AA55-BDCB-414C-ADC0-9ABFDA39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Инструмент, СИЗ и контроль рисков.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A56E8ED8-EBBA-435C-BC6A-BEC4959D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E7287DFB-8762-4F5E-BEEB-7A57B8BD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660453F8-D82B-4AF8-8BE8-40D098EB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Действия при неисправности и происшествии.</a:t>
            </a:r>
          </a:p>
        </p:txBody>
      </p:sp>
      <p:sp>
        <p:nvSpPr>
          <p:cNvPr id="18" name="Прямоугольник: скругленные углы 17">
            <a:extLst xmlns:a="http://schemas.openxmlformats.org/drawingml/2006/main">
              <a:ext uri="{FF2B5EF4-FFF2-40B4-BE49-F238E27FC236}">
                <a16:creationId xmlns:a16="http://schemas.microsoft.com/office/drawing/2014/main" id="{5A136A3C-19CD-461D-92D2-BEC9F68B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44383CCC-E647-4749-8904-5DE39220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C4D17E06-C9DB-4296-B898-DC2EE14E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смысловых блоков</a:t>
            </a:r>
          </a:p>
        </p:txBody>
      </p:sp>
      <p:sp>
        <p:nvSpPr>
          <p:cNvPr id="24" name="Прямая соединительная линия 23">
            <a:extLst xmlns:a="http://schemas.openxmlformats.org/drawingml/2006/main">
              <a:ext uri="{FF2B5EF4-FFF2-40B4-BE49-F238E27FC236}">
                <a16:creationId xmlns:a16="http://schemas.microsoft.com/office/drawing/2014/main" id="{040F6597-A2EC-42E6-8844-8847D40B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442E7C4-CF2D-45D2-8668-AEA56D5C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2656132-3259-4B1B-8E27-73EF3C05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b79b7b01c498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61126CF0-C4A8-47BA-94AA-F382BF2A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925882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D18006EF-AA1B-4983-8FAC-E0D226EE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e4e882c074da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9FBE42DC-9000-4B35-9852-3082E270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34F0C1F5-6624-436E-84F6-4E85C97F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60ED6C65-A92C-485F-A010-5241E86C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Профессия и подготовка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1839EC1B-5E88-48C9-BDE3-C0681638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Сначала определить задачу, условия и безопасный способ выполнения.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8D7F881C-BDF0-4516-9C85-6F24A91A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CAB3A28-0F46-4612-828C-BD7F1443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E5D1439-D133-4F73-9F1D-72CBC68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10028f84043b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6177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EA67158-F0DD-4229-A0F2-7B3DC3A7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2251EC-C5DC-4F35-9033-A8E44721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Плотник отвечает за точность и безопасность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2DCE8F2-BB0A-4D41-ACDD-469C13307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Работает с древесиной, листовыми материалами, конструкциями и крепежом в пределах задания.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Читает чертёж или схему, выбирает последовательность и проверяет исходный материал.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выполняет операции, для которых нет допуска, исправного оснащения или понятной технологии.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Согласует изменения конструкции и размеров с руководителем, а не исправляет проект самовольно.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271C5BA8-EE03-4AB6-8680-B55DB4B3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C34306B3-8E97-4B6D-8D10-1877A92B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EE3D5A1-ADBA-4995-8DF7-CBCB2981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Граница профессии определяется заданием, квалификацией и допуском.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ED4B47E5-9C7D-489F-93A9-220A027A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493BEA-0479-4A51-B465-37F552300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24089E4-13B8-489F-AA6D-2B50882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9957a9f37422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6855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405498F-2E1A-4E10-B951-96062538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AFD6753-2867-4730-B50E-68B4064B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Разряды отражают рост сложности работ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E1CB8AF-4A34-4F5D-A3B8-7B046D71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2–3-й разряды: подготовительные, простые сборочные и вспомогательные операции.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4–5-й разряды: изготовление и монтаж более сложных конструкций, точная подгонка.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6–7-й разряды: особо сложные работы, восстановление, шаблоны и контроль качества.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Конкретную операцию поручают с учётом квалификации, обучения и локального допуска.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3CA1BB71-BE5A-4D60-89C9-76EC50E4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1B397E4-D584-4D3E-81CF-9614C1F9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D4DF698-6F8F-4CD3-A183-819AC7E60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Высокий разряд не отменяет инструкцию и оценку риска.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50E619F9-21F2-4089-973C-B980F6A1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AB95390-F6DD-473B-BF23-C8AD9BB4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F456E49-0595-46CA-90E2-2FA153CD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23b59d44d4dc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18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792390FA-A9F1-469D-8E39-CE13306C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E57AEBE-4CB0-4B97-8E6F-1D92CA45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Подготовка рабочего места снижает риск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A45AF275-23C9-4F03-AD90-2399ED43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Уберите отходы и предметы, мешающие устойчивой стойке и свободному движению.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Обеспечьте достаточное освещение, вентиляцию и доступ к аварийному отключению.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Разместите материал и инструмент так, чтобы не тянуться через режущую зону.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Проверьте, что проходы и эвакуационные пути свободны.</a:t>
            </a:r>
          </a:p>
        </p:txBody>
      </p:sp>
      <p:pic>
        <p:nvPicPr>
          <p:cNvPr id="17" name="VISUAL_01_s0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7f64b07dba470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79F6B0C7-9458-4446-A0BF-A9708DA4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Чистое место — часть технологии, а не уборка после работы.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A7F81FEE-5C77-419B-A249-B48E83C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66CBD2A-0FE2-458B-B322-190A636F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A41801D-16A2-4170-880E-E666826D6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9ebe52663e435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760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B71033B-3EF6-4A3E-8C58-5661FD07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0576B46-3C9A-4AF7-B0DA-0621EAED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Заготовку нужно осмотреть и закрепить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6ED4432-8629-46CB-AF31-D0F698D3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Удалите или обозначьте гвозди, скобы, камни, металлические включения и загрязнения.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Проверьте трещины, сучки, коробление и направление волокон.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Закрепите заготовку упорами, тисками или струбцинами без повреждения детали.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Линия реза и выход инструмента не должны проходить через руку, опору или кабель.</a:t>
            </a:r>
          </a:p>
        </p:txBody>
      </p:sp>
      <p:pic>
        <p:nvPicPr>
          <p:cNvPr id="17" name="VISUAL_01_s0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0a7c089d24c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E0B04E89-644E-4112-9516-8687833F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Рукой удерживают управление, а не неустойчивую заготовку.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843EACCA-2787-48A7-99A1-658F84C8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C582445-9B00-476E-AEA6-2B1E803A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3079ACB-C63C-4511-ACD8-15425BCC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eb949776c845a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85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32CDDDCE-17B3-4D5C-9B71-E657C39E8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0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ff1de74e745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36CF325E-69EF-45A8-88F7-276F9CCF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075C6B1F-2314-48D9-8DA6-93BE4C4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9E0CFF7C-2875-493F-91BC-37A2FD58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Безопасная технология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49B4F638-961B-4CE7-BB49-982EB535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Каждая операция начинается с устойчивого положения и контролируемой траектории инструмента.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C98FA197-75A5-453B-9D4A-EDA41097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3B3BB88-5E93-4162-BB90-F9E0FA3F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4132BA9-6694-4D49-80E5-921A071D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d443542f347d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0750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EBA480C2-AA32-4D5D-8140-D7CAC127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0AF65A1-43E0-4686-8DB4-69E59C46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Ручная распиловка по свободной линии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B831EA7-632C-46D2-A37E-61F8447F3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Выберите пилу по материалу и виду реза; полотно должно быть исправным и натянутым.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Начинайте короткими направляющими движениями, удерживая пальцы вне линии полотна.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Поддерживайте отрезаемую часть, чтобы она не зажала полотно и не сорвалась.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направляйте пилу на себя и не очищайте зубья рукой во время движения.</a:t>
            </a:r>
          </a:p>
        </p:txBody>
      </p:sp>
      <p:pic>
        <p:nvPicPr>
          <p:cNvPr id="17" name="VISUAL_01_s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ce2769ba241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D02D0588-8FCD-4B87-8AE1-EB06F4041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Линия реза должна быть свободна перед полотном и за ним.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5C08A0B4-7218-48FD-A3C7-27A76A4E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ECD4C93-CB3E-456A-8417-A94F3B97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C6D2414-F071-49D5-B3D4-8A5106AB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d535e6c3e473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018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AE431C7B-FDE3-4CB1-B9DE-BBAB594E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ED21605-646A-44D9-9753-D41B6469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Тесание и строгание выполняют от тела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D71384C9-3307-4A1F-9D10-A63582C3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Проверьте крепление рукоятки топора и состояние режущей кромки рубанка.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Заготовку закрепите так, чтобы она не смещалась при ударе или проходе инструмента.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Держите свободную руку вне траектории лезвия и зоны возможного соскальзывания.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Стружку удаляйте после остановки, щёткой или приспособлением.</a:t>
            </a:r>
          </a:p>
        </p:txBody>
      </p:sp>
      <p:pic>
        <p:nvPicPr>
          <p:cNvPr id="17" name="VISUAL_01_s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c51ea0720f46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F927B4-D39E-4174-AE67-A864FF50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Рабочая траектория не пересекает тело работника.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AF70691E-9E86-4D55-9C5C-2D399F05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6A1759E-D8E3-4719-988D-365555F3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6741C8B-FAE7-44B0-BF0B-349B7DF7B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54a806c82482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1690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A8E2FD86-47A6-4EBA-9581-C1DAA729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3A8B50A-B802-41AD-A953-44E102A8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Стамеска и молоток: исправная опора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263B836A-2F7C-4054-97B2-26FD7ECD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Стамеска должна иметь целую рукоятку и исправное кольцо; затупившуюся кромку затачивают безопасно.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 направляйте режущую кромку на ладонь и не удерживайте деталь перед лезвием.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 молотка проверяйте насадку бойка, расклинивание и отсутствие трещин рукоятки.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Крепёж подавайте и удерживайте способом, исключающим удар по пальцам.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7F3A762E-C540-4459-B772-219BC88A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92BBFA0F-FCF0-4211-9ACF-69E32649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CB35B84-B31C-46A0-B35B-B8FA29F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Исправная рукоятка и правильная опора предотвращают срыв.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70685DF7-BFFC-4AC1-B195-BD41752C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C94E892-00B6-43C8-9813-0F39FD33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D7458B0-E0BF-4347-88B0-D6A2F5FD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8c4ec396c94f8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296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14314511-D3A0-4ED2-8F1A-8FE0D13B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471E668-F5A7-4D0F-8357-34EEF3878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Строительные работы выполняют по чертежу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5EECDD15-05BE-455B-A968-82D84508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Разметку и узлы сверяйте с рабочей документацией до резки материала.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Временные опоры и крепления не снимают до достижения устойчивости конструкции.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 монтаже согласуйте порядок подачи деталей и исключите нахождение людей под грузом.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Отклонения размеров, влажности или качества материала сообщайте руководителю.</a:t>
            </a:r>
          </a:p>
        </p:txBody>
      </p:sp>
      <p:pic>
        <p:nvPicPr>
          <p:cNvPr id="17" name="VISUAL_01_s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9830b706b2468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E19A659-C7A3-4BC9-AF31-130FA1D1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Самовольная подгонка несущего элемента может изменить его работу.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DAF4D435-824E-4A88-BFE3-81408D97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0B09CD3-EF20-4BD3-99F2-60AE8E74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0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7CE6132-E579-4151-8438-48FA66FB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2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b0c7d1390431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0573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FB9BEA6F-D163-4BE1-86A6-9BF3C565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0935B50-667E-4C32-9BD1-E5A1A586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Безопасная подгонка полов и проёмов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3D780975-1D5E-4DAB-B30A-7499B85A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Материал складируйте устойчиво, не перекрывая проходы и края проёмов.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Деталь подгоняйте на рабочем месте с надёжной фиксацией, а не на весу.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При работе у проёма применяйте предусмотренные ограждения и безопасный доступ.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Стекло, фурнитуру и тяжёлые элементы перемещайте согласованно и подходящими захватами.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6FD37536-3707-4929-836C-4CA44EB6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671F67D-32BF-4217-AAE0-078E1FA7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7455C35-1E29-41A6-A96B-E0CD675A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Подгонка у незакрытого проёма требует отдельной защиты от падения.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20862FDF-17C0-438E-A9EF-F51805B1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1160A29-3685-40E5-9ACB-822AE45C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Работы на высоте — приказ № 109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0B1647B-FB5C-42DB-9D1F-C02FEF5E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A417637-B562-4548-AE39-45E84206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9b27255b0485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8645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5EAE338-F110-4721-BEEE-47197D76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364B104-EAE1-45DD-A2CA-7C799D61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Технология зависит от области работ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F89B55C-C8CE-4068-91BF-4FC8B640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Строительные работы: конструкции, опалубка, настилы, проёмы и временные элементы.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Отделка и мебель: более точная обработка, сборка, фурнитура и качество поверхности.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Реставрация: сохранение существующего материала и согласованная технология ремонта.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Лесозаготовительные операции относятся к отдельной организации работ и рискам.</a:t>
            </a:r>
          </a:p>
        </p:txBody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71E301DC-E431-4D28-831F-5D214848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E0DA54CA-1517-4279-84AD-D60941535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CDB6B7B-35C7-4685-8C3C-1AB968D8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Одинаковый инструмент не делает технологии взаимозаменяемыми.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F43A04B9-45D7-4CC4-8735-2B781916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BCECB31-1BD8-4A94-8B04-B604807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30080F4-9E57-4627-8688-101EEC0C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bbd852ba0346f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2322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224BAC6E-E258-4C01-AA00-C1B0219D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1_s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8305fb3e64f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1EE5230A-B576-47F5-BC53-12BA4B409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208629E8-2832-4D3D-92DA-430C1BA4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F353C49-8C2F-4754-89C1-823FD3CA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Инструменты и риски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9B51E954-202B-4613-A0E7-C5A2E763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Исправность, подходящая оснастка и защитные устройства важнее скорости операции.</a:t>
            </a: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19E8F559-F9DE-4271-A130-5DED88BD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FF524AF-0402-4929-B9A5-085A44E1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3AFA046-BA08-448D-BE04-FE8F6091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03dfcae8114cf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38469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8DDAFC3E-11A0-4A5B-8D3F-CA27BA8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EDCFB8E-22B0-43F5-9E00-50DAA003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Ручной инструмент проверяют до работы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5FCE04BD-4FE5-4ACD-82BC-2E968F27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Инструмент соответствует операции, размеру детали и материалу.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Рукоятки целые, сухие и надёжно закреплены; кромки и зубья без трещин и сколов.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Защитные чехлы и места хранения не повреждают режущие части.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Неисправный инструмент маркируют и выводят из применения.</a:t>
            </a:r>
          </a:p>
        </p:txBody>
      </p:sp>
      <p:pic>
        <p:nvPicPr>
          <p:cNvPr id="18" name="VISUAL_01_s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fe38ec54e4b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A9A47D10-F086-442F-A7B6-9BD23A9C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Подручная замена инструменту создаёт непредсказуемую нагрузку.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8D2D896-2CBE-47F8-8D6C-DFC1A0DF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D3952ED-FC53-4234-A1E3-113A7CD6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инструмента — приказ № 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F195D56-EBF3-48B0-9D21-D51A0CDC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FB062D9-4E33-4ED5-8ADC-EA432615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21f094add4cb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5565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881498A-94FF-4D08-90DD-42A4697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6862D9-CD15-4201-A7F8-0B52826D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Электроинструмент применяют по назначению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21018B5A-4DDA-4AB5-9D41-7B1E560B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Циркулярная пила: исправный кожух, подходящий диск, устойчивое ведение без бокового давления.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Лобзик и фрезер: закреплённая заготовка, исправная оснастка, полная остановка перед регулировкой.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Дрель: правильно зажатое сверло и исключение вращения детали.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Шлифмашина: круг или лента соответствуют инструменту, материалу и допустимой скорости.</a:t>
            </a:r>
          </a:p>
        </p:txBody>
      </p:sp>
      <p:pic>
        <p:nvPicPr>
          <p:cNvPr id="18" name="VISUAL_01_s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0e3f3287ba4b2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8695593-F136-4D58-AA34-0882EEB7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Перед сменой оснастки питание отключают и исключают случайный пуск.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8F665187-3174-46A2-92AF-59D96717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F0219F9-AB08-4003-B0A7-26969647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инструмента — приказ № 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36C4853-F615-467B-A1AE-6EEAED44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CCE750D-6ADA-4B34-8470-C2178909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f7499f75274af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275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535FC0E9-73DF-44CF-BD87-85B3BF3E8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1392265-EFEB-46D1-A3A6-B665AB12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Ограждения и оснастку нельзя обходить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8F2F3BEC-BFAD-45BA-A882-696A4E09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Кожухи и ограждения должны быть на месте, двигаться свободно и закрывать опасную часть.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Кабель, вилка, выключатель и ввод в корпус не имеют повреждений и следов перегрева.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Диск, полотно, фреза или сверло подходят по размеру и характеристикам изготовителя.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Самодельные переходники, блокировка выключателя и снятие защиты запрещены.</a:t>
            </a:r>
          </a:p>
        </p:txBody>
      </p:sp>
      <p:pic>
        <p:nvPicPr>
          <p:cNvPr id="18" name="VISUAL_01_s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a9e0d3a39481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AF0A70BA-A1DC-4AEB-98F2-2A263AC4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Защита не мешает работе — она ограничивает доступ к опасной энергии.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261BD0DF-658C-44AF-A459-F83D1B16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68E9B9A-781F-494C-802F-4C582F4B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инструмента — приказ № 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54D49CC-587F-4E49-9774-042A4DD0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0D0D857-9523-422D-838F-8E4516C9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c7ab80a28435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0955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8E07682F-2E70-4B2E-8CA8-4F88331A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1049FA1-0344-4E8F-9AB7-7204D4C6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Неисправность означает остановку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E20C953-3971-42B3-A40C-254D9AC2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Прямоугольник: скругленные углы 3">
            <a:extLst xmlns:a="http://schemas.openxmlformats.org/drawingml/2006/main">
              <a:ext uri="{FF2B5EF4-FFF2-40B4-BE49-F238E27FC236}">
                <a16:creationId xmlns:a16="http://schemas.microsoft.com/office/drawing/2014/main" id="{5FCC0A0B-8681-40E4-BCAD-B98385E4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08ACC252-0EA7-4E30-80C8-0317C5C25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9EE63C0-C037-439B-ABA5-97DA83FC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Искрение, запах перегрева, необычный шум или вибрация.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Заклинивание, биение, трещина диска, полотна или корпуса.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Самопроизвольный пуск, неработающий выключатель или защитный кожух.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Повреждённый кабель, вилка, заземление или следы влаги.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93056046-457C-4F78-BBCA-4D0158F6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Отключить — обозначить — сообщить. Не ремонтировать без полномочий.</a:t>
            </a:r>
          </a:p>
        </p:txBody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4994AA51-36B1-44CD-B58F-42B0EB84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34DCEEB-4403-4897-A97C-80CB71F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инструмента — приказ № 204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0A5B65D-E1FB-4663-93D9-C4F19320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3705FF3-5D01-4874-A228-403254BF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682b5e31b4ad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DDE9D41F-F78F-488B-B272-0D32F37D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СТОП</a:t>
            </a:r>
          </a:p>
        </p:txBody>
      </p:sp>
    </p:spTree>
    <p:extLst>
      <p:ext uri="{BB962C8B-B14F-4D97-AF65-F5344CB8AC3E}">
        <p14:creationId xmlns:p14="http://schemas.microsoft.com/office/powerpoint/2010/main" val="4677927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ED4C03F1-8F19-4246-B88C-51890FCB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CBCEF85-1EB5-46E0-A16E-6A970F20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Пыль, шум и стружка требуют контроля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7733910A-406C-4712-B85B-D1D2F995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РИСК / ИСТОЧНИК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4E34184E-7779-438D-9977-DD878E5B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ПОСЛЕДСТВИЕ</a:t>
            </a: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1973402E-4438-46E0-8ECD-17314866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МЕРА КОНТРОЛЯ</a:t>
            </a:r>
          </a:p>
        </p:txBody>
      </p:sp>
      <p:sp>
        <p:nvSpPr>
          <p:cNvPr id="6" name="Прямоугольник: скругленные углы 5">
            <a:extLst xmlns:a="http://schemas.openxmlformats.org/drawingml/2006/main">
              <a:ext uri="{FF2B5EF4-FFF2-40B4-BE49-F238E27FC236}">
                <a16:creationId xmlns:a16="http://schemas.microsoft.com/office/drawing/2014/main" id="{4D6D3273-4369-4772-A3E6-B3528253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D0E89325-4FE5-4FE7-86DC-7EB75557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Древесная пыль</a:t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7396B99-A12D-4095-98A8-DC5D2ECCC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Раздражение, снижение видимости, пожарный риск</a:t>
            </a:r>
          </a:p>
        </p:txBody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4BE0934-8B3C-43D8-B5FC-BF7E9AAB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Местное удаление, уборка, подходящая защита дыхания</a:t>
            </a:r>
          </a:p>
        </p:txBody>
      </p:sp>
      <p:sp>
        <p:nvSpPr>
          <p:cNvPr id="10" name="Прямоугольник: скругленные углы 9">
            <a:extLst xmlns:a="http://schemas.openxmlformats.org/drawingml/2006/main">
              <a:ext uri="{FF2B5EF4-FFF2-40B4-BE49-F238E27FC236}">
                <a16:creationId xmlns:a16="http://schemas.microsoft.com/office/drawing/2014/main" id="{D898839C-CDF2-4F51-8955-D3A8D980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5F1310D6-B766-4AB4-907E-EF3FB7BB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Шум</a:t>
            </a:r>
          </a:p>
        </p:txBody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90F88AA8-88B9-4807-BFD6-AE2DCDB0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Постепенное снижение слуха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A2238CC-91FE-4BB0-B1A3-F23C12DA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Исправный инструмент, ограничение воздействия, защита слуха</a:t>
            </a:r>
          </a:p>
        </p:txBody>
      </p:sp>
      <p:sp>
        <p:nvSpPr>
          <p:cNvPr id="14" name="Прямоугольник: скругленные углы 13">
            <a:extLst xmlns:a="http://schemas.openxmlformats.org/drawingml/2006/main">
              <a:ext uri="{FF2B5EF4-FFF2-40B4-BE49-F238E27FC236}">
                <a16:creationId xmlns:a16="http://schemas.microsoft.com/office/drawing/2014/main" id="{2AA32AF0-8319-4622-A095-70F89DFF7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DCC7F83A-033C-4F94-B975-7595EF23D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Стружка и осколки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89EE5928-B4BE-4457-8D41-0E37C572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Травма глаз и кожи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3C1FCDE7-7CA3-4C35-BED2-DEC4856C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Ограждение, направление выброса, защита глаз</a:t>
            </a:r>
          </a:p>
        </p:txBody>
      </p:sp>
      <p:sp>
        <p:nvSpPr>
          <p:cNvPr id="18" name="Прямоугольник: скругленные углы 17">
            <a:extLst xmlns:a="http://schemas.openxmlformats.org/drawingml/2006/main">
              <a:ext uri="{FF2B5EF4-FFF2-40B4-BE49-F238E27FC236}">
                <a16:creationId xmlns:a16="http://schemas.microsoft.com/office/drawing/2014/main" id="{873A9AE0-5640-4761-92A0-1F0A95BA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0E6B301-22FE-47B4-839C-068C0584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Отходы</a:t>
            </a:r>
          </a:p>
        </p:txBody>
      </p:sp>
      <p:sp>
        <p:nvSpPr>
          <p:cNvPr id="20" name="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A12BF260-B8C0-438D-8436-38F1E347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Поскальзывание и распространение огня</a:t>
            </a:r>
          </a:p>
        </p:txBody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A8DCABAE-8FA7-402B-86D1-10164645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Регулярная уборка и безопасное накопление</a:t>
            </a: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5C65ECE8-92D7-4961-A7CD-E65ECEB0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Пыль удаляют у источника, а не сдувают в рабочую зону.</a:t>
            </a:r>
          </a:p>
        </p:txBody>
      </p:sp>
      <p:sp>
        <p:nvSpPr>
          <p:cNvPr id="25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90789FBE-9D86-4A40-AB94-8A88DA0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B5EEFE6-C648-4C75-8DE2-29EDD8FD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Правила пожарной безопасности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AB5D39B-3C64-4228-AF6A-B4DB3D6B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E1FDF37-2D44-44AA-A3FE-E4324A83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4956df6922486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6589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6D670721-0A6A-4158-BF01-22A0FAEF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2D84E7F-00AF-4967-9F97-7F6C62ED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Очистка — только после полной остановки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4D02AB1B-35B9-4313-A9C6-47AFF74A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Отключите питание, дождитесь полной остановки и исключите повторный пуск.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Удаляйте стружку щёткой, крючком или пылеудалением, не рукой возле режущей части.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Проверяйте крепёж, вентиляционные отверстия и состояние оснастки по инструкции.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Храните сухой инструмент и острые части в чехлах или предусмотренных местах.</a:t>
            </a:r>
          </a:p>
        </p:txBody>
      </p:sp>
      <p:pic>
        <p:nvPicPr>
          <p:cNvPr id="18" name="VISUAL_01_s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4a26358ff41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4E8F306B-3006-4B7D-85CD-934C56F5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Обслуживание начинается только после снятия опасной энергии.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AF8A746-DE06-4BCD-B708-8893BF3B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EA6C51E-15E3-4EFC-9615-27C9C90E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Безопасность инструмента — приказ № 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236FF23-EC3C-418F-9128-4F295C8BA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FA8DCEC-A96D-474D-9D21-A5038B06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e2386ecdc46e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9129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44095FF4-A3DF-483D-AF2E-8E6AA640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6475F29-B0C0-43C4-8FBC-D30E0DE6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СИЗ выбирают по фактическому риску</a:t>
            </a:r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17447B0-738F-4267-9D43-123235E9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Защита глаз — при стружке, пыли и разрушении оснастки; защита слуха — при шуме.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Защита дыхания дополняет, но не заменяет пылеудаление и вентиляцию.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Обувь и одежда должны обеспечивать устойчивость и не иметь свободных частей.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Свободные перчатки не применяют там, где их может затянуть вращающаяся часть.</a:t>
            </a:r>
          </a:p>
        </p:txBody>
      </p:sp>
      <p:pic>
        <p:nvPicPr>
          <p:cNvPr id="18" name="VISUAL_01_s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b3e5a263d4e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848600" y="1809750"/>
            <a:ext cx="3771900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51AE924-BD5C-447E-B8B8-50303BED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219700"/>
            <a:ext cx="3771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СИЗ — последняя линия защиты после технических и организационных мер.</a:t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792727B1-EAE7-49B4-ACDA-6DFEA2A6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9C3F487-50CB-40C9-BAAB-C105A6414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EDFF39C-B7FB-407C-932F-79E8606C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4369D574-DEC9-4AE9-BE4F-2F60F956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39be28c604b4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687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Прямоугольник 28">
            <a:extLst xmlns:a="http://schemas.openxmlformats.org/drawingml/2006/main">
              <a:ext uri="{FF2B5EF4-FFF2-40B4-BE49-F238E27FC236}">
                <a16:creationId xmlns:a16="http://schemas.microsoft.com/office/drawing/2014/main" id="{C1038A7F-F03C-4125-9255-D55F3615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4778BF8-484D-4B28-A412-8707C4AF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При происшествии действуйте по приоритету</a:t>
            </a:r>
          </a:p>
        </p:txBody>
      </p:sp>
      <p:sp>
        <p:nvSpPr>
          <p:cNvPr id="3" name="Прямая соединительная линия 2">
            <a:extLst xmlns:a="http://schemas.openxmlformats.org/drawingml/2006/main">
              <a:ext uri="{FF2B5EF4-FFF2-40B4-BE49-F238E27FC236}">
                <a16:creationId xmlns:a16="http://schemas.microsoft.com/office/drawing/2014/main" id="{A0906B2E-30BC-438C-989F-125E719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Овал 3">
            <a:extLst xmlns:a="http://schemas.openxmlformats.org/drawingml/2006/main">
              <a:ext uri="{FF2B5EF4-FFF2-40B4-BE49-F238E27FC236}">
                <a16:creationId xmlns:a16="http://schemas.microsoft.com/office/drawing/2014/main" id="{3CF736D1-139A-4235-8528-EEACAD3B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B735D3B-0916-4101-B26A-D9EA8798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42A979C-FC13-46A5-BA0E-BAF29FCE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Остановить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96CC09C-58E1-442F-A9C7-86D22236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Отпустить пуск, отключить питание, не входить в опасную зону.</a:t>
            </a:r>
          </a:p>
        </p:txBody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2F2920B9-AA5D-4692-B6A5-45185F7E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5FB57AAE-7B76-4337-A393-CC12B2DC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B092EFF0-2147-4675-B2DA-7F29A3772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Защитить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E9BC35E0-B4C4-4B1B-BF02-A350417C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Предупредить людей, при необходимости вызвать 112 и первую помощь.</a:t>
            </a:r>
          </a:p>
        </p:txBody>
      </p:sp>
      <p:sp>
        <p:nvSpPr>
          <p:cNvPr id="12" name="Овал 11">
            <a:extLst xmlns:a="http://schemas.openxmlformats.org/drawingml/2006/main">
              <a:ext uri="{FF2B5EF4-FFF2-40B4-BE49-F238E27FC236}">
                <a16:creationId xmlns:a16="http://schemas.microsoft.com/office/drawing/2014/main" id="{DDF6B936-B24C-452F-ABA6-AE3D442E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9DB1BA1F-6DB7-4203-ACFE-E88F45B9F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CC70962C-62B4-47B9-B630-8807CEB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Сообщить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0475B536-97FE-4448-A9A6-2FE55820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Уведомить руководителя, сохранить обстановку, если это безопасно.</a:t>
            </a:r>
          </a:p>
        </p:txBody>
      </p:sp>
      <p:sp>
        <p:nvSpPr>
          <p:cNvPr id="16" name="Овал 15">
            <a:extLst xmlns:a="http://schemas.openxmlformats.org/drawingml/2006/main">
              <a:ext uri="{FF2B5EF4-FFF2-40B4-BE49-F238E27FC236}">
                <a16:creationId xmlns:a16="http://schemas.microsoft.com/office/drawing/2014/main" id="{835393D6-D308-48A7-BF99-5BB80F86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1B9A0D04-4AF0-48C9-B614-FEB2DEA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B3DA6D99-53BA-4489-BDD2-25F8DB66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Возобновить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6759EE4-6D7A-4F01-ACBD-986F05EA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Только после устранения причины и разрешения ответственного лица.</a:t>
            </a:r>
          </a:p>
        </p:txBody>
      </p:sp>
      <p:sp>
        <p:nvSpPr>
          <p:cNvPr id="20" name="Прямоугольник: скругленные углы 19">
            <a:extLst xmlns:a="http://schemas.openxmlformats.org/drawingml/2006/main">
              <a:ext uri="{FF2B5EF4-FFF2-40B4-BE49-F238E27FC236}">
                <a16:creationId xmlns:a16="http://schemas.microsoft.com/office/drawing/2014/main" id="{F6B6CCC4-C17C-410D-A903-B797891F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Прямоугольник 20">
            <a:extLst xmlns:a="http://schemas.openxmlformats.org/drawingml/2006/main">
              <a:ext uri="{FF2B5EF4-FFF2-40B4-BE49-F238E27FC236}">
                <a16:creationId xmlns:a16="http://schemas.microsoft.com/office/drawing/2014/main" id="{00CCAB7A-71C7-4A79-9C5F-1521FAFE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D7D8D25-B6FD-414A-AC30-7B3E105E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Заклинивание, поражение током, разрушение оснастки и возгорание — повод немедленно остановиться.</a:t>
            </a:r>
          </a:p>
        </p:txBody>
      </p:sp>
      <p:sp>
        <p:nvSpPr>
          <p:cNvPr id="25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6FE12FFB-BFE4-44F3-9045-C42A8660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E827D57-C383-430D-8F9F-09367829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Норма: Трудовой кодекс РК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0A6EAAB-04FF-49D5-8DE3-CC175D7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Плотник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97EC14B-A2B4-49DB-8178-DDB9AE6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1137e6749409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35430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4D0CD42A-C883-4FC6-A57F-1D183504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Итоговый чек-лист плотника</a:t>
            </a:r>
          </a:p>
        </p:txBody>
      </p:sp>
      <p:sp>
        <p:nvSpPr>
          <p:cNvPr id="2" name="Овал 1">
            <a:extLst xmlns:a="http://schemas.openxmlformats.org/drawingml/2006/main">
              <a:ext uri="{FF2B5EF4-FFF2-40B4-BE49-F238E27FC236}">
                <a16:creationId xmlns:a16="http://schemas.microsoft.com/office/drawing/2014/main" id="{E928C206-2AED-49F6-9D8D-DABC5E01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C50D99D9-CF85-4E31-B813-AD262A23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187AFA18-C454-4921-B29D-41243AA72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Задание и технология понятны; материал осмотрен.</a:t>
            </a:r>
          </a:p>
        </p:txBody>
      </p:sp>
      <p:sp>
        <p:nvSpPr>
          <p:cNvPr id="5" name="Овал 4">
            <a:extLst xmlns:a="http://schemas.openxmlformats.org/drawingml/2006/main">
              <a:ext uri="{FF2B5EF4-FFF2-40B4-BE49-F238E27FC236}">
                <a16:creationId xmlns:a16="http://schemas.microsoft.com/office/drawing/2014/main" id="{194DC14E-46FB-41CD-8C61-CAD1B98A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4C9CDDB0-7772-4342-8100-C734F255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CF5F149D-76A0-435A-A5E3-CA21BA7B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Рабочее место освещено, проходы свободны, заготовка закреплена.</a:t>
            </a:r>
          </a:p>
        </p:txBody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EA02E7FF-BF94-48E3-84F8-39CAC6E0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4F074794-DFE6-4856-BA13-49DD538E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86BB7BB9-F235-4BF8-804A-D02DA7AB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Инструмент и оснастка исправны, ограждения установлены.</a:t>
            </a:r>
          </a:p>
        </p:txBody>
      </p:sp>
      <p:sp>
        <p:nvSpPr>
          <p:cNvPr id="11" name="Овал 10">
            <a:extLst xmlns:a="http://schemas.openxmlformats.org/drawingml/2006/main">
              <a:ext uri="{FF2B5EF4-FFF2-40B4-BE49-F238E27FC236}">
                <a16:creationId xmlns:a16="http://schemas.microsoft.com/office/drawing/2014/main" id="{FD1FD7D0-D24F-48DA-988A-A17B2032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43998026-5F1D-4EAF-8079-45F27E93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75604780-A8C8-4A71-AB58-5873CC83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СИЗ выбраны по риску; пылеудаление и вентиляция работают.</a:t>
            </a:r>
          </a:p>
        </p:txBody>
      </p:sp>
      <p:sp>
        <p:nvSpPr>
          <p:cNvPr id="14" name="Овал 13">
            <a:extLst xmlns:a="http://schemas.openxmlformats.org/drawingml/2006/main">
              <a:ext uri="{FF2B5EF4-FFF2-40B4-BE49-F238E27FC236}">
                <a16:creationId xmlns:a16="http://schemas.microsoft.com/office/drawing/2014/main" id="{DE3876AE-0514-4D81-B30F-5E311A20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A82D3724-FD5D-4725-90EF-CDC20CBF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B3C418EC-8899-493C-B00A-DEAC7C75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При неисправности, изменении условий или угрозе работа остановлена.</a:t>
            </a:r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860DB556-EA56-454C-B527-F4DC1AFE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Нажмите «Начать тест»</a:t>
            </a: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CE80253-E00F-496D-B0ED-9B9F166F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Актуализировано: 21.08.2026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779a4dfff4a7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82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2026-08-25T14:17:34.0820000Z</dcterms:created>
  <dcterms:modified xsi:type="dcterms:W3CDTF">2026-08-25T14:17:34.0820000Z</dcterms:modified>
</coreProperties>
</file>