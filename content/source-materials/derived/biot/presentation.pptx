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da6f82b8954a10" /><Relationship Type="http://schemas.openxmlformats.org/officeDocument/2006/relationships/extended-properties" Target="/docProps/app.xml" Id="Rfb9a35e68e33479a" /><Relationship Type="http://schemas.openxmlformats.org/officeDocument/2006/relationships/officeDocument" Target="/ppt/presentation.xml" Id="R049a91753fed4e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88287b776440ea"/>
    <p:sldMasterId xmlns:r="http://schemas.openxmlformats.org/officeDocument/2006/relationships" id="2147483650" r:id="R3d758965b10c40f2"/>
  </p:sldMasterIdLst>
  <p:sldIdLst>
    <p:sldId xmlns:r="http://schemas.openxmlformats.org/officeDocument/2006/relationships" id="256" r:id="R405545879c5f46c9"/>
    <p:sldId xmlns:r="http://schemas.openxmlformats.org/officeDocument/2006/relationships" id="257" r:id="Rc687dbfc40354a23"/>
    <p:sldId xmlns:r="http://schemas.openxmlformats.org/officeDocument/2006/relationships" id="258" r:id="R65ef6b21b61e45c8"/>
    <p:sldId xmlns:r="http://schemas.openxmlformats.org/officeDocument/2006/relationships" id="259" r:id="R6eaf9b27765b4dc0"/>
    <p:sldId xmlns:r="http://schemas.openxmlformats.org/officeDocument/2006/relationships" id="260" r:id="R294a52c0bfb246aa"/>
    <p:sldId xmlns:r="http://schemas.openxmlformats.org/officeDocument/2006/relationships" id="261" r:id="R899cf869067640a5"/>
    <p:sldId xmlns:r="http://schemas.openxmlformats.org/officeDocument/2006/relationships" id="262" r:id="Rc6c584dd70e84631"/>
    <p:sldId xmlns:r="http://schemas.openxmlformats.org/officeDocument/2006/relationships" id="263" r:id="R8b8fd9f386204ed2"/>
    <p:sldId xmlns:r="http://schemas.openxmlformats.org/officeDocument/2006/relationships" id="264" r:id="R21b916c6695a4141"/>
    <p:sldId xmlns:r="http://schemas.openxmlformats.org/officeDocument/2006/relationships" id="265" r:id="R1620934396464545"/>
    <p:sldId xmlns:r="http://schemas.openxmlformats.org/officeDocument/2006/relationships" id="266" r:id="Rc49686e10f484115"/>
    <p:sldId xmlns:r="http://schemas.openxmlformats.org/officeDocument/2006/relationships" id="267" r:id="Ra0130eb35d9343fd"/>
    <p:sldId xmlns:r="http://schemas.openxmlformats.org/officeDocument/2006/relationships" id="268" r:id="Rc2d098de4df44787"/>
    <p:sldId xmlns:r="http://schemas.openxmlformats.org/officeDocument/2006/relationships" id="269" r:id="R45afba63ce7a4844"/>
    <p:sldId xmlns:r="http://schemas.openxmlformats.org/officeDocument/2006/relationships" id="270" r:id="R1b8bb1f33f9f4409"/>
    <p:sldId xmlns:r="http://schemas.openxmlformats.org/officeDocument/2006/relationships" id="271" r:id="R66afd60b41ed4193"/>
    <p:sldId xmlns:r="http://schemas.openxmlformats.org/officeDocument/2006/relationships" id="272" r:id="R1a0a42d78cbb4a11"/>
    <p:sldId xmlns:r="http://schemas.openxmlformats.org/officeDocument/2006/relationships" id="273" r:id="Rff1ca9b1ed0c46ab"/>
    <p:sldId xmlns:r="http://schemas.openxmlformats.org/officeDocument/2006/relationships" id="274" r:id="R7ca56835148c4b76"/>
    <p:sldId xmlns:r="http://schemas.openxmlformats.org/officeDocument/2006/relationships" id="275" r:id="R2dcbdef046c8409d"/>
    <p:sldId xmlns:r="http://schemas.openxmlformats.org/officeDocument/2006/relationships" id="276" r:id="Rdb84392eb88b4649"/>
    <p:sldId xmlns:r="http://schemas.openxmlformats.org/officeDocument/2006/relationships" id="277" r:id="Rdfdfcf552991418d"/>
    <p:sldId xmlns:r="http://schemas.openxmlformats.org/officeDocument/2006/relationships" id="278" r:id="R306bff6d11334780"/>
    <p:sldId xmlns:r="http://schemas.openxmlformats.org/officeDocument/2006/relationships" id="279" r:id="Rc99646f26b6946e9"/>
    <p:sldId xmlns:r="http://schemas.openxmlformats.org/officeDocument/2006/relationships" id="280" r:id="R240f391b93eb481f"/>
    <p:sldId xmlns:r="http://schemas.openxmlformats.org/officeDocument/2006/relationships" id="281" r:id="R74b7a78f34054e32"/>
    <p:sldId xmlns:r="http://schemas.openxmlformats.org/officeDocument/2006/relationships" id="282" r:id="R0e8fe284b8ce46d5"/>
    <p:sldId xmlns:r="http://schemas.openxmlformats.org/officeDocument/2006/relationships" id="283" r:id="Rce100674a5db47a6"/>
    <p:sldId xmlns:r="http://schemas.openxmlformats.org/officeDocument/2006/relationships" id="284" r:id="Rb55877e719294e4a"/>
    <p:sldId xmlns:r="http://schemas.openxmlformats.org/officeDocument/2006/relationships" id="285" r:id="R070daf8bbc0643e3"/>
    <p:sldId xmlns:r="http://schemas.openxmlformats.org/officeDocument/2006/relationships" id="286" r:id="R1ab52113413e4551"/>
    <p:sldId xmlns:r="http://schemas.openxmlformats.org/officeDocument/2006/relationships" id="287" r:id="Re2fec673e9354355"/>
    <p:sldId xmlns:r="http://schemas.openxmlformats.org/officeDocument/2006/relationships" id="288" r:id="Rdaee40db69d64eb6"/>
    <p:sldId xmlns:r="http://schemas.openxmlformats.org/officeDocument/2006/relationships" id="289" r:id="R9f8f1c5450cd4506"/>
    <p:sldId xmlns:r="http://schemas.openxmlformats.org/officeDocument/2006/relationships" id="290" r:id="Rc166a472ed494d0b"/>
    <p:sldId xmlns:r="http://schemas.openxmlformats.org/officeDocument/2006/relationships" id="291" r:id="R75ecd9de66b54aee"/>
    <p:sldId xmlns:r="http://schemas.openxmlformats.org/officeDocument/2006/relationships" id="292" r:id="Rcd7a21b48d3d40bc"/>
    <p:sldId xmlns:r="http://schemas.openxmlformats.org/officeDocument/2006/relationships" id="293" r:id="R4a87bfc5c6c042e2"/>
    <p:sldId xmlns:r="http://schemas.openxmlformats.org/officeDocument/2006/relationships" id="294" r:id="R434d3a247047451b"/>
    <p:sldId xmlns:r="http://schemas.openxmlformats.org/officeDocument/2006/relationships" id="295" r:id="Red08a5f8a6664f6b"/>
    <p:sldId xmlns:r="http://schemas.openxmlformats.org/officeDocument/2006/relationships" id="296" r:id="Re2b2826fa8054dee"/>
    <p:sldId xmlns:r="http://schemas.openxmlformats.org/officeDocument/2006/relationships" id="297" r:id="R7a205ff16942469d"/>
    <p:sldId xmlns:r="http://schemas.openxmlformats.org/officeDocument/2006/relationships" id="298" r:id="R8ad7d3e33e784aa7"/>
    <p:sldId xmlns:r="http://schemas.openxmlformats.org/officeDocument/2006/relationships" id="299" r:id="R7ba1c620707249c9"/>
    <p:sldId xmlns:r="http://schemas.openxmlformats.org/officeDocument/2006/relationships" id="300" r:id="R1dd51d65087648cc"/>
    <p:sldId xmlns:r="http://schemas.openxmlformats.org/officeDocument/2006/relationships" id="301" r:id="Re58534ea3fb2481d"/>
    <p:sldId xmlns:r="http://schemas.openxmlformats.org/officeDocument/2006/relationships" id="302" r:id="Rd1fec2b264024462"/>
    <p:sldId xmlns:r="http://schemas.openxmlformats.org/officeDocument/2006/relationships" id="303" r:id="R6fffbb3be9f04867"/>
    <p:sldId xmlns:r="http://schemas.openxmlformats.org/officeDocument/2006/relationships" id="304" r:id="R779471fba2414bf5"/>
    <p:sldId xmlns:r="http://schemas.openxmlformats.org/officeDocument/2006/relationships" id="305" r:id="R36926a17bb5040c4"/>
    <p:sldId xmlns:r="http://schemas.openxmlformats.org/officeDocument/2006/relationships" id="306" r:id="R2b819c3861cb4568"/>
    <p:sldId xmlns:r="http://schemas.openxmlformats.org/officeDocument/2006/relationships" id="307" r:id="Re4ba044385d64fb6"/>
    <p:sldId xmlns:r="http://schemas.openxmlformats.org/officeDocument/2006/relationships" id="308" r:id="R7073bcff3a9242fb"/>
    <p:sldId xmlns:r="http://schemas.openxmlformats.org/officeDocument/2006/relationships" id="309" r:id="R514def34924a445e"/>
    <p:sldId xmlns:r="http://schemas.openxmlformats.org/officeDocument/2006/relationships" id="310" r:id="R543071f9c15c4e7c"/>
    <p:sldId xmlns:r="http://schemas.openxmlformats.org/officeDocument/2006/relationships" id="311" r:id="R4cace83777594eed"/>
    <p:sldId xmlns:r="http://schemas.openxmlformats.org/officeDocument/2006/relationships" id="312" r:id="Rd479e2263a0c48da"/>
    <p:sldId xmlns:r="http://schemas.openxmlformats.org/officeDocument/2006/relationships" id="313" r:id="Ra691e98c80744308"/>
    <p:sldId xmlns:r="http://schemas.openxmlformats.org/officeDocument/2006/relationships" id="314" r:id="R0f1238e1ce1741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72dbabf35b40c5" /><Relationship Type="http://schemas.openxmlformats.org/officeDocument/2006/relationships/slideMaster" Target="/ppt/slideMasters/slideMaster1.xml" Id="R2c88287b776440ea" /><Relationship Type="http://schemas.openxmlformats.org/officeDocument/2006/relationships/slideMaster" Target="/ppt/slideMasters/slideMaster2.xml" Id="R3d758965b10c40f2" /><Relationship Type="http://schemas.openxmlformats.org/officeDocument/2006/relationships/presProps" Target="/ppt/presProps.xml" Id="R55abdec6c87e47a4" /><Relationship Type="http://schemas.openxmlformats.org/officeDocument/2006/relationships/tableStyles" Target="/ppt/tableStyles.xml" Id="R9d02ba3ae5654fd0" /><Relationship Type="http://schemas.openxmlformats.org/officeDocument/2006/relationships/slide" Target="/ppt/slides/slide1.xml" Id="R405545879c5f46c9" /><Relationship Type="http://schemas.openxmlformats.org/officeDocument/2006/relationships/slide" Target="/ppt/slides/slide2.xml" Id="Rc687dbfc40354a23" /><Relationship Type="http://schemas.openxmlformats.org/officeDocument/2006/relationships/slide" Target="/ppt/slides/slide3.xml" Id="R65ef6b21b61e45c8" /><Relationship Type="http://schemas.openxmlformats.org/officeDocument/2006/relationships/slide" Target="/ppt/slides/slide4.xml" Id="R6eaf9b27765b4dc0" /><Relationship Type="http://schemas.openxmlformats.org/officeDocument/2006/relationships/slide" Target="/ppt/slides/slide5.xml" Id="R294a52c0bfb246aa" /><Relationship Type="http://schemas.openxmlformats.org/officeDocument/2006/relationships/slide" Target="/ppt/slides/slide6.xml" Id="R899cf869067640a5" /><Relationship Type="http://schemas.openxmlformats.org/officeDocument/2006/relationships/slide" Target="/ppt/slides/slide7.xml" Id="Rc6c584dd70e84631" /><Relationship Type="http://schemas.openxmlformats.org/officeDocument/2006/relationships/slide" Target="/ppt/slides/slide8.xml" Id="R8b8fd9f386204ed2" /><Relationship Type="http://schemas.openxmlformats.org/officeDocument/2006/relationships/slide" Target="/ppt/slides/slide9.xml" Id="R21b916c6695a4141" /><Relationship Type="http://schemas.openxmlformats.org/officeDocument/2006/relationships/slide" Target="/ppt/slides/slide10.xml" Id="R1620934396464545" /><Relationship Type="http://schemas.openxmlformats.org/officeDocument/2006/relationships/slide" Target="/ppt/slides/slide11.xml" Id="Rc49686e10f484115" /><Relationship Type="http://schemas.openxmlformats.org/officeDocument/2006/relationships/slide" Target="/ppt/slides/slide12.xml" Id="Ra0130eb35d9343fd" /><Relationship Type="http://schemas.openxmlformats.org/officeDocument/2006/relationships/slide" Target="/ppt/slides/slide13.xml" Id="Rc2d098de4df44787" /><Relationship Type="http://schemas.openxmlformats.org/officeDocument/2006/relationships/slide" Target="/ppt/slides/slide14.xml" Id="R45afba63ce7a4844" /><Relationship Type="http://schemas.openxmlformats.org/officeDocument/2006/relationships/slide" Target="/ppt/slides/slide15.xml" Id="R1b8bb1f33f9f4409" /><Relationship Type="http://schemas.openxmlformats.org/officeDocument/2006/relationships/slide" Target="/ppt/slides/slide16.xml" Id="R66afd60b41ed4193" /><Relationship Type="http://schemas.openxmlformats.org/officeDocument/2006/relationships/slide" Target="/ppt/slides/slide17.xml" Id="R1a0a42d78cbb4a11" /><Relationship Type="http://schemas.openxmlformats.org/officeDocument/2006/relationships/slide" Target="/ppt/slides/slide18.xml" Id="Rff1ca9b1ed0c46ab" /><Relationship Type="http://schemas.openxmlformats.org/officeDocument/2006/relationships/slide" Target="/ppt/slides/slide19.xml" Id="R7ca56835148c4b76" /><Relationship Type="http://schemas.openxmlformats.org/officeDocument/2006/relationships/slide" Target="/ppt/slides/slide20.xml" Id="R2dcbdef046c8409d" /><Relationship Type="http://schemas.openxmlformats.org/officeDocument/2006/relationships/slide" Target="/ppt/slides/slide21.xml" Id="Rdb84392eb88b4649" /><Relationship Type="http://schemas.openxmlformats.org/officeDocument/2006/relationships/slide" Target="/ppt/slides/slide22.xml" Id="Rdfdfcf552991418d" /><Relationship Type="http://schemas.openxmlformats.org/officeDocument/2006/relationships/slide" Target="/ppt/slides/slide23.xml" Id="R306bff6d11334780" /><Relationship Type="http://schemas.openxmlformats.org/officeDocument/2006/relationships/slide" Target="/ppt/slides/slide24.xml" Id="Rc99646f26b6946e9" /><Relationship Type="http://schemas.openxmlformats.org/officeDocument/2006/relationships/slide" Target="/ppt/slides/slide25.xml" Id="R240f391b93eb481f" /><Relationship Type="http://schemas.openxmlformats.org/officeDocument/2006/relationships/slide" Target="/ppt/slides/slide26.xml" Id="R74b7a78f34054e32" /><Relationship Type="http://schemas.openxmlformats.org/officeDocument/2006/relationships/slide" Target="/ppt/slides/slide27.xml" Id="R0e8fe284b8ce46d5" /><Relationship Type="http://schemas.openxmlformats.org/officeDocument/2006/relationships/slide" Target="/ppt/slides/slide28.xml" Id="Rce100674a5db47a6" /><Relationship Type="http://schemas.openxmlformats.org/officeDocument/2006/relationships/slide" Target="/ppt/slides/slide29.xml" Id="Rb55877e719294e4a" /><Relationship Type="http://schemas.openxmlformats.org/officeDocument/2006/relationships/slide" Target="/ppt/slides/slide30.xml" Id="R070daf8bbc0643e3" /><Relationship Type="http://schemas.openxmlformats.org/officeDocument/2006/relationships/slide" Target="/ppt/slides/slide31.xml" Id="R1ab52113413e4551" /><Relationship Type="http://schemas.openxmlformats.org/officeDocument/2006/relationships/slide" Target="/ppt/slides/slide32.xml" Id="Re2fec673e9354355" /><Relationship Type="http://schemas.openxmlformats.org/officeDocument/2006/relationships/slide" Target="/ppt/slides/slide33.xml" Id="Rdaee40db69d64eb6" /><Relationship Type="http://schemas.openxmlformats.org/officeDocument/2006/relationships/slide" Target="/ppt/slides/slide34.xml" Id="R9f8f1c5450cd4506" /><Relationship Type="http://schemas.openxmlformats.org/officeDocument/2006/relationships/slide" Target="/ppt/slides/slide35.xml" Id="Rc166a472ed494d0b" /><Relationship Type="http://schemas.openxmlformats.org/officeDocument/2006/relationships/slide" Target="/ppt/slides/slide36.xml" Id="R75ecd9de66b54aee" /><Relationship Type="http://schemas.openxmlformats.org/officeDocument/2006/relationships/slide" Target="/ppt/slides/slide37.xml" Id="Rcd7a21b48d3d40bc" /><Relationship Type="http://schemas.openxmlformats.org/officeDocument/2006/relationships/slide" Target="/ppt/slides/slide38.xml" Id="R4a87bfc5c6c042e2" /><Relationship Type="http://schemas.openxmlformats.org/officeDocument/2006/relationships/slide" Target="/ppt/slides/slide39.xml" Id="R434d3a247047451b" /><Relationship Type="http://schemas.openxmlformats.org/officeDocument/2006/relationships/slide" Target="/ppt/slides/slide40.xml" Id="Red08a5f8a6664f6b" /><Relationship Type="http://schemas.openxmlformats.org/officeDocument/2006/relationships/slide" Target="/ppt/slides/slide41.xml" Id="Re2b2826fa8054dee" /><Relationship Type="http://schemas.openxmlformats.org/officeDocument/2006/relationships/slide" Target="/ppt/slides/slide42.xml" Id="R7a205ff16942469d" /><Relationship Type="http://schemas.openxmlformats.org/officeDocument/2006/relationships/slide" Target="/ppt/slides/slide43.xml" Id="R8ad7d3e33e784aa7" /><Relationship Type="http://schemas.openxmlformats.org/officeDocument/2006/relationships/slide" Target="/ppt/slides/slide44.xml" Id="R7ba1c620707249c9" /><Relationship Type="http://schemas.openxmlformats.org/officeDocument/2006/relationships/slide" Target="/ppt/slides/slide45.xml" Id="R1dd51d65087648cc" /><Relationship Type="http://schemas.openxmlformats.org/officeDocument/2006/relationships/slide" Target="/ppt/slides/slide46.xml" Id="Re58534ea3fb2481d" /><Relationship Type="http://schemas.openxmlformats.org/officeDocument/2006/relationships/slide" Target="/ppt/slides/slide47.xml" Id="Rd1fec2b264024462" /><Relationship Type="http://schemas.openxmlformats.org/officeDocument/2006/relationships/slide" Target="/ppt/slides/slide48.xml" Id="R6fffbb3be9f04867" /><Relationship Type="http://schemas.openxmlformats.org/officeDocument/2006/relationships/slide" Target="/ppt/slides/slide49.xml" Id="R779471fba2414bf5" /><Relationship Type="http://schemas.openxmlformats.org/officeDocument/2006/relationships/slide" Target="/ppt/slides/slide50.xml" Id="R36926a17bb5040c4" /><Relationship Type="http://schemas.openxmlformats.org/officeDocument/2006/relationships/slide" Target="/ppt/slides/slide51.xml" Id="R2b819c3861cb4568" /><Relationship Type="http://schemas.openxmlformats.org/officeDocument/2006/relationships/slide" Target="/ppt/slides/slide52.xml" Id="Re4ba044385d64fb6" /><Relationship Type="http://schemas.openxmlformats.org/officeDocument/2006/relationships/slide" Target="/ppt/slides/slide53.xml" Id="R7073bcff3a9242fb" /><Relationship Type="http://schemas.openxmlformats.org/officeDocument/2006/relationships/slide" Target="/ppt/slides/slide54.xml" Id="R514def34924a445e" /><Relationship Type="http://schemas.openxmlformats.org/officeDocument/2006/relationships/slide" Target="/ppt/slides/slide55.xml" Id="R543071f9c15c4e7c" /><Relationship Type="http://schemas.openxmlformats.org/officeDocument/2006/relationships/slide" Target="/ppt/slides/slide56.xml" Id="R4cace83777594eed" /><Relationship Type="http://schemas.openxmlformats.org/officeDocument/2006/relationships/slide" Target="/ppt/slides/slide57.xml" Id="Rd479e2263a0c48da" /><Relationship Type="http://schemas.openxmlformats.org/officeDocument/2006/relationships/slide" Target="/ppt/slides/slide58.xml" Id="Ra691e98c80744308" /><Relationship Type="http://schemas.openxmlformats.org/officeDocument/2006/relationships/slide" Target="/ppt/slides/slide59.xml" Id="R0f1238e1ce17414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ffb974e2246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1192c56dab42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4501be141d4681" /><Relationship Type="http://schemas.openxmlformats.org/officeDocument/2006/relationships/slideLayout" Target="/ppt/slideLayouts/slideLayout1.xml" Id="Rf867117ced874ea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986fa2aee6a4092" /><Relationship Type="http://schemas.openxmlformats.org/officeDocument/2006/relationships/slideLayout" Target="/ppt/slideLayouts/slideLayout2.xml" Id="R01154c91b7fc42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67117ced874e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Work Safety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01154c91b7fc42a2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0561acb4f7488a" /><Relationship Type="http://schemas.openxmlformats.org/officeDocument/2006/relationships/image" Target="/ppt/media/image.jpeg" Id="Rf9a3970121564ec4" /><Relationship Type="http://schemas.openxmlformats.org/officeDocument/2006/relationships/image" Target="/ppt/media/image.png" Id="R721b0b56b74140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a331caf2e14075" /><Relationship Type="http://schemas.openxmlformats.org/officeDocument/2006/relationships/image" Target="/ppt/media/image2.png" Id="R967e8f1cf83e4b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67c546264b4115" /><Relationship Type="http://schemas.openxmlformats.org/officeDocument/2006/relationships/image" Target="/ppt/media/image3.png" Id="Rd215a8a32edb44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99e0c5590b4771" /><Relationship Type="http://schemas.openxmlformats.org/officeDocument/2006/relationships/image" Target="/ppt/media/image2.jpeg" Id="Rf01727ee9c4742c9" /><Relationship Type="http://schemas.openxmlformats.org/officeDocument/2006/relationships/image" Target="/ppt/media/image4.png" Id="Rc64a83c618d249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7c0a033d8f4055" /><Relationship Type="http://schemas.openxmlformats.org/officeDocument/2006/relationships/image" Target="/ppt/media/image5.png" Id="R185bf5f488ea47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c55b93c57940df" /><Relationship Type="http://schemas.openxmlformats.org/officeDocument/2006/relationships/image" Target="/ppt/media/image6.png" Id="R6e1d7c6e76214d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93b2058b7b426e" /><Relationship Type="http://schemas.openxmlformats.org/officeDocument/2006/relationships/image" Target="/ppt/media/image7.png" Id="R1642871753a748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6342f0724c493e" /><Relationship Type="http://schemas.openxmlformats.org/officeDocument/2006/relationships/image" Target="/ppt/media/image8.png" Id="R1815fa8b77e041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3c01feb8a74029" /><Relationship Type="http://schemas.openxmlformats.org/officeDocument/2006/relationships/image" Target="/ppt/media/image9.png" Id="R58ff8f620d9f40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5db7d8f8214d32" /><Relationship Type="http://schemas.openxmlformats.org/officeDocument/2006/relationships/image" Target="/ppt/media/image10.png" Id="Rf5b4a6cabf3e4a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e1e0fdec094e4e" /><Relationship Type="http://schemas.openxmlformats.org/officeDocument/2006/relationships/image" Target="/ppt/media/image11.png" Id="R9d2279154e9848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745d6b50af4988" /><Relationship Type="http://schemas.openxmlformats.org/officeDocument/2006/relationships/image" Target="/ppt/media/image12.png" Id="R75252d5912104f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15e9ed7dde4cba" /><Relationship Type="http://schemas.openxmlformats.org/officeDocument/2006/relationships/image" Target="/ppt/media/image13.png" Id="R67a846e6f8a043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ff8695abd44d55" /><Relationship Type="http://schemas.openxmlformats.org/officeDocument/2006/relationships/image" Target="/ppt/media/image3.jpeg" Id="R3bf5e50f39974607" /><Relationship Type="http://schemas.openxmlformats.org/officeDocument/2006/relationships/image" Target="/ppt/media/image14.png" Id="R72e4612c9e7744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cf7a5c2ae64151" /><Relationship Type="http://schemas.openxmlformats.org/officeDocument/2006/relationships/image" Target="/ppt/media/image15.png" Id="Rd4dad67b0bf344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30c4af7fe841d3" /><Relationship Type="http://schemas.openxmlformats.org/officeDocument/2006/relationships/image" Target="/ppt/media/image16.png" Id="R59fe654607024e5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bb732ff4ba4964" /><Relationship Type="http://schemas.openxmlformats.org/officeDocument/2006/relationships/image" Target="/ppt/media/image17.png" Id="Rdfeef4818f3646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18637b8bf94f9c" /><Relationship Type="http://schemas.openxmlformats.org/officeDocument/2006/relationships/image" Target="/ppt/media/image18.png" Id="R5a17a8afc0354b6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d41998527f42fd" /><Relationship Type="http://schemas.openxmlformats.org/officeDocument/2006/relationships/image" Target="/ppt/media/image19.png" Id="Rdad558a337d344f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1407d96bdd4800" /><Relationship Type="http://schemas.openxmlformats.org/officeDocument/2006/relationships/image" Target="/ppt/media/image4.jpeg" Id="R525533af702d4fe6" /><Relationship Type="http://schemas.openxmlformats.org/officeDocument/2006/relationships/image" Target="/ppt/media/image20.png" Id="Ra5b892e288f4491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bd781bdb444e70" /><Relationship Type="http://schemas.openxmlformats.org/officeDocument/2006/relationships/image" Target="/ppt/media/image21.png" Id="Rd7eab65655794f0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b8d468004e4f60" /><Relationship Type="http://schemas.openxmlformats.org/officeDocument/2006/relationships/image" Target="/ppt/media/image22.png" Id="R85f120a877ca470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a4e88a0be94f55" /><Relationship Type="http://schemas.openxmlformats.org/officeDocument/2006/relationships/image" Target="/ppt/media/image23.png" Id="Rde3130439d51482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c7f025f66143ab" /><Relationship Type="http://schemas.openxmlformats.org/officeDocument/2006/relationships/image" Target="/ppt/media/image24.png" Id="Reb0151c478cd4c2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693da16a1a48cb" /><Relationship Type="http://schemas.openxmlformats.org/officeDocument/2006/relationships/image" Target="/ppt/media/image25.png" Id="R2cb893fb3c9a458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3023802841450e" /><Relationship Type="http://schemas.openxmlformats.org/officeDocument/2006/relationships/image" Target="/ppt/media/image26.png" Id="R343bfa294e424fc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1eab3168224b83" /><Relationship Type="http://schemas.openxmlformats.org/officeDocument/2006/relationships/image" Target="/ppt/media/image27.png" Id="Ra1ae717014f748b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1c3ef5dcd443df" /><Relationship Type="http://schemas.openxmlformats.org/officeDocument/2006/relationships/image" Target="/ppt/media/image28.png" Id="Ra2ae00831ba14b4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27ab495cba4e44" /><Relationship Type="http://schemas.openxmlformats.org/officeDocument/2006/relationships/image" Target="/ppt/media/image29.png" Id="R032c04f9e3824bc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1994529f6a48ce" /><Relationship Type="http://schemas.openxmlformats.org/officeDocument/2006/relationships/image" Target="/ppt/media/image30.png" Id="R559f18372ae8407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f840a7a76b4b6f" /><Relationship Type="http://schemas.openxmlformats.org/officeDocument/2006/relationships/image" Target="/ppt/media/image5.jpeg" Id="R0cf6b1586be24fb5" /><Relationship Type="http://schemas.openxmlformats.org/officeDocument/2006/relationships/image" Target="/ppt/media/image31.png" Id="Raf170d2eafd549f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8e1b2e0cab4ec0" /><Relationship Type="http://schemas.openxmlformats.org/officeDocument/2006/relationships/image" Target="/ppt/media/image6.jpeg" Id="Re550b6fb275342ab" /><Relationship Type="http://schemas.openxmlformats.org/officeDocument/2006/relationships/image" Target="/ppt/media/image32.png" Id="R19d68a1decb94a7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39559c9c0c4dbb" /><Relationship Type="http://schemas.openxmlformats.org/officeDocument/2006/relationships/image" Target="/ppt/media/image33.png" Id="R7fa1e868778d412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8785df08a34644" /><Relationship Type="http://schemas.openxmlformats.org/officeDocument/2006/relationships/image" Target="/ppt/media/image7.jpeg" Id="R78cb1dd26398412c" /><Relationship Type="http://schemas.openxmlformats.org/officeDocument/2006/relationships/image" Target="/ppt/media/image34.png" Id="Rf7fe15c0be304ec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b80b975de14e0b" /><Relationship Type="http://schemas.openxmlformats.org/officeDocument/2006/relationships/image" Target="/ppt/media/image35.png" Id="R5fe055613c0d428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0f422fa4da4657" /><Relationship Type="http://schemas.openxmlformats.org/officeDocument/2006/relationships/image" Target="/ppt/media/image36.png" Id="Rb1f2afc84f9d41f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c92052d15847a2" /><Relationship Type="http://schemas.openxmlformats.org/officeDocument/2006/relationships/image" Target="/ppt/media/image37.png" Id="R1e1d2522b77248b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a8c2e55eee4bd1" /><Relationship Type="http://schemas.openxmlformats.org/officeDocument/2006/relationships/image" Target="/ppt/media/image38.png" Id="Rfd480ae1186941d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af76fdce5a4d3a" /><Relationship Type="http://schemas.openxmlformats.org/officeDocument/2006/relationships/image" Target="/ppt/media/image39.png" Id="R19f2be862f7545f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d60af1df124fd1" /><Relationship Type="http://schemas.openxmlformats.org/officeDocument/2006/relationships/image" Target="/ppt/media/image40.png" Id="R95af17870be04cc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c670496da14f1c" /><Relationship Type="http://schemas.openxmlformats.org/officeDocument/2006/relationships/image" Target="/ppt/media/image41.png" Id="R1bc98ad3ff314af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1ae55888484141" /><Relationship Type="http://schemas.openxmlformats.org/officeDocument/2006/relationships/image" Target="/ppt/media/image8.jpeg" Id="R879d4b46a1a04bd5" /><Relationship Type="http://schemas.openxmlformats.org/officeDocument/2006/relationships/image" Target="/ppt/media/image42.png" Id="R9016419e819e4ef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5043e124334e49" /><Relationship Type="http://schemas.openxmlformats.org/officeDocument/2006/relationships/image" Target="/ppt/media/image43.png" Id="R638df5c1ab3944f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21df5a1c6b41c5" /><Relationship Type="http://schemas.openxmlformats.org/officeDocument/2006/relationships/image" Target="/ppt/media/image44.png" Id="R93adf1e44f4e462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d9c48d816a40ae" /><Relationship Type="http://schemas.openxmlformats.org/officeDocument/2006/relationships/image" Target="/ppt/media/image45.png" Id="Rea68bce5dd87477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6d75b5c2f94fe4" /><Relationship Type="http://schemas.openxmlformats.org/officeDocument/2006/relationships/image" Target="/ppt/media/image46.png" Id="R05428a09ab9e48b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3d3ce6536746da" /><Relationship Type="http://schemas.openxmlformats.org/officeDocument/2006/relationships/image" Target="/ppt/media/image47.png" Id="R37a7e3024ccf4d2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b21b3a357f4c71" /><Relationship Type="http://schemas.openxmlformats.org/officeDocument/2006/relationships/image" Target="/ppt/media/image48.png" Id="R35d101cc63f348a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f20a586bef410a" /><Relationship Type="http://schemas.openxmlformats.org/officeDocument/2006/relationships/image" Target="/ppt/media/image49.png" Id="Rda77888eef924b9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87adf6cb274973" /><Relationship Type="http://schemas.openxmlformats.org/officeDocument/2006/relationships/image" Target="/ppt/media/image50.png" Id="Rc655e346a39840e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ff1919e39541b2" /><Relationship Type="http://schemas.openxmlformats.org/officeDocument/2006/relationships/image" Target="/ppt/media/image51.png" Id="R03fe0bc478da405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c9223bfcfb4498" /><Relationship Type="http://schemas.openxmlformats.org/officeDocument/2006/relationships/image" Target="/ppt/media/image52.png" Id="Rdea1f084e3ee45e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30411c7bf9452b" /><Relationship Type="http://schemas.openxmlformats.org/officeDocument/2006/relationships/image" Target="/ppt/media/image53.png" Id="R59651592618d49c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bdc09ecf614f4e" /><Relationship Type="http://schemas.openxmlformats.org/officeDocument/2006/relationships/image" Target="/ppt/media/image54.png" Id="R576ae3e7bedb46a0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d3982800c84dea" /><Relationship Type="http://schemas.openxmlformats.org/officeDocument/2006/relationships/image" Target="/ppt/media/image55.png" Id="R418e702541d64b3f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28bfcfa2794d14" /><Relationship Type="http://schemas.openxmlformats.org/officeDocument/2006/relationships/image" Target="/ppt/media/image56.png" Id="R598ffead163a43e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b88128b9804f28" /><Relationship Type="http://schemas.openxmlformats.org/officeDocument/2006/relationships/image" Target="/ppt/media/image57.png" Id="Ra616ae33c2114745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2d145f4b9842af" /><Relationship Type="http://schemas.openxmlformats.org/officeDocument/2006/relationships/image" Target="/ppt/media/image58.png" Id="R7c056a047b814b3d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9760cb810e49af" /><Relationship Type="http://schemas.openxmlformats.org/officeDocument/2006/relationships/image" Target="/ppt/media/image59.png" Id="R28e9af2f78fb41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3411B-E722-4CD4-9EC0-A6CBBE24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VISUAL_04_s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3970121564e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24750" y="11049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4AC75-32AE-4C41-B4F5-92C7CB68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49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_KICKER">
            <a:extLst xmlns:a="http://schemas.openxmlformats.org/drawingml/2006/main">
              <a:ext uri="{FF2B5EF4-FFF2-40B4-BE49-F238E27FC236}">
                <a16:creationId xmlns:a16="http://schemas.microsoft.com/office/drawing/2014/main" id="{071337B5-F3E9-4F8A-95E3-3DC8FE67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УЧЕБНЫЙ КУРС</a:t>
            </a:r>
          </a:p>
        </p:txBody>
      </p:sp>
      <p:sp>
        <p:nvSpPr>
          <p:cNvPr id="5" name="DECK_TITLE">
            <a:extLst xmlns:a="http://schemas.openxmlformats.org/drawingml/2006/main">
              <a:ext uri="{FF2B5EF4-FFF2-40B4-BE49-F238E27FC236}">
                <a16:creationId xmlns:a16="http://schemas.microsoft.com/office/drawing/2014/main" id="{5BFA5B0B-DA53-478F-81D3-714CC353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191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787C9-9560-4499-9C72-70E01D00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K_SUBTITLE">
            <a:extLst xmlns:a="http://schemas.openxmlformats.org/drawingml/2006/main">
              <a:ext uri="{FF2B5EF4-FFF2-40B4-BE49-F238E27FC236}">
                <a16:creationId xmlns:a16="http://schemas.microsoft.com/office/drawing/2014/main" id="{A53A70B4-237C-4803-B88F-8C53A4E6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Практические основы безопасной работы и промышленной безопасности</a:t>
            </a:r>
          </a:p>
        </p:txBody>
      </p:sp>
      <p:sp>
        <p:nvSpPr>
          <p:cNvPr id="8" name="DECK_AUDIENCE">
            <a:extLst xmlns:a="http://schemas.openxmlformats.org/drawingml/2006/main">
              <a:ext uri="{FF2B5EF4-FFF2-40B4-BE49-F238E27FC236}">
                <a16:creationId xmlns:a16="http://schemas.microsoft.com/office/drawing/2014/main" id="{53A93565-D2CD-4419-98EF-52CC5BCB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25F"/>
                </a:solidFill>
                <a:latin typeface="Arial"/>
                <a:ea typeface="Arial"/>
                <a:cs typeface="Arial"/>
              </a:rPr>
              <a:t>Учебный курс для рабочих и линейного персонала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635A2-2A9B-46B1-87CA-B82D5368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AFB1232-87F8-4C51-B4F8-34B44B4C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8A215B7-1824-4CF1-B2AA-5198C3F8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b0b56b74140c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112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BE5C3B-EEA0-41AC-814E-A2765F53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9F9439B-856D-4853-A4E8-9CDF8E79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После курса работник сможет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F600CD3F-208D-4BE5-9917-2534996A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A25E5-917C-42CB-BFB6-DE8B5FAD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7A771C12-1906-49F4-B5AA-D61C5DB0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Распознавать опасности, оценивать риск и выбирать меры контроля.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BBB7AD55-6704-4B53-AE51-45018687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1DD72-BB18-47A0-A629-14E10205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31DE1CF8-732C-4C4E-9EA1-2DCBB94F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Понимать обязанности работника, работодателя и руководителя.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7177A5C7-364F-42D5-8A55-9A5823A0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DE2C0-051C-4B88-B1E9-665B0F0C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2FE0FC75-9DEB-494C-A38E-8BBB1E49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Правильно сообщать об опасности, инциденте, травме и аварии.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08A7229F-93A4-45CF-8B0F-14367B7D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45C9D-46A0-4348-A998-D78FB170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5D1869EE-18B5-4E12-83CC-B7F4DBF9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Выполнять базовые действия на опасном производственном объекте.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E9987-D3BF-4D8E-B2C2-EB9C0525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9E01C-F452-4C17-9B7A-2E38E9DA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4359804-AF2F-450E-9890-10FD616E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Главная цель БИОТ — не допустить травму, аварию и профессиональное заболевание.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71427-90E9-4AA1-9AC6-CEB18D17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1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E427C599-EEB2-429F-831C-583F3CBF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Трудовой кодекс РК • Закон «О гражданской защите»</a:t>
            </a:r>
          </a:p>
        </p:txBody>
      </p:sp>
      <p:sp>
        <p:nvSpPr>
          <p:cNvPr id="2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25A84D3-B085-4665-B1EA-822E056B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2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8B2D792-AE35-4FE8-84FA-11E83D89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e8f1cf83e4ba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347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2E5131-D1EE-4980-951A-AC6E26CE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60C0C74-099B-42D4-87AA-7CFD753D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Пять частей курса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70C49BDC-DF60-4E30-BF17-1EF842BD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C563D-9499-49BE-992B-DFFB39CB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A0EBADB1-21D9-4C45-94D7-29B377FF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Основы безопасности и охраны труда.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2842B818-9212-4E6F-A109-DAA9E170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CAD24-E998-40A4-8E3F-A4BE1F5E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50765117-E86F-42D1-9029-165B92A7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Трудовое законодательство в практическом контексте.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D7CFF7D3-A5FB-4DD7-8084-552E9676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65016-5476-4F0D-B038-83ECB72A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7E6A9315-FC22-4540-9700-C0119AEB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Система управления охраной труда.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25D9EE9B-88C9-46A6-BA67-88B1DE45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82156-105A-4164-8236-B61DADC6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661555F1-0C29-4F88-B849-08359F9E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Несчастные случаи и аварийная готовность.</a:t>
            </a:r>
          </a:p>
        </p:txBody>
      </p:sp>
      <p:sp>
        <p:nvSpPr>
          <p:cNvPr id="15" name="LIST_NUMBER_5">
            <a:extLst xmlns:a="http://schemas.openxmlformats.org/drawingml/2006/main">
              <a:ext uri="{FF2B5EF4-FFF2-40B4-BE49-F238E27FC236}">
                <a16:creationId xmlns:a16="http://schemas.microsoft.com/office/drawing/2014/main" id="{3FE62A71-F651-4416-BA6E-AEE82C8D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49893-DE4B-4D96-A87E-5EE44E6C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7" name="LIST_ITEM_5">
            <a:extLst xmlns:a="http://schemas.openxmlformats.org/drawingml/2006/main">
              <a:ext uri="{FF2B5EF4-FFF2-40B4-BE49-F238E27FC236}">
                <a16:creationId xmlns:a16="http://schemas.microsoft.com/office/drawing/2014/main" id="{2561C253-C621-41AF-AE26-A564FD31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Основы промышленной безопасности.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5E6AE-B8A4-4967-805F-B3CBB0E5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9527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EB57E-4FBD-474C-8B11-61E6755D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КУРС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B592A-3E68-49BA-8052-C7E4607B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смысловых блоков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C1AAB5-9A5C-4BFC-B39F-AC29224F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BD08BF3-EE1C-49C3-8E9E-954E7E0F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2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799D4D7-D4C7-4F3C-B59E-55F81FBC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5a8a32edb442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29" name="AGENDA_COUNT_CIRCLE">
            <a:extLst xmlns:a="http://schemas.openxmlformats.org/drawingml/2006/main">
              <a:ext uri="{FF2B5EF4-FFF2-40B4-BE49-F238E27FC236}">
                <a16:creationId xmlns:a16="http://schemas.microsoft.com/office/drawing/2014/main" id="{09D989DE-7A9E-4797-9476-BB65A5A3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667797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A25CE-5F7A-4AAF-AA89-2A864FEB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4_s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727ee9c4742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CEAFA73A-B501-4ECE-9D4C-18200535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54B68-C3CF-43DF-A2A2-54B42E0A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18B179D6-31D0-447A-9928-ACACAF05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Основы БИОТ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FA956993-101B-4E8C-84FE-C3154055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создаётся совместными действиями работника, работодателя и руководителя.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82E04-2A36-415E-92FF-D73C705F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3169150-0C7D-4C24-88CD-7D216172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3C5570D-7E58-4914-9F74-9BD7F93F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a83c618d249b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849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Условия труда — весь рабочий контекст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Производственная среда: оборудование, материалы, воздух, шум, освещение и температура.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Трудовой процесс: действия, нагрузка, темп, поза, сменность и взаимодействие людей.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Организация: инструкции, обучение, контроль, обслуживание и готовность к аварии.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Изменение любого элемента может изменить риск.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Безопасное оборудование не гарантирует безопасную работу при плохой организации.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bf5f488ea475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822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2BE5AB-7DD5-4143-8526-08C68EA2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ECE5051-50F8-40A1-9880-F28655EC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Опасные факторы действуют по-разному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9B1E1-B7A4-405B-A69D-6B10E8E6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РИСК / ИСТОЧНИК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63739-A582-4D52-BAC6-BF374E2D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ПОСЛЕДСТВИЕ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45B11-433B-487A-91D1-8F69D47A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МЕРА КОНТРОЛЯ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D1F9B-1D37-43FB-8463-7137FFEB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6B44B-A73E-4AA0-8F02-24B15D42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Физические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B34FE-6FF8-414B-8DEF-1FBE14A1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Движущиеся части, высота, шум, температура, электричество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69A6D-2D02-4878-A062-521FF5AF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Ограждение, изоляция, расстояние, режим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C068E-9990-4ED8-A97E-48075DBF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AB71C-A395-472D-AFBB-20B78050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Химические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176CC-4B66-4243-B6B0-2CBB91CE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Пыль, пары, газы и жидкости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AD2C4-02AD-4E39-AAEB-5F173750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Замена, герметизация, вентиляция, контроль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8CEA9-8F39-45DF-BF21-46A30063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2AE0F-4ECC-414F-9D5E-B6F008EC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Биологические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20E97-F7E0-4D26-8B2C-40C11EEC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Микроорганизмы и биоматериал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4606F-7D87-46DB-8547-3D5AB34D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Гигиена, изоляция, регламент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79BB6-33F1-42CF-A490-035F896C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E8EB8-C982-45DD-8BC5-2BD8213B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Психофизиологические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21261-8375-4039-A9B9-F2842157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Перегрузка, монотонность, усталость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17040-6C40-47AF-BA1B-CDE586EE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Планирование, перерывы, распределение задач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E30EF6-E20A-4ED0-8033-917271EF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Сначала определяют источник и путь воздействия, затем выбирают защиту.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562604-E801-44C6-B88F-FB9B6246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C5AB913-DF34-4EB3-9F82-41CC0CDF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9E10402-E4A0-4631-B969-65A77120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d7c6e76214d1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333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6BED5E-D8E6-4C25-A980-8906E6EF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3026453-16B3-48E9-96F3-C5D6FE65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Опасная ситуация развивается цепочкой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5FE16-1ED5-4F50-9061-BEAD39E9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DA9E8-2EA3-4E10-9544-C57F34F5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C03C4E2-85FB-4F93-8F9E-42874448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82259AD8-5D34-48CE-9EB1-91FE7A00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Условие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C8BA1824-BDB6-4245-9857-C1F805D8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Неисправность, плохая организация или небезопасная среда.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B7EB9-66F9-4AEE-A253-960C9B35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4B093AE3-F7E8-4FC9-A7E5-5C4F802F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124A4CF2-2FAA-453B-8E9F-80B61A63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Действие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C182F79D-E340-4608-9822-B2EDC7C7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Ошибка, нарушение, спешка или неверное решение.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85ABB-1289-48E4-A119-26D4A68E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C9B9E1CD-8A51-4AE6-B7F8-97D7212F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5477D878-6F4A-4B9A-85A3-39731A16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Событие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1D680A03-6385-48C3-B5B1-2E1E4936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Потеря контроля над энергией, веществом или движением.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A8D17-79B1-4D85-8EE0-46105C8A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B6232D6D-0243-4A21-9ED2-419CABF6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3865FF93-C663-4835-9D41-79C4CF2F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Последствие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05798763-ACF8-4185-9A0F-68BF4A17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Травма, повреждение, авария или воздействие на здоровье.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65392-044A-4D03-A29D-1008E2B5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EA1E1-76B0-416F-9022-ED1C0E73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6FA14551-1FC3-4EFA-A1E1-81EC880A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Разорвать цепочку проще на раннем этапе — при выявлении опасности.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5F631D-AD91-4E47-ABE8-6DB22E59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9DE4340-1960-4DF4-8D4E-FF0F2915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C76B103-58EF-44BB-8919-9F74705A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2871753a7483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818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3F088-D9DA-49B2-B5D6-B8BFB72E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9083C66-9274-433D-B1C8-3CEA62F0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БИОТ сохраняет жизнь и здоровье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DB9EA-91A2-46C3-B3A8-0A1FBE05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Охрана труда объединяет правовые, организационные, технические, санитарные и профилактические меры.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Безопасность труда означает защищённость работника от опасных и вредных факторов.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Требования обязательны для работодателей и работников на территории Казахстана.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Расходы на мероприятия БИОТ несёт работодатель.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0DE6E-D689-45B8-8008-797E5F8C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262A2-EE22-4E17-BEE8-AA0F18CC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31BC0D8F-D252-49DD-B000-9184D04F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БИОТ — не отдельный инструктаж, а постоянная система управления работой.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3105A-528E-4692-ACE4-65EB130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917DE839-4906-4F9A-8074-E1A40CE1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Трудовой кодекс РК, раздел 4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5C2D702-248F-420F-B59C-3AEF9111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983F5A4-B788-4563-9B6D-EB8BFF2B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5fa8b77e0416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454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C8FC1-BD2A-4EC9-8628-E62F899B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BC779E6-E0E6-4024-B794-A037C30B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Ответственность распределена по ролям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2B42B-B7BC-467E-838A-09A193FF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Работодатель создаёт условия, организует обучение, контроль, медосмотры и защиту.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Руководитель планирует задачу, доводит меры безопасности и реагирует на изменения.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Работник соблюдает требования, применяет защиту и сообщает об опасности.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Службы БИОТ помогают системе, но не заменяют ответственность руководителей и работников.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803F9-35FB-4D30-A235-F4A6C3A7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797AD-6FDA-4E8F-8554-20FD5EC8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A6EEA8D-6FF7-43CF-A652-BE1D0E7F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Безопасность нельзя полностью передать одному специалисту.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43902-6E8F-4FDD-B086-423A94D5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F4597F4-27F2-4898-B7C4-81AB1436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Трудовой кодекс РК, статьи 181–182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E86C7CF-5F29-49F8-8E0B-3B6A16D7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1BFDE2E-4743-424A-80A0-DCE1DF5A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f8f620d9f400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775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AF3DD-C25D-4591-9F92-91F3467B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FD723FE-E65C-46C0-8DA0-3A5A04A2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 угрозе работу прекращают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58A0B-9820-4E22-A328-CCDAF053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F8876-FBCB-4EFA-A62F-694EA606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A65C3-C55D-486B-A674-7D55F074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07088-4991-4294-B80D-320350C6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Остановите действие или покиньте опасную зону без создания дополнительного риска.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Предупредите людей и незамедлительно сообщите непосредственному руководителю.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Работник вправе отказаться от работы при ситуации, создающей угрозу жизни или здоровью, с извещением работодателя.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Возобновление возможно после устранения причины и подтверждения безопасных условий.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B4A03-A783-4031-9292-BCBE4643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Право на безопасный труд сопровождается обязанностью сообщить об угрозе.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D80C2-444A-496A-A2F5-D59F9D41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0A70099-822F-4286-BD3E-CFA7E371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Трудовой кодекс РК, статья 181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5107470-21E5-42B1-B759-A9F9246F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7AA0FF6-27AC-4776-A003-C720EBCE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4a6cabf3e4a8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1AC48937-3B43-4052-96BD-28C36791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СТОП</a:t>
            </a:r>
          </a:p>
        </p:txBody>
      </p:sp>
    </p:spTree>
    <p:extLst>
      <p:ext uri="{BB962C8B-B14F-4D97-AF65-F5344CB8AC3E}">
        <p14:creationId xmlns:p14="http://schemas.microsoft.com/office/powerpoint/2010/main" val="12125202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E6EBD-6FF0-4045-8D9A-7767A63E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D29A454-5366-4C31-96A3-34A80EF4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Работник обязан действовать безопасно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5543E-4E06-4BA3-BC0D-3F624625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Соблюдать требования БИОТ, пожарной, промышленной безопасности и санитарии.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Проходить обучение, инструктаж, проверку знаний и обязательные медосмотры.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Правильно применять выданные средства защиты и беречь оборудование.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Сообщать об угрозе, неисправности, происшествии и ухудшении самочувствия.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3A998-53D3-4ED4-8241-67F6B64A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D2A9F-CFD6-43C6-9B57-AF31E582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9F1C892-A04A-4043-AAA8-FBD40333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Сокрытая опасность лишает организацию возможности предотвратить происшествие.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FF351-F3E8-4F0A-BD8D-8CC4E1A1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E495E82-AD5C-4E85-97B4-C7858383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Трудовой кодекс РК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7B49418-BB19-4688-BB51-9E6D4530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065B2E6-6DA6-4904-85F5-A84647FC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279154e98482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137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3CA42-E50E-473E-BD96-FC9C174E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EA5B581-C68A-4DAE-A62C-6AB1B5D9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Работодатель обязан управлять рисками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27BC3-DAED-4BFB-BC01-565130F4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Обеспечить безопасное состояние зданий, оборудования, процессов и рабочих мест.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Организовать обучение, инструктаж, контроль знаний и допуск к работе.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Выдать и поддерживать необходимые средства коллективной и индивидуальной защиты.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Расследовать происшествия, устранять причины и информировать работников о рисках.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A9C5E-29A6-46A6-9075-B0FBAC61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69847-BBC7-48C6-B444-28ABF111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797D2338-D72C-472C-9B39-95E32B14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Выдача СИЗ — только одна часть обязанности работодателя.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04ACE-74D4-4BC0-975C-2A7468D8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82363AA2-1072-4093-9734-C3368E2C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Трудовой кодекс РК, статья 182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8A01E9F-B24C-45D5-84E8-9DF4B1E4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CDF0C5D-2380-435C-96F1-F07F26FA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52d5912104f5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3000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67B5E4-E045-4C08-B6DB-2B2666A1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4F5BF1A-22A7-464A-9AB8-C43BA059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 опасности сообщают точно и сразу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9F117-4798-41E4-B586-7223DCFA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0D142-EA43-4FBB-BD19-CD2D8D38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49010088-03C3-4481-AD08-3AABA22D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74669DA7-521F-4BA6-80A4-FB2A421A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Что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3CC5B46B-C31B-4F7A-A088-232EEFD4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Опасность, неисправность, инцидент, травма или изменение условий.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BB047-735C-4F50-A804-DF43CBA5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DFB57362-A406-40EC-9C3C-D7B9753B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7FE975B3-8F17-496F-9584-C2D89105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Где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9BD1D625-9EFD-4D58-8750-1141A030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Точное место, установка, участок или рабочая операция.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89329-3634-47FF-849A-68A4B308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00EF42DA-0CB0-4CB7-AEF2-48780E8D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78611E8D-A418-49A5-824E-08604B12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Кому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3B04D815-1109-4FAA-889E-F676695F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Руководителю и другим лицам по аварийной или локальной процедуре.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1894E-67A3-4B0E-946A-41533F22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B5B0757B-7DD7-41C1-A248-F517FD37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24D31106-FED4-46A4-AA5F-6F393F85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Что сделано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5F7FC89A-A0A7-428D-B2EA-1AA06DAB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Остановка, ограждение, помощь и текущее состояние зоны.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AAA02-DCF7-44F5-A6C8-82EA7741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21DDB-B4EA-4F55-85A4-299F9632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F74CA7F-6A46-42A4-9F6A-4B61AEDE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Сообщайте факты сразу; причину установят после обеспечения безопасности.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5109A8-A10F-482B-8B24-48EB2DC6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4653319-890D-4C90-A054-E691FEC5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1F57B23-2262-4BA8-9674-549F8898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846e6f8a0437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632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A2F3B-66F0-45E1-98BC-8489E542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4_s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5e50f399746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73E605FF-BA14-45F8-B730-07D8A210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BA348-BF40-47FB-B65F-080F19F2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CAA273BA-1382-4DE7-B6B6-569B6F58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Трудовое законодательство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64896B29-4D0C-45AE-9A93-CD03E1D0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Работнику нужны не номера статей, а понимание прав, обязанностей и связи условий труда с безопасностью.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7446E-B6FE-4DF1-BA52-1F953449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8DCA294-38B4-4A22-BF32-66F42D7D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9CFEB50-3355-445D-A88D-723D7DC3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4612c9e77441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3640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45214-D6B7-4169-9547-52093107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025C73B-2948-46C9-9742-2A390639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Требования закреплены на разных уровнях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86CD9-173A-4464-9751-BED34ABE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Трудовой кодекс устанавливает основные права, обязанности и требования БИОТ.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Правила и технические регламенты раскрывают требования к отдельным работам и рискам.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Коллективный договор и акты работодателя уточняют порядок внутри организации.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Локальная инструкция не может отменять обязательное требование законодательства.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01D51-5AC3-43BF-B577-AE34D65A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7F2D4-1B12-490A-9595-9B6DEF26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23A5222-CB56-47C6-B1A1-395B40D2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Для практического действия применяют актуальный документ, относящийся к конкретной работе.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4BE98-550F-4338-B436-97AC41E1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13AC46A-DA54-4517-9EA5-2BD501E7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Трудовой кодекс РК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480F1BC-9C4F-40E2-8AED-7C6CDC58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93B29E7-8510-4FC6-83C2-42471036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ad67b0bf3444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546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0EB39-1F3E-4020-8FA0-518998B8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D8CF8E1-CE7D-4345-B003-8A73E3E1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Допуск требует выполнения условий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9ECDF-DC71-4D85-92A9-FF93555E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Трудовой договор определяет трудовую функцию и условия, но не заменяет профессиональный допуск.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До самостоятельной работы требуются обучение, инструктаж и проверка знаний в установленном объёме.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Для отдельных работ нужны медосмотр, квалификация, группа или наряд-допуск.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Работника отстраняют, если обязательные условия допуска не выполнены.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01B1A-6CF5-4018-9A01-812C9A2E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237B2-3476-4768-9BF9-543E8A90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F7A107C-8010-43A3-908E-9633371C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Факт присутствия на объекте не означает допуск к любой операции.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5226B-4F62-43C6-959E-24D83F4C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BD964209-1F46-4CE4-9F4D-52D36ABF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Трудовой кодекс РК • Обучение БИОТ — приказ № 1019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7B4DBD5-E78F-49A3-962E-34657602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6743967-D2C8-4B18-B12B-BD8EADBA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e654607024e5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920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BD402-1623-4E91-8E79-1C51B312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E2C203B-23C0-4137-9F69-841D1487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Режим труда влияет на вероятность ошибки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6F6BD-8DBB-40E1-804F-DC82C48A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Рабочее время, ночные и сверхурочные работы учитываются при планировании опасных задач.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Перерывы и сменность должны позволять восстановить внимание и работоспособность.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Усталость, недосып и перегрев — признаки повышенного риска, а не личная слабость.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Руководитель перераспределяет задачу, если состояние работника мешает безопасной работе.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1D2BD-43EF-44A3-B06D-6D094A23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6D328-CFAA-42F1-B9C8-CCBF417A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161B59D6-C74A-4337-B021-C5102DC3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Производственный план не должен опираться на постоянное переутомление.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96467-D872-4F3D-99EF-EF7AA098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57AF46B6-1DD2-4EC4-987A-C13878D3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Трудовой кодекс РК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12E6DC9-0D98-4EEC-B266-8A186562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7EC03A9-92D1-4A67-BB32-8E3B2651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ef4818f3646c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4578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BCE73-7295-4E9D-BF27-90B8AC5F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9189A1D-0781-4B12-B761-99E5461A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Медосмотр и компенсации связаны с риском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AB055-DD42-49EE-89AF-378034AA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Обязательные медосмотры подтверждают пригодность и помогают выявлять воздействие факторов.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Работодатель обеспечивает гарантии на время прохождения обязательных процедур.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Компенсации за вредные и опасные условия не заменяют снижение риска.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Изменение самочувствия при воздействии нужно сообщать, не дожидаясь планового осмотра.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7CAFF-7F66-48BE-A389-1D2A34E3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C91BD-DBAB-462D-9D68-C5C0B73E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9064BD5-7AEC-44A9-8E18-A59D3D56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Доплата не делает опасное воздействие приемлемым.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1969E-C960-454E-A1BC-F7562B2D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5C0A4CA5-7133-446E-97DC-930B8DF9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Трудовой кодекс РК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BBDE9AA-C290-4281-944F-BE248313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D279A53-A9DB-405E-BF61-514C8A8E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7a8afc0354b6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611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DFABC-EE28-41DB-AA14-B35ED6E0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9D27D0A-7B2D-4E50-87DE-CC72EFA5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Нарушение влечёт ответственность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08CF4-1134-4CA2-80D2-9C31B55C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Ответственность зависит от роли, полномочий, характера нарушения и последствий.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Дисциплинарная мера не отменяет расследование причин и корректирующие действия.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Работник сохраняет право на информацию о рисках и безопасные условия труда.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Споры по оплате, отпуску и другим правам рассматриваются отдельно от немедленных мер безопасности.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62F65-7315-4A5F-896C-7265C662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9453B-77EF-4360-AE35-48F693A6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A3B163D-9BD4-4D7D-98CF-8314C81F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Главная цель разбора нарушения — исключить повторение, а не скрыть проблему.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E7373-C4B7-4ECB-8E4B-551A12D7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7175BC85-4E9F-4641-883B-13861072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Трудовой кодекс РК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364707B-D556-406F-BC8D-3C131234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4CD657A-CCCF-4433-BA53-8F3E77B3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558a337d344f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5433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A9FB5-B432-4406-B63C-8303538A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4_s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533af702d4f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5BA93CB5-2ADE-43A3-A0DF-E227F92A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0E60B-AA98-4CC4-9729-FFB3E4A3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53E6EB63-AFA7-4487-AD89-CB5DC982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Система управления охраной труда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AFC8C33A-E7A7-403F-A971-9276902D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Риски снижаются последовательным управлением: от устранения опасности до контроля применения СИЗ.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68E2F-70F1-4857-B6CD-29622F6B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4938D08-0156-43C3-AEDC-D5893A10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8018326-B2A7-42D7-84D4-91F8E6D6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892e288f4491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780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D28C9-396B-4DD1-B1F6-F106FC8D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69BB016-4961-4DD8-8834-483E8262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Политика задаёт конкретную ответственность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557A1-203D-4CEC-BCD9-322A2EDE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Руководство устанавливает цели, ресурсы, полномочия и порядок контроля.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Опасности выявляют до работы и при каждом существенном изменении.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Меры включают в план, назначают исполнителей и проверяют результат.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Работники участвуют через сообщения, предложения и обратную связь.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5DAD2-BBAB-41C9-B3E2-4A382978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A5083-7B90-4088-8C2A-FB707303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0110D23-F7A1-4CBC-B33A-061B45AB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Политика работает только тогда, когда определено кто, что и когда делает.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A8D75-D074-4950-BFA4-2C25AFE1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6CB7CA5-5C6F-4DE4-87CC-D597D872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DB7F4AB-11F2-4BAB-B546-5CD71051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ab65655794f0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63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74EDE8-07CC-4F35-AA4A-6A8C495C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4EC4BA0-B59D-4585-91A6-C9879971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Оценка риска начинается с задачи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9291F-F2B0-4DB6-A72D-A9AA2B71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36FFF-77C2-4DCC-AB3A-3684C99F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F3D561A-B5A2-44D3-AA50-0587B77D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860E8316-73A9-4420-ADAD-B394CE33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Определить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FA2539C2-9C45-40B9-99D4-8859777A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Какую работу, где, кем и каким оборудованием выполняют.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13FB1-4ED8-4D12-9128-C55E24C6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9AB65C8F-2A1C-4918-92CC-009D4D2E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C94E0506-7C95-4E5A-9E53-004DF858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Выявить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207395C6-FB05-404B-8CE1-198B3C79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Источники энергии, вещества, высоту, движение и человеческие факторы.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6302E-718C-4663-B007-8DC14057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AA9F915C-5CCD-4574-9DC5-F7C1A37A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860AF1D6-43A1-401F-883F-C47D3A4B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Оценить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6DA65F46-56A8-4C49-8F13-B45A82F1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Вероятность контакта и тяжесть возможного последствия.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C6E3A-7348-4FE6-8554-C3FB9828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17524D36-B9FB-4B12-A649-EEBA42EB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A8607F78-75F9-4B72-8BA3-0E6F7589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Управлять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517FBC61-75B9-416D-A38F-EF200428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Выбрать меры, назначить контроль и пересмотреть при изменении.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7B3BC4-35FB-4170-B9F6-C25BE216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F2FD07-2499-4206-9736-D0F9B3B5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6BA66136-7D8E-4B18-A363-4F86F455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1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Риск оценивают для реальных условий, а не для абстрактной профессии.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36A6D3-9E0A-48A0-A8C9-90B5EC4E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704437E-A19E-4FFB-B1F9-4EFF6B84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865064E-181D-4300-88CD-39A97F98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120a877ca470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756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38B143-0B80-4D72-ACA4-B1828F1C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52E8EA7-53CA-4E71-A23E-84A5C28A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Иерархия мер задаёт правильный приоритет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908D2-1326-4997-A242-F6BACC84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F4468-FAA2-4D5D-8FF9-4B0400A5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056C266-34CF-4652-B1E4-0CA602AE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87C24B9D-101D-4DE7-B2D6-0A859A12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Устранить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0C5F9EC0-B6C9-47B0-8C90-0A2C5C32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Исключить опасность или саму операцию.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9CD32-BC1A-481B-A7C2-AAC097C0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B81CB964-6811-4DFE-8B57-D8CF5633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112F3D11-F567-4451-B888-C4940FC6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Заменить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7D015E51-EAD4-499B-B854-20E46D69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Использовать менее опасный материал, способ или оборудование.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BC7B1-2BA9-4B24-835C-AC9494A6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36C43F15-6C7C-4220-8A09-38DCEBAF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A46D1AE8-F402-4FDC-96F8-1F3CC8A0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Изолировать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2CD52A60-77C1-4016-88C9-41FF5D19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Ограждение, автоматизация, вентиляция и коллективная защита.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74145-7416-4A78-A4D2-056E54E5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3D4E79EC-8AFF-42E5-ABCF-18F19E46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55EAD3FA-9C03-4AD8-913C-A58BB654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Организовать и защитить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73EC1FC7-6500-4ADA-95D9-F33EDC2D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Процедуры, допуск, обучение и затем необходимые СИЗ.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40110-75D6-427F-B24C-4BB82338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FFF9D-567A-4792-AD6C-2A783C5E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4F022B7-C0A4-47D4-A892-C4AEBD3E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СИЗ применяют после более надёжных мер, а не вместо них.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6BF8E4-C623-4396-9647-3E0B2E99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D2401A7-4B39-4DBF-85BA-20E50A54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439DC16-C16F-4C78-9776-8770D1C7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130439d51482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115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2F1A1-5E5E-45F1-BDEA-EEAB72B1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CF1ABAE-A725-4889-9172-E35400C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План и инструкция должны быть актуальны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31826-3605-41A4-AB08-32E37E94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Планирование определяет последовательность, роли, оборудование и контрольные точки.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Производственный контроль проверяет соблюдение требований и состояние системы.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Инструкция описывает безопасные действия до, во время, после работы и при аварии.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При изменении технологии документы и инструктаж пересматривают.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948B3-B1D0-464A-B8AC-3EAA1C1A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A3719-232C-44C5-8EE2-7AC2519D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52DB648-BEBE-4F36-B2AA-2500653F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Инструкция, не отражающая реальное оборудование, не управляет риском.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3165B-0856-43C9-9E97-6D1A537C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42424D7-2861-4A24-8626-A303B817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23BEDED-5B59-4CEC-AFBA-D6FB20DA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151c478cd4c2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0939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87F67-B42E-477E-9893-CD25E4A5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64AE84C-3B69-4FF3-BD07-2FC10C3A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Обучение завершается проверкой понимания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DA303-DBD1-4977-BF39-97492DBD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Работники проходят обучение, инструктаж и проверку знаний в установленном порядке.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Перечень профессий и работ определяет работодатель с учётом характера и условий труда.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После перевода внутри профессии повторное обучение может не требоваться, если условия труда сохранены.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Практический допуск подтверждает умение безопасно выполнить конкретную работу.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C04A7-9892-4862-8D8E-B4F44F39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B59A8-8A5A-4E4E-8CA6-EBE6C75F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F14DC45-DF0D-49F1-81BC-56E6D312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Изменение условий важнее формального совпадения названия должности.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1C2FC-A907-4F36-92BE-1639605F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B58980F7-2953-488D-B452-64799C7F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Обучение БИОТ — приказ № 1019 • Изменения 2026 года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F7DA81A-2FF4-44F7-8C7A-E47B3889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43D932E-1ECB-41CE-9389-A7DDAC03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893fb3c9a458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16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8E2CD-500E-4F1F-8B92-7C97C803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DF51E50-BBF7-4950-97B4-51833541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Инструктаж выбирают по ситуации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22DA2-E9B2-4500-AB00-7B5D4AA6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Вводный знакомит с общими рисками и правилами организации.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Первичный на рабочем месте относится к конкретной работе и оборудованию.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Повторный поддерживает знания; внеплановый нужен при изменениях, инцидентах или перерывах по правилам.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Целевой проводят перед разовой или специально организованной работой.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1C947-23D6-4A91-B5D2-F2B2553C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EFA59-2C28-4445-8EA3-E3D913B8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3752602E-BA1A-46E0-A2EF-F6BC65B5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Подпись подтверждает факт инструктажа, но безопасность подтверждает понимание действий.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CC772-F9A4-4B87-A917-64FCE7A3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9D4889B3-CEB7-4808-9AC1-A0E0CA9C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Обучение БИОТ — приказ № 1019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A2EB079-7F13-436F-8C79-C343DEB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01CF4FC-D2F4-483C-8538-F5371CC7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bfa294e424fc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7288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05B5E-2230-4B32-B027-BDC60D18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2CBFA2B-EF0E-4D87-996C-226296E5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Наряд-допуск связывает риск и меры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14677-41FF-47ED-BF82-126D52E6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Определяет место, содержание, время, условия, состав бригады и ответственных лиц.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Фиксирует изоляцию, контроль среды, ограждение, связь, СИЗ и аварийные меры.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Действителен только в указанных условиях и границах.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Изменение условий требует остановки и пересмотра допуска.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2C312-AA6D-4E66-9ABF-9DEB44D3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47421-B8F8-46D7-A6B4-AEB5177F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4D05556-D8A9-4219-A2BD-13A74F2E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Наряд-допуск не является разрешением игнорировать новую опасность.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9B640-189C-42A4-B668-3EDC57C8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A82E962D-CE9B-44BD-A889-AA725503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Работы на высоте — определение наряда-допуска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88AC874-8B93-4A82-90D6-53CA1A47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8817068-A613-424E-B594-32DF7609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e717014f748b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6485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E8287-2CA0-4CF1-8F03-FAF9A93E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484B292-5CA5-4EE0-955B-7E1A7379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Медосмотр и аттестация: разные задачи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0E9CD-6C02-4EDC-8DC4-A62A1452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F431DB6-F854-4554-A271-E19F6219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4E7332C-A44F-413E-AC62-4AA077E0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3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e00831ba14b4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4" name="MEDICAL_CARD">
            <a:extLst xmlns:a="http://schemas.openxmlformats.org/drawingml/2006/main">
              <a:ext uri="{FF2B5EF4-FFF2-40B4-BE49-F238E27FC236}">
                <a16:creationId xmlns:a16="http://schemas.microsoft.com/office/drawing/2014/main" id="{72802C8C-9DAF-4E81-8C95-EBF447A6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ATTESTATION_CARD">
            <a:extLst xmlns:a="http://schemas.openxmlformats.org/drawingml/2006/main">
              <a:ext uri="{FF2B5EF4-FFF2-40B4-BE49-F238E27FC236}">
                <a16:creationId xmlns:a16="http://schemas.microsoft.com/office/drawing/2014/main" id="{DFC80389-5F6B-4C65-BFA9-36C6C5AE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2197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6" name="MEDICAL_ACCENT">
            <a:extLst xmlns:a="http://schemas.openxmlformats.org/drawingml/2006/main">
              <a:ext uri="{FF2B5EF4-FFF2-40B4-BE49-F238E27FC236}">
                <a16:creationId xmlns:a16="http://schemas.microsoft.com/office/drawing/2014/main" id="{AE094151-BAB4-4B4F-8202-D500BDB0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71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TTESTATION_ACCENT">
            <a:extLst xmlns:a="http://schemas.openxmlformats.org/drawingml/2006/main">
              <a:ext uri="{FF2B5EF4-FFF2-40B4-BE49-F238E27FC236}">
                <a16:creationId xmlns:a16="http://schemas.microsoft.com/office/drawing/2014/main" id="{F570FBE4-D1C6-473B-9EFA-647DF4BD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71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DICAL_ICON">
            <a:extLst xmlns:a="http://schemas.openxmlformats.org/drawingml/2006/main">
              <a:ext uri="{FF2B5EF4-FFF2-40B4-BE49-F238E27FC236}">
                <a16:creationId xmlns:a16="http://schemas.microsoft.com/office/drawing/2014/main" id="{012453C2-48CC-436B-9106-21F1CC98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✚</a:t>
            </a:r>
          </a:p>
        </p:txBody>
      </p:sp>
      <p:sp>
        <p:nvSpPr>
          <p:cNvPr id="19" name="ATTESTATION_ICON">
            <a:extLst xmlns:a="http://schemas.openxmlformats.org/drawingml/2006/main">
              <a:ext uri="{FF2B5EF4-FFF2-40B4-BE49-F238E27FC236}">
                <a16:creationId xmlns:a16="http://schemas.microsoft.com/office/drawing/2014/main" id="{2953B74D-9F66-4283-8AA0-CC684EA3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20" name="MEDICAL_HEADING">
            <a:extLst xmlns:a="http://schemas.openxmlformats.org/drawingml/2006/main">
              <a:ext uri="{FF2B5EF4-FFF2-40B4-BE49-F238E27FC236}">
                <a16:creationId xmlns:a16="http://schemas.microsoft.com/office/drawing/2014/main" id="{015520D3-0F44-4EEC-8B73-93B5AB7A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002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МЕДОСМОТР</a:t>
            </a:r>
          </a:p>
        </p:txBody>
      </p:sp>
      <p:sp>
        <p:nvSpPr>
          <p:cNvPr id="21" name="ATTESTATION_HEADING">
            <a:extLst xmlns:a="http://schemas.openxmlformats.org/drawingml/2006/main">
              <a:ext uri="{FF2B5EF4-FFF2-40B4-BE49-F238E27FC236}">
                <a16:creationId xmlns:a16="http://schemas.microsoft.com/office/drawing/2014/main" id="{DD6B6385-999A-438E-8A32-FF6917F3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02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АТТЕСТАЦИЯ УСЛОВИЙ ТРУДА</a:t>
            </a:r>
          </a:p>
        </p:txBody>
      </p:sp>
      <p:sp>
        <p:nvSpPr>
          <p:cNvPr id="22" name="MEDICAL_BODY">
            <a:extLst xmlns:a="http://schemas.openxmlformats.org/drawingml/2006/main">
              <a:ext uri="{FF2B5EF4-FFF2-40B4-BE49-F238E27FC236}">
                <a16:creationId xmlns:a16="http://schemas.microsoft.com/office/drawing/2014/main" id="{FE45ACEC-92E8-4A07-967C-AF9F9CA2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46482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Оценивает состояние здоровья работника с учётом факторов и выполняемой работы.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Результат: медицинские ограничения, допуск и профилактические рекомендации.</a:t>
            </a:r>
          </a:p>
        </p:txBody>
      </p:sp>
      <p:sp>
        <p:nvSpPr>
          <p:cNvPr id="23" name="ATTESTATION_BODY">
            <a:extLst xmlns:a="http://schemas.openxmlformats.org/drawingml/2006/main">
              <a:ext uri="{FF2B5EF4-FFF2-40B4-BE49-F238E27FC236}">
                <a16:creationId xmlns:a16="http://schemas.microsoft.com/office/drawing/2014/main" id="{49EE25C3-3A94-4F08-8AAB-9B5CD2EC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86050"/>
            <a:ext cx="46482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Оценивает условия труда и воздействующие производственные факторы.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Результат: меры улучшения, гарантии и контроль условий.</a:t>
            </a:r>
          </a:p>
        </p:txBody>
      </p:sp>
      <p:sp>
        <p:nvSpPr>
          <p:cNvPr id="24" name="MEDICAL_TAKEAWAY_BG">
            <a:extLst xmlns:a="http://schemas.openxmlformats.org/drawingml/2006/main">
              <a:ext uri="{FF2B5EF4-FFF2-40B4-BE49-F238E27FC236}">
                <a16:creationId xmlns:a16="http://schemas.microsoft.com/office/drawing/2014/main" id="{50426AE3-ADF0-48C4-BBDD-699FCD42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725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MEDICAL_TAKEAWAY_ACCENT">
            <a:extLst xmlns:a="http://schemas.openxmlformats.org/drawingml/2006/main">
              <a:ext uri="{FF2B5EF4-FFF2-40B4-BE49-F238E27FC236}">
                <a16:creationId xmlns:a16="http://schemas.microsoft.com/office/drawing/2014/main" id="{1D630D56-E3C0-4128-9961-16D1704F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E9FBF673-8888-43E0-99CB-7C6D772C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10248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Ни медосмотр, ни аттестация не заменяют текущую оценку риска: изменившееся рабочее место проверяют заново.</a:t>
            </a:r>
          </a:p>
        </p:txBody>
      </p:sp>
    </p:spTree>
    <p:extLst>
      <p:ext uri="{BB962C8B-B14F-4D97-AF65-F5344CB8AC3E}">
        <p14:creationId xmlns:p14="http://schemas.microsoft.com/office/powerpoint/2010/main" val="163671007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A30C5-A02A-4F4E-B647-A5BE82A6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25C1CC7-0FC5-4B26-8189-DAF12946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Коллективная защита действует на источник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0BAC9-14CB-4617-8FA4-E0D00959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Ограждения, блокировки, вентиляция, изоляция и дистанционное управление защищают группу работников.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Защитное устройство должно быть исправным и не обходиться ради удобства.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Снятие или отключение допускается только по контролируемой процедуре.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Неисправность коллективной защиты влияет на допуск к работе.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85673-2217-4F9B-93D8-6428C2B6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EC2D5-6773-468E-B9E9-663ADF67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EB5821F0-2F15-40F6-B15C-F7E5BA9A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Сначала защищают рабочее место, затем конкретного человека.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78FBE-92DF-41F4-A9F9-902427F9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0106393-949A-4C96-ADE7-6139C996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B92FCF0-2A64-4202-823A-AD038D55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c04f9e3824bc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8583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DA46A-EEBE-445A-8460-D3C14A55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20C5229-40EE-496D-8C91-674F9B9A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СИЗ выбирают, выдают и контролируют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B7C1C-B575-4C51-82FB-32EC2FAF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Тип СИЗ соответствует опасности, уровню воздействия и совместимости с другими средствами.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Работник обучен надеванию, регулировке, проверке и ограничениям применения.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СИЗ осматривают до использования, обслуживают и хранят по инструкции.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Повреждённое или просроченное средство заменяют, а не ремонтируют случайным способом.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EDCBC-9B34-4B2C-BE5D-9B2A90B4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DEC9D-141B-4FCC-908A-4E5B6CDB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1D6A239-026E-42CE-97EE-D7FFE5CE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9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СИЗ эффективно только при правильном выборе и фактическом применении.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4ECCA-5160-4270-AB94-200E106B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E2A398B-F216-437A-A567-ED28A71B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Трудовой кодекс РК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688284E-B4E1-44CE-833C-409C90EB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045B981-3CB1-4AED-9CC7-29271253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f18372ae8407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46045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A687B-34B2-45F4-B9AD-C6409B5C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2C67EE2-47C5-48B8-9ACA-C6D5841C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Электричество требует снятия энергии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7C332-0A3A-4D09-BD29-2E9A5FDF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Работу планируют с учётом напряжения, среды, состояния оборудования и квалификации персонала.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Перед вмешательством отключают, блокируют и проверяют отсутствие опасной энергии по процедуре.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Повреждённые кабели, вилки, корпуса и защитные устройства выводят из работы.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Пострадавшего не касаются до безопасного прекращения воздействия тока.</a:t>
            </a:r>
          </a:p>
        </p:txBody>
      </p:sp>
      <p:pic>
        <p:nvPicPr>
          <p:cNvPr id="18" name="VISUAL_04_s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6b1586be24f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58100" y="1752600"/>
            <a:ext cx="39624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92A743E-E10B-4517-A25C-5FB5BCFD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57800"/>
            <a:ext cx="3962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Выключенное управление не всегда означает снятое напряжение.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02757-6158-4CDE-8A77-EC59D70D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3B0E4B1-9715-4998-8CB6-7FDE93A9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Безопасность инструмента — приказ № 204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794A5DB-54B4-44F7-ACEC-1226B7FA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4D77C70-CADC-4A5B-8789-DD9810CB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70d2eafd549f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72080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A8B73-AC86-4646-9D02-0F5D25A6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01CA2D4-5651-4CCB-B2CF-F09BC86E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Высотная работа планируется до подъёма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BAB9A-481F-496E-978B-933084BA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Определяют безопасный доступ, рабочую площадку и коллективную защиту.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При необходимости выбирают страховочную систему, анкер и план спасения.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Инструмент и материалы защищают от падения; опасную зону внизу ограждают.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Погода и изменение условий могут потребовать остановки.</a:t>
            </a:r>
          </a:p>
        </p:txBody>
      </p:sp>
      <p:pic>
        <p:nvPicPr>
          <p:cNvPr id="18" name="VISUAL_04_s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0b6fb275342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58100" y="1752600"/>
            <a:ext cx="39624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9934E873-F39B-436C-8943-BE89D39A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57800"/>
            <a:ext cx="3962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Страховка без безопасной точки закрепления и спасательного плана неполна.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6C189-1BBE-4F38-8E27-CCABE692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090A085-7850-425F-B6DD-62AFFB25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Работы на высоте — приказ № 109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B653388-6477-4EFB-A0E8-B2965B28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C1997DA-2327-4519-8760-5BA137BE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68a1decb94a7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27344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0EFD25-82D0-4789-92B5-F320A083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B5E4740-0DB5-41F4-B1BD-C5AAEFDB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Первая помощь начинается с безопасности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11F74-9C6E-40EE-B0FD-9F3B30FD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FA5E5-3887-4FF3-B8BE-5DFD49B4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E6A9742F-9D7D-4D61-BE8D-FAE940C9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940D50D2-355E-4ACD-B17E-E0AE83D2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Оценить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E8F2272F-9AC2-49C3-A7DF-B9CEFFE6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Не входить в опасную зону без прекращения воздействия.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1B327-6EE1-4854-BC9C-1947CD7B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5FFA37BA-A165-4926-92BE-5FBBA63A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0C2465F1-D59F-4538-BC74-EAE9E101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Вызвать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AB6D092B-0889-452A-AC46-494DDA21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Сообщить 112, место, характер события и число пострадавших.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8FBBD-508B-43B6-807D-E17B6C7F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6D38B30B-A85E-43F8-8D73-0053D568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5F928F6A-567C-4D1F-83BD-08C4AAEE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Помочь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5D1B5676-CD5B-4641-901E-E1AD1A88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Проверить состояние и действовать в пределах обучения и оснащения.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06524-E071-401E-8F31-58628FDD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7134956E-E0FE-4F19-B430-C1414D16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7007CB8E-96D3-4DD0-954A-D9AEBCB7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Передать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5198A293-3DBF-470F-885E-10C80172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Встретить помощь и сообщить выполненные действия и известные факты.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318A5E-FA77-4AAF-B53C-4462035E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7152E-F848-46FB-9739-4918AA6D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C4CCB45-958A-4AA2-A1D4-8C0ECF12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Спасатель не должен становиться вторым пострадавшим.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86D70A-046D-4697-8257-789EC1E7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A350490-86D4-42B3-8BAA-761E79FD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9507525-15F8-46FC-991D-73749EEC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1e868778d412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77737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02065-6551-409B-8F5C-CF612461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4_s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b1dd2639841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63774DF9-B6BF-487F-8B70-A97151A2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3379F-A0C3-4CB0-BF9F-13200EA3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2FCFDF69-31EE-4B9E-9B94-A5D7F97A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Происшествия и готовность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BE92B550-26BE-401D-A35E-725E2019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После происшествия сначала защищают людей, затем сохраняют факты и устраняют системные причины.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C5796-E9AD-4A1B-98FA-BD9E685E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058F669-12ED-4E7E-AA8B-0BA4B757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6ECA05C-BB64-40BC-A162-F8C8837D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e15c0be304ec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71656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360EB-94F7-4C4D-9986-DAC307FE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9BE166C-47A5-4410-804A-F15527E5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Опасность, инцидент и несчастный случай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22763-6174-4DED-97D6-AA756C7C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Опасное условие или действие создаёт возможность вреда.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Инцидент — событие с потерей контроля, которое могло привести или привело к ущербу.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Несчастный случай связан с воздействием фактора и травмой, ухудшением здоровья или отравлением.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Все уровни важны для предупреждения повторения.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EE3B3-5B14-488C-A434-494B72F6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0FBF0-66E3-451D-B3EC-4F922964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862E45A-621C-44D9-A634-E2DBABB0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Сообщение о событии без травмы помогает предотвратить более тяжёлый случай.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C19A8-CFA1-48ED-AEE9-0B2DEF2D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A11F32F-2C73-42E6-BED8-0FF5B03C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Трудовой кодекс РК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6E25C09-F462-41BF-BC4B-2866C451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9A1AD4F-7126-4AB9-A2B3-0963FBE4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055613c0d428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7133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6E7F61-4446-4FC2-BD26-78815383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14EAEC4-9244-48CD-89F2-A2DF79BF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После происшествия соблюдают приоритеты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F421A-68AC-4294-AF65-83416676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E97D6-A8B8-4EAB-992C-2459CB43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6E22EF0E-AA94-44FF-8EB3-6B143FF2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3EE16CC1-4AD4-40B1-97D2-6586D4E5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Остановить опасность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21FE501C-EEA1-48EA-A9B2-33D46D9E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 риска для себя прекратить энергию, движение или воздействие.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7480A-18D7-47E6-AE2D-C5E3E5BC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4AB971AD-832D-432F-BCDB-D587B404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61D5BA0F-7C3E-4380-9D18-DB53181C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Помочь людям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F104F4DB-58F9-4CD1-9436-D78D66DB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Вызвать помощь, организовать первую помощь и эвакуацию.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46381-8868-4D23-AAD2-DCF4FFB7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FB9D8D16-CB15-4F56-89CE-33C9F4FB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2B88C7AE-E76B-49FE-96B0-AEDD957D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Сообщить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A0B8FA51-1BD1-40AA-9275-F9DC76D1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Уведомить руководителя и службы по установленной схеме.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8B6AD-0D23-4F28-ADD4-05B6F2B7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E5DBD097-0DE0-4946-B93E-E6A8C369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534ECF86-2EF1-4069-9265-788CAF1C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Сохранить факты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A07DD2AE-78D0-4320-BA82-905FCF2E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Не менять обстановку, кроме спасения людей и предотвращения развития события.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A9F30-5FB5-40CF-9D65-CFF11992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819D66-7C7A-4220-84E6-C0FA7169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01E7B62-1E93-479E-BFE5-5D716FB1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Спасение и предотвращение нового вреда важнее сохранения неизменной обстановки.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DF900-373B-495F-818C-DB8B6E19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E24B2753-B3FC-42EB-BD9A-4B942B06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Трудовой кодекс РК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CD784B9-77C2-4913-B992-6014739D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4A8FBC5-A9DB-4BF6-BB04-79278303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2afc84f9d41f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605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FA52D-F7E5-424E-BBA3-CE586A04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87AE2C7-0BEB-4759-802B-624942BE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Расследование устанавливает причины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9674C-0D73-43FD-910B-C11AD0AC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Собирают факты об условиях, задаче, оборудовании, действиях, обучении и управлении.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Отделяют непосредственное событие от организационных и технических причин.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Результат оформляют и учитывают в установленном порядке.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Корректирующие меры назначают с ответственными лицами и проверкой эффективности.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FCD01-5E07-4141-9D39-8C59FEA0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7AEF8-A7FB-4FD2-919E-F681512B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16E4C63C-579C-4529-B83E-6D913EEE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Объяснение «невнимательность работника» редко раскрывает всю систему причин.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8E1F6-351D-4807-BF60-24440198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94492B72-902D-4B52-9353-4CFAF25C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Трудовой кодекс РК — расследование и учёт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E233C1E-E94E-4730-8677-79560625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34D62B0-A96F-44B1-837B-0D7436B2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d2522b77248b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2585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7D27D-AC01-4CF7-8E4B-EB766F9A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A6E1210-AAA7-4995-A324-ABE267EC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Воздействие может проявляться постепенно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E69E8-A419-4A95-8B1D-83F51A43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Профессиональное заболевание связано с длительным или повторным воздействием факторов.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Острое отравление может потребовать немедленной эвакуации, деконтаминации и медицинской помощи.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Симптомы и обстоятельства сообщают руководителю и медицинскому работнику.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Данные меднаблюдения и контроля среды используются для профилактики.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5C80E-B3B9-4D54-962A-F6F75ED5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0AEA2-A6D0-4C5E-A069-ADDA31BD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A102B00-3A92-4619-9B37-45C1BB16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Отсутствие травмы в момент смены не означает отсутствие вреда здоровью.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E2AF6-5E27-41B6-8C6D-826BE65A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8AEF9EF-608B-4F56-B183-1221F533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B5D8A38-D977-4E5D-A61D-FC5331A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80ae1186941d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8793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23E7BE-72A0-4C66-BC06-E9F69F84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F7A8301-21CC-4DFA-BBE6-6BDCC6CD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Страхование не заменяет профилактику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DC8DC-EE16-40C0-92A6-36F42195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Обязательное страхование защищает имущественные интересы работника при несчастном случае.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Порядок выплат зависит от установленной процедуры и обстоятельств.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Страховой случай не отменяет расследование, учёт и устранение причин.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Работодатель продолжает обязанность предотвращать воздействие.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F914B-9FAC-49E6-A514-1893B12D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C3CAE-253C-4D28-93FD-56A2F624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6C7334D-2A46-46F8-852F-3AAA5812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Компенсация последствий не является мерой управления риском.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9DE86-ADF5-4FBD-AD09-696CE9E2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9F714BA0-5C17-4635-8698-43F37239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Трудовой кодекс РК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CC1D31A-321C-4505-8161-6F18A47C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EDB8E74-2D15-47ED-84B5-FAFF5B85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2be862f7545f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86602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CEE7E-7753-470D-A5AD-2FF7867C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24A8212-B7AF-49FF-B3E2-437BC295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Корректирующая мера должна менять систему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BA2C0-99FA-4202-88FC-1454E847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Устраняют источник или техническую причину, а не только напоминают правило.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Пересматривают технологию, ограждение, обслуживание, обучение и контроль.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Определяют срок, ответственного и способ подтверждения результата.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Проверяют, не перенесла ли мера риск на другую операцию.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EBD87-4B1D-46FD-8B45-12AF7DD5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F12C9-1609-411B-884D-037BCE47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91C2E2A-851B-46FA-87BE-0C3518C9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Повторный инструктаж без устранения неисправности не закрывает причину.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0E0BB-C079-44C6-AD1D-F420A5DC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E230264-5EFC-4DBC-8EF3-1D62D1B7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BDA994E-7F18-4C1D-B41E-86106C45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f17870be04cc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43192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3473D3-849C-44A4-BCE0-CB534785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E3D3334-6662-42CB-9575-388DEE5D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Готовность к аварии проверяется тренировкой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BDCBA-2C4D-47D4-B91F-3CE7A9AE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EA3C8-35A7-49A2-96D8-608EC86F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751829B1-B215-4B03-896D-D46EB467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ADF4C79B-FE6B-46B7-828D-56761436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План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5A271623-C40A-4A90-BDA4-C01270CF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Сценарии, роли, оповещение, маршруты, ресурсы и взаимодействие служб.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68FA9-E6C9-41FB-836B-E99927BE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09038814-7607-4BBB-8AB4-616D14C3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DC94EED4-FE83-4E21-B506-75B3F136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Подготовка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B7B88F55-783D-4FB0-AD54-D1FF97CE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Обучение персонала и готовность систем связи и защиты.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AC402-E043-45DB-AE6E-BF64989D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3D2727DC-2700-451B-A886-9D5CAE14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30F66600-F189-41BC-B215-77172D69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Тренировка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FF005134-AD75-4090-9671-4425691C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Практическая проверка действий без создания реальной опасности.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63BE4-4C2A-4F92-8B8B-812B8A5A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77EEA30A-AE9D-4FF5-BBBF-B7DCAF60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CE0CBF83-F9A3-4B5D-A94A-2DD8F681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Улучшение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8B56EAF9-8A7A-4730-8FEC-5B212BD8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Разбор, корректирующие меры и повторная проверка.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9D686-DFF8-4615-89B7-C6F67A06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651D3D-F122-4096-AD5B-58C86680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8400B12-F463-476B-80E3-F5A0080D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План, который никто не отрабатывал, нельзя считать подтверждённым.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2391E3-00D4-421A-ADC1-DD3FC71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E858150-068F-4D5D-8D4F-B7ED40F5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Закон «О гражданской защите»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54E1718-E40A-4663-BE9F-C527BB19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5057A5D-A794-451E-A6D5-12968696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98ad3ff314af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07106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735D3-0CF1-45B7-8121-2FADC1E8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VISUAL_04_s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d4b46a1a04b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798C0A16-7E0D-47D0-BFBE-D1FFF5E9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B7A15-BE6B-449D-B57F-00640FC1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D9DBF62B-8544-45C9-9E89-CC8F30B3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3CFB48C5-26BE-4D4A-B12E-7509AC00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Раздел применим к работам на опасных производственных объектах и с опасными техническими устройствами.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B25E6-0556-4C94-8603-2A875B59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D0B13264-4B48-4B22-B311-6FDC1AEC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Закон «О гражданской защите»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26CCC30-2E6B-445E-807C-CF85D97D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5AA2E6D-FE0C-4D45-A526-165449D7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pic>
        <p:nvPicPr>
          <p:cNvPr id="26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6419e819e4ef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1899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A0032-C06D-4CDE-99E0-65F1DF13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4F46402-DF32-4186-8284-BF3A6AC5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Промышленная безопасность в системе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594E2-45A4-4358-9203-9271C4B4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Она направлена на предупреждение вредного воздействия опасных производственных факторов.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Требования устанавливаются законом, техническими регламентами, правилами и инструкциями.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Организация проводит производственный контроль и готовится к авариям.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Работник соблюдает требования, проходит обучение и сообщает об аварии или инциденте.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31072-F63C-43EC-BE92-BD719CC1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E70B9-8A93-4337-A113-D472CC85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161E3D2-9A79-4D0F-86C9-B9783457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Промышленная безопасность управляет риском крупного техногенного события.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70D5C-096B-4242-9BB1-E1D11DFA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F09E957-3B01-4D55-A9DA-3C063472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Закон «О гражданской защите»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D91931F-31B1-4E65-8872-FF7379CC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924BD52-8BE0-4A6D-B14F-1486A803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df5c1ab3944f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74428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6F759-0F05-4204-B2BB-F4DED0BE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6777EC5-D40B-4C51-9966-CE708399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ОПО определяется признаками опасности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30450-900B-498C-874A-88B23923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 признакам относятся производство, применение, хранение или транспортирование определённых опасных веществ.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Учитываются воспламеняющиеся, взрывчатые, токсичные и другие опасные вещества.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 признакам также относятся отдельные технологические процессы и источники опасности.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Идентификацию выполняет организация по установленным правилам.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06D56-B633-4E26-8E83-B519D767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2B054-C3E9-4647-B018-2ED1568A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944A7D0-766F-4C6A-86CD-7ACD089E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Объект признаётся опасным по фактическим признакам, а не по бытовому названию.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B9AE3-C3DB-469E-A4CC-9644B389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AB1531C-BF77-4E5E-9D2E-25F63AA2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Закон «О гражданской защите», статья 70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E860052-E1FE-4DC0-80C8-A73AA242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EB196E5-004E-4BB8-837C-BF1C6E4F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df1e44f4e462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0787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80649-F852-4F4B-B3DE-95EEB065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B758F09-69C9-4787-A0C2-77953205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Опасные устройства: учёт и контроль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C1D88-8CD2-498E-A228-B224A599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 опасным техническим устройствам относятся установленные законом категории оборудования.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Организация идентифицирует, учитывает и допускает их к эксплуатации по применимым требованиям.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Работник проверяет видимую маркировку, состояние и разрешённый режим перед действием.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Неучтённое, неисправное или просроченное оборудование не вводят самовольно.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F688A-73F3-4A42-8994-D0A675BF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96BB5-7E47-485A-9E3F-90ED8FB0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87A57C7-7164-42A9-80EB-6B9A430C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Паспорт и учёт подтверждают объект контроля, но исправность подтверждается проверками.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97FD3-EBEE-46FE-9C65-65C6A387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756E1F2B-F08E-4846-970B-76D0601F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Закон «О гражданской защите»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FA973D6-9116-4293-BE96-C2892DDE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C57CF6C-DD51-412A-AEE3-220A6EE1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8bce5dd87477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15572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33ED5-2F0F-47B6-9715-5039C0BE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588FA96-A031-49D0-A732-134B1628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Экспертиза и декларация: контроль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BD3D6-4127-431A-A9A5-171D1D0D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Экспертиза в области промышленной безопасности применяется в установленных законом случаях.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Разрешительные и учётные процедуры зависят от объекта, устройства и выполняемой деятельности.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Декларация отражает характер и масштаб опасности и меры защиты.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Работнику важно знать ограничения, сигналы и действия, относящиеся к его участку.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27DBF-BAA6-4360-99D9-B06AC3E0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6BBB6-67F5-4FC9-9394-A31CDB0F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E8A7092-727B-4677-B808-33808BCB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Обзор процедур не даёт работнику полномочий заменять экспертное решение.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897AD-E460-4F59-AE7C-F5423D2B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F8583D7-2583-4388-8904-28C35F41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Закон «О гражданской защите»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7AF866E-D1BC-4802-BCBD-E8133953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1795765-DA0B-43EF-BE0E-48654A6B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28a09ab9e48b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7422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91352-9087-44E5-B67E-9F9C4BD2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922AED8-406A-47D7-868D-6A4DD2DB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ПЛА определяет действия при аварии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BBE07-B001-4021-AB7F-7B94E6FC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План ликвидации аварий предусматривает спасение людей и действия персонала и аварийных служб.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В нём распределяют обязанности, последовательность, связь и необходимые ресурсы.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Работник знает свой сигнал, маршрут, место сбора и запреты.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План проверяют учебными тревогами и противоаварийными тренировками.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6E27F-5C0A-4A89-9B98-A33AB692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89EFB-2D89-455D-B68A-2202271E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8372B6C-691A-4654-ADD3-03289F7E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При аварии выполняют заранее отработанную роль, а не импровизируют в опасной зоне.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1B199-D4A6-45FB-813A-A521E5FE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0F16C9F-B75C-40D0-8E7D-F4BA9156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Закон «О гражданской защите»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7BB6C5E-E27F-4DBD-96B6-5B722569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BB95063-ACE4-4B60-968E-7F24E43E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7e3024ccf4d2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0294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2909C4-C3DD-4126-A273-2717064F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3763D57-45C9-483A-989E-7BBAE4ED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 аварии организация действует по плану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FE499-F160-4E3A-8B78-57C3D2FE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19E07-BAA4-4FA0-8DCA-7342C66C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B7A7FF31-ABCD-4B3B-A838-6AC7733E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0148F5F7-BD30-4CD7-8BC9-20F765A5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Оповестить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C46DBA0C-A1F5-4DBE-99D6-D33718DD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Передать сигнал и точные сведения установленным каналом.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AB38E-8CF6-44ED-AEF9-131409F0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05C1F0F4-93B1-472C-8609-ECD5C804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DD14D44F-AE62-4A8A-A54C-C2971CD8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Защитить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AD1B1A6B-BB33-4137-AE77-92D1D083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Остановить процесс, изолировать энергию и эвакуировать по роли.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29BA1-060C-44EA-ACC5-14D5C65C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BE6732EC-F0F9-4C3A-81DB-9A00B503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9A077674-248C-42FD-98C8-10460C4F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Взаимодействовать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2C2C5980-5EBA-4F5F-915A-69E1CA64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Встретить и поддержать аварийно-спасательные службы.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1632D-5ED7-44B6-9E86-07E75553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7980990B-E300-4DD8-ADFC-79F8B916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A087B485-3122-4B1B-B88F-1AE36C3D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Расследовать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20E31CA1-0493-44B5-BDEC-9C131978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Сохранить факты, установить причины и выполнить меры.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F4442-62CA-4303-B1ED-FF7FEBC2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C30698-01A4-43C9-A082-62CC7484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6C4FD80-A0D0-4815-B037-40FF6204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Работник не возвращается в опасную зону без команды ответственного лица.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20EB1-134C-4E25-9094-5611294B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83635808-A64C-4EEC-B5E6-ED723CD5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Закон «О гражданской защите»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8079A70-C954-46A3-85FF-8B7CE5BF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9D99333-9A1F-432F-A2EC-C9798196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101cc63f348a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8818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9E9DCC-8A42-4ACD-9B93-854DF8C0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2E1F7D2-B0A3-4A68-B342-754B76E4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Опасные вещества требуют разных мер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5356DC-BD4B-497D-B5E2-D272E83B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CA089C1-14AC-4206-BAE2-3E9C8BC2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Закон «О гражданской защите»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EF80255-B36F-42FF-ABA5-27FE6635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366DF54-0307-4CC0-B37C-49F98597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pic>
        <p:nvPicPr>
          <p:cNvPr id="4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7888eef924b9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graphicFrame>
        <p:nvGraphicFramePr>
          <p:cNvPr id="44" name="HAZARDOUS_SUBSTANCES_TABLE"/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9347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9417"/>
                <a:gridCol w="3106449"/>
                <a:gridCol w="5218834"/>
              </a:tblGrid>
              <a:tr h="51435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РИСК / ИСТОЧНИК</a:t>
                      </a:r>
                    </a:p>
                  </a:txBody>
                  <a:tcPr marL="91440" marR="91440" marT="45720" marB="45720" anchor="ctr">
                    <a:solidFill>
                      <a:srgbClr val="009846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ПОСЛЕДСТВИЕ</a:t>
                      </a:r>
                    </a:p>
                  </a:txBody>
                  <a:tcPr marL="91440" marR="91440" marT="45720" marB="45720" anchor="ctr">
                    <a:solidFill>
                      <a:srgbClr val="009846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МЕРА КОНТРОЛЯ</a:t>
                      </a:r>
                    </a:p>
                  </a:txBody>
                  <a:tcPr marL="91440" marR="91440" marT="45720" marB="45720" anchor="ctr">
                    <a:solidFill>
                      <a:srgbClr val="009846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Воспламеняющиеся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Быстрое зажигание и распространение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Исключить источники зажигания; контролировать пары и разливы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Взрывчатые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Быстрое выделение энергии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Специальный режим, совместимость веществ и безопасная дистанция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Токсичные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Отравление через дыхание, кожу или пищеварение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Герметизация, контроль среды, защита и готовность к эвакуации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Экологически опасные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Загрязнение среды и вторичный вред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Удержание, сбор и действия по аварийной процедуре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32" name="TABLE_TAKEAWAY_BG">
            <a:extLst xmlns:a="http://schemas.openxmlformats.org/drawingml/2006/main">
              <a:ext uri="{FF2B5EF4-FFF2-40B4-BE49-F238E27FC236}">
                <a16:creationId xmlns:a16="http://schemas.microsoft.com/office/drawing/2014/main" id="{C3E094AA-F42B-402A-BC54-C612359F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9347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33" name="TABLE_TAKEAWAY_ACCENT">
            <a:extLst xmlns:a="http://schemas.openxmlformats.org/drawingml/2006/main">
              <a:ext uri="{FF2B5EF4-FFF2-40B4-BE49-F238E27FC236}">
                <a16:creationId xmlns:a16="http://schemas.microsoft.com/office/drawing/2014/main" id="{BC347F45-F3FD-42C0-89A2-3E0B690C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ABLE_TAKEAWAY">
            <a:extLst xmlns:a="http://schemas.openxmlformats.org/drawingml/2006/main">
              <a:ext uri="{FF2B5EF4-FFF2-40B4-BE49-F238E27FC236}">
                <a16:creationId xmlns:a16="http://schemas.microsoft.com/office/drawing/2014/main" id="{5F3A0BC7-E20C-42A0-B97A-CF1CDADB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Пиктограмма помогает распознать опасность, но не заменяет паспорт безопасности и локальную инструкцию.</a:t>
            </a:r>
          </a:p>
        </p:txBody>
      </p:sp>
    </p:spTree>
    <p:extLst>
      <p:ext uri="{BB962C8B-B14F-4D97-AF65-F5344CB8AC3E}">
        <p14:creationId xmlns:p14="http://schemas.microsoft.com/office/powerpoint/2010/main" val="186419357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47567-4407-43E5-BAC7-34C9D1A8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5987341-FA56-40EF-9D3F-92AE5765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Маркировка и перевозка требуют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7ED54-BC66-49CC-B9F5-30DC0134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Перед обращением идентифицируют вещество, тару, совместимость и опасные свойства.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Маркировка должна быть читаемой и соответствовать документам на груз или продукт.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Транспортирование выполняют по применимым требованиям, маршруту и аварийной информации.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Неизвестную тару не открывают, не перемещают и не переливают без выяснения.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78DBF-D305-4A5A-A25C-5BD09B5D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B0C9E-C98C-450C-B533-E1A17A4B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01EFEDF-E0C2-4E7F-A146-9EF0073F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Неизвестное содержимое — повод остановить обращение.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50236-9F16-44E6-B5B2-C9D16442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68B870E-FDFC-4A6A-863B-06351B47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Закон «О гражданской защите»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9358996-3E39-4CD5-BA26-05408C4E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965CF9D-FCAC-4C43-BBFE-AA0B9214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5e346a39840e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0644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E774F-21A3-4FFB-BF30-C233E213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E316B21-D01E-43A2-A851-1E1C2B44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Излучение не определяется органами чувств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E49E1-DBC4-4982-BE11-5BE8FA66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Источник и зона контролируются установленными техническими и организационными мерами.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Время, расстояние и экранирование применяют в рамках утверждённой процедуры.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Индивидуальный дозиметрический контроль ведут для определённых категорий работ и персонала.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Нарушенная маркировка, сигнализация или учёт требуют немедленного сообщения.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E8135-A674-4BEC-9870-7C0752CA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588F0-4CD1-4D26-AFB5-8DAA05E8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67BA2BA-C0FE-49E3-875A-16D64733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Отсутствие запаха, тепла или боли не подтверждает отсутствие излучения.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EEE1A-7A9A-492D-B6EE-F4979720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7A42C73-B4D2-4AB6-AA86-D87ED900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Закон «О гражданской защите»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459563D-2E6C-4739-885D-739F6126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E50DB62-8D64-4DC6-ADA3-F122F1C6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e0bc478da405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1413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09C93-B887-443C-9D28-F314AC10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3884797-3918-44DE-A475-33591DEA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Нефтегазовый объект требует контроля среды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0F090-D606-4D2C-8B0B-8EA21E33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542C003-B7A8-41C9-86CF-7FD86FB5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Безопасность нефтяной и газовой отрасли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BA800CA-46A4-4D14-98C9-C5A4A83E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0504919-D1BE-42A3-B227-3C854AD9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1f084e3ee45e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5" name="ENV_CARD_1">
            <a:extLst xmlns:a="http://schemas.openxmlformats.org/drawingml/2006/main">
              <a:ext uri="{FF2B5EF4-FFF2-40B4-BE49-F238E27FC236}">
                <a16:creationId xmlns:a16="http://schemas.microsoft.com/office/drawing/2014/main" id="{2EB36ED1-3AC7-45D2-8AC2-DDF7DF48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5219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6" name="ENV_NUMBER_1">
            <a:extLst xmlns:a="http://schemas.openxmlformats.org/drawingml/2006/main">
              <a:ext uri="{FF2B5EF4-FFF2-40B4-BE49-F238E27FC236}">
                <a16:creationId xmlns:a16="http://schemas.microsoft.com/office/drawing/2014/main" id="{212B8ECE-BD30-4B88-B155-1BEA99A5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ENV_HEADING_1">
            <a:extLst xmlns:a="http://schemas.openxmlformats.org/drawingml/2006/main">
              <a:ext uri="{FF2B5EF4-FFF2-40B4-BE49-F238E27FC236}">
                <a16:creationId xmlns:a16="http://schemas.microsoft.com/office/drawing/2014/main" id="{264AA07D-A475-49F3-BD76-69D2EE09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431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Среда и давление</a:t>
            </a:r>
          </a:p>
        </p:txBody>
      </p:sp>
      <p:sp>
        <p:nvSpPr>
          <p:cNvPr id="18" name="ENV_BODY_1">
            <a:extLst xmlns:a="http://schemas.openxmlformats.org/drawingml/2006/main">
              <a:ext uri="{FF2B5EF4-FFF2-40B4-BE49-F238E27FC236}">
                <a16:creationId xmlns:a16="http://schemas.microsoft.com/office/drawing/2014/main" id="{15929DBE-AC2C-4A13-8F44-7CF7AED1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812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Учитывают пожаровзрывоопасность, токсичность, давление, технологические связи и удалённость помощи.</a:t>
            </a:r>
          </a:p>
        </p:txBody>
      </p:sp>
      <p:sp>
        <p:nvSpPr>
          <p:cNvPr id="19" name="ENV_CARD_2">
            <a:extLst xmlns:a="http://schemas.openxmlformats.org/drawingml/2006/main">
              <a:ext uri="{FF2B5EF4-FFF2-40B4-BE49-F238E27FC236}">
                <a16:creationId xmlns:a16="http://schemas.microsoft.com/office/drawing/2014/main" id="{7407DEBD-5448-4944-83B1-E1BB261F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71650"/>
            <a:ext cx="5219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0" name="ENV_NUMBER_2">
            <a:extLst xmlns:a="http://schemas.openxmlformats.org/drawingml/2006/main">
              <a:ext uri="{FF2B5EF4-FFF2-40B4-BE49-F238E27FC236}">
                <a16:creationId xmlns:a16="http://schemas.microsoft.com/office/drawing/2014/main" id="{98B19973-557E-4D64-B5C4-ABE86403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ENV_HEADING_2">
            <a:extLst xmlns:a="http://schemas.openxmlformats.org/drawingml/2006/main">
              <a:ext uri="{FF2B5EF4-FFF2-40B4-BE49-F238E27FC236}">
                <a16:creationId xmlns:a16="http://schemas.microsoft.com/office/drawing/2014/main" id="{7A6CCD3F-8456-4B7C-B7B1-B8EA7381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431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Контроль воздуха</a:t>
            </a:r>
          </a:p>
        </p:txBody>
      </p:sp>
      <p:sp>
        <p:nvSpPr>
          <p:cNvPr id="22" name="ENV_BODY_2">
            <a:extLst xmlns:a="http://schemas.openxmlformats.org/drawingml/2006/main">
              <a:ext uri="{FF2B5EF4-FFF2-40B4-BE49-F238E27FC236}">
                <a16:creationId xmlns:a16="http://schemas.microsoft.com/office/drawing/2014/main" id="{497E77D1-4FC8-47A3-B550-C7BA6F3F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812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Газоопасные места обозначают; воздух проверяют предусмотренными приборами.</a:t>
            </a:r>
          </a:p>
        </p:txBody>
      </p:sp>
      <p:sp>
        <p:nvSpPr>
          <p:cNvPr id="23" name="ENV_CARD_3">
            <a:extLst xmlns:a="http://schemas.openxmlformats.org/drawingml/2006/main">
              <a:ext uri="{FF2B5EF4-FFF2-40B4-BE49-F238E27FC236}">
                <a16:creationId xmlns:a16="http://schemas.microsoft.com/office/drawing/2014/main" id="{0901C2AD-A151-431B-B89E-8ED0E5FA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5219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4" name="ENV_NUMBER_3">
            <a:extLst xmlns:a="http://schemas.openxmlformats.org/drawingml/2006/main">
              <a:ext uri="{FF2B5EF4-FFF2-40B4-BE49-F238E27FC236}">
                <a16:creationId xmlns:a16="http://schemas.microsoft.com/office/drawing/2014/main" id="{5FA0FF05-91E1-4B85-8A1D-63A5714F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ENV_HEADING_3">
            <a:extLst xmlns:a="http://schemas.openxmlformats.org/drawingml/2006/main">
              <a:ext uri="{FF2B5EF4-FFF2-40B4-BE49-F238E27FC236}">
                <a16:creationId xmlns:a16="http://schemas.microsoft.com/office/drawing/2014/main" id="{FEBBAAE0-8314-46FF-956B-BB33A0FD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57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Эвакуация</a:t>
            </a:r>
          </a:p>
        </p:txBody>
      </p:sp>
      <p:sp>
        <p:nvSpPr>
          <p:cNvPr id="26" name="ENV_BODY_3">
            <a:extLst xmlns:a="http://schemas.openxmlformats.org/drawingml/2006/main">
              <a:ext uri="{FF2B5EF4-FFF2-40B4-BE49-F238E27FC236}">
                <a16:creationId xmlns:a16="http://schemas.microsoft.com/office/drawing/2014/main" id="{3141E0E0-6E5E-484E-AC6C-BA720A07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Маршрут и пункт сбора выбирают с учётом возможного распространения газа.</a:t>
            </a:r>
          </a:p>
        </p:txBody>
      </p:sp>
      <p:sp>
        <p:nvSpPr>
          <p:cNvPr id="27" name="ENV_CARD_4">
            <a:extLst xmlns:a="http://schemas.openxmlformats.org/drawingml/2006/main">
              <a:ext uri="{FF2B5EF4-FFF2-40B4-BE49-F238E27FC236}">
                <a16:creationId xmlns:a16="http://schemas.microsoft.com/office/drawing/2014/main" id="{ED9B9EAF-3A23-487E-9DA3-CDC2F4A9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5219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8" name="ENV_NUMBER_4">
            <a:extLst xmlns:a="http://schemas.openxmlformats.org/drawingml/2006/main">
              <a:ext uri="{FF2B5EF4-FFF2-40B4-BE49-F238E27FC236}">
                <a16:creationId xmlns:a16="http://schemas.microsoft.com/office/drawing/2014/main" id="{D6498C7A-51CC-4BA9-BDBD-29F4EB2D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ENV_HEADING_4">
            <a:extLst xmlns:a="http://schemas.openxmlformats.org/drawingml/2006/main">
              <a:ext uri="{FF2B5EF4-FFF2-40B4-BE49-F238E27FC236}">
                <a16:creationId xmlns:a16="http://schemas.microsoft.com/office/drawing/2014/main" id="{8849B0FF-F1A2-45CE-AFEB-B40081B0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57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Работа по процедуре</a:t>
            </a:r>
          </a:p>
        </p:txBody>
      </p:sp>
      <p:sp>
        <p:nvSpPr>
          <p:cNvPr id="30" name="ENV_BODY_4">
            <a:extLst xmlns:a="http://schemas.openxmlformats.org/drawingml/2006/main">
              <a:ext uri="{FF2B5EF4-FFF2-40B4-BE49-F238E27FC236}">
                <a16:creationId xmlns:a16="http://schemas.microsoft.com/office/drawing/2014/main" id="{E3E60D83-05DA-475A-90FE-984052C9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957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Действуют по плану ликвидации аварий, наряду-допуску и локальным инструкциям.</a:t>
            </a:r>
          </a:p>
        </p:txBody>
      </p:sp>
      <p:sp>
        <p:nvSpPr>
          <p:cNvPr id="31" name="ENV_TAKEAWAY_BG">
            <a:extLst xmlns:a="http://schemas.openxmlformats.org/drawingml/2006/main">
              <a:ext uri="{FF2B5EF4-FFF2-40B4-BE49-F238E27FC236}">
                <a16:creationId xmlns:a16="http://schemas.microsoft.com/office/drawing/2014/main" id="{F5F140A1-3D90-484C-8409-9326A1B1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725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32" name="ENV_TAKEAWAY_ACCENT">
            <a:extLst xmlns:a="http://schemas.openxmlformats.org/drawingml/2006/main">
              <a:ext uri="{FF2B5EF4-FFF2-40B4-BE49-F238E27FC236}">
                <a16:creationId xmlns:a16="http://schemas.microsoft.com/office/drawing/2014/main" id="{A1DA8FDB-12B5-41C9-AC16-4B902369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EEB1040-1CF9-461E-AFEB-31432BCB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1024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Направление ветра и показания прибора важнее привычного маршрута.</a:t>
            </a:r>
          </a:p>
        </p:txBody>
      </p:sp>
    </p:spTree>
    <p:extLst>
      <p:ext uri="{BB962C8B-B14F-4D97-AF65-F5344CB8AC3E}">
        <p14:creationId xmlns:p14="http://schemas.microsoft.com/office/powerpoint/2010/main" val="27088432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DB604-3E1A-4901-8FC2-2C463125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2DB2CB4-B4F9-4DBA-8D05-49D6E8EC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Сероводород требует немедленной реакции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EB023-390C-4A82-9BA6-F9686B30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B8580-C313-4881-B793-5DEF6D6B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C6633-D9FE-444C-8B52-61783CF9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9E2C9-4EAE-4C08-B432-20FF523C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H₂S токсичен; запах не является надёжным способом контроля концентрации.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При сигнале прибора или признаках опасности прекратите работу и покиньте зону по безопасному маршруту.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 входите для спасения без подготовки, связи и предусмотренной защиты органов дыхания.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Сообщите по аварийной схеме и действуйте по ПЛА.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AF3B9-E814-4559-8CC5-37FB48C0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Полагаться на обоняние при H₂S опасно.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4BD14-5F52-48DF-BAB1-42985DDD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AADAAF7-1DF1-47D5-9E09-E38C9FD2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Безопасность нефтяной и газовой отрасли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0544B79-2C9B-4FF6-9320-383D733B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CF49681-1FF7-463A-9FF6-FEEBC08F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51592618d49c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BBCE7E2D-4595-4302-96BC-3039957E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СТОП</a:t>
            </a:r>
          </a:p>
        </p:txBody>
      </p:sp>
    </p:spTree>
    <p:extLst>
      <p:ext uri="{BB962C8B-B14F-4D97-AF65-F5344CB8AC3E}">
        <p14:creationId xmlns:p14="http://schemas.microsoft.com/office/powerpoint/2010/main" val="12493015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5DB24B-2DD4-4B52-B66F-BB26AD96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8536254-EB55-4679-A370-57103C5F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Газоопасная работа: контроль атмосферы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DE6463-68BD-4E5A-9B44-F567921C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900568FD-C581-4EAB-85D0-7155CFAC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Закон «О гражданской защите» • Безопасность нефтяной и газовой отрасли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B29B800-4344-4B5B-A134-7FDF8D0C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A85736E-1F48-4F3F-995C-3459012B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54</a:t>
            </a:r>
          </a:p>
        </p:txBody>
      </p:sp>
      <p:pic>
        <p:nvPicPr>
          <p:cNvPr id="5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ae3e7bedb46a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31" name="STEP_CONNECTOR">
            <a:extLst xmlns:a="http://schemas.openxmlformats.org/drawingml/2006/main">
              <a:ext uri="{FF2B5EF4-FFF2-40B4-BE49-F238E27FC236}">
                <a16:creationId xmlns:a16="http://schemas.microsoft.com/office/drawing/2014/main" id="{F1A4CD78-D3F3-428A-868B-DDF24052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479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EDB"/>
            </a:solidFill>
            <a:prstDash val="solid"/>
          </a:ln>
        </p:spPr>
      </p:sp>
      <p:sp>
        <p:nvSpPr>
          <p:cNvPr id="32" name="STEP_CARD_1">
            <a:extLst xmlns:a="http://schemas.openxmlformats.org/drawingml/2006/main">
              <a:ext uri="{FF2B5EF4-FFF2-40B4-BE49-F238E27FC236}">
                <a16:creationId xmlns:a16="http://schemas.microsoft.com/office/drawing/2014/main" id="{7E5E4ECE-DC86-4A1F-8EB5-FD7CFF11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09850"/>
            <a:ext cx="2476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33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2A8250FA-9E13-4F27-9314-6D11D11A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2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4" name="STEP_HEADING_1">
            <a:extLst xmlns:a="http://schemas.openxmlformats.org/drawingml/2006/main">
              <a:ext uri="{FF2B5EF4-FFF2-40B4-BE49-F238E27FC236}">
                <a16:creationId xmlns:a16="http://schemas.microsoft.com/office/drawing/2014/main" id="{1B2B3BD1-3F37-4D1C-BF5D-11F28D43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Подготовить</a:t>
            </a:r>
          </a:p>
        </p:txBody>
      </p:sp>
      <p:sp>
        <p:nvSpPr>
          <p:cNvPr id="35" name="STEP_BODY_1">
            <a:extLst xmlns:a="http://schemas.openxmlformats.org/drawingml/2006/main">
              <a:ext uri="{FF2B5EF4-FFF2-40B4-BE49-F238E27FC236}">
                <a16:creationId xmlns:a16="http://schemas.microsoft.com/office/drawing/2014/main" id="{D88BCFD9-0AD2-4EFA-9FC6-B2F8B1D8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Наряд-допуск, изоляцию, вентиляцию, связь и спасательные меры.</a:t>
            </a:r>
          </a:p>
        </p:txBody>
      </p:sp>
      <p:sp>
        <p:nvSpPr>
          <p:cNvPr id="36" name="STEP_CARD_2">
            <a:extLst xmlns:a="http://schemas.openxmlformats.org/drawingml/2006/main">
              <a:ext uri="{FF2B5EF4-FFF2-40B4-BE49-F238E27FC236}">
                <a16:creationId xmlns:a16="http://schemas.microsoft.com/office/drawing/2014/main" id="{944948C7-78CA-451E-9CA6-4DEE4623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09850"/>
            <a:ext cx="2476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37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DAB338B9-2F78-4D26-8B20-09FAFF2F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92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8" name="STEP_HEADING_2">
            <a:extLst xmlns:a="http://schemas.openxmlformats.org/drawingml/2006/main">
              <a:ext uri="{FF2B5EF4-FFF2-40B4-BE49-F238E27FC236}">
                <a16:creationId xmlns:a16="http://schemas.microsoft.com/office/drawing/2014/main" id="{3DA6F69E-9E2C-47EF-9F55-5E69767A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384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39" name="STEP_BODY_2">
            <a:extLst xmlns:a="http://schemas.openxmlformats.org/drawingml/2006/main">
              <a:ext uri="{FF2B5EF4-FFF2-40B4-BE49-F238E27FC236}">
                <a16:creationId xmlns:a16="http://schemas.microsoft.com/office/drawing/2014/main" id="{913E39AF-2DEF-4B31-911A-1BB47A95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Состав воздуха — подходящим поверенным прибором в нужных точках.</a:t>
            </a:r>
          </a:p>
        </p:txBody>
      </p:sp>
      <p:sp>
        <p:nvSpPr>
          <p:cNvPr id="40" name="STEP_CARD_3">
            <a:extLst xmlns:a="http://schemas.openxmlformats.org/drawingml/2006/main">
              <a:ext uri="{FF2B5EF4-FFF2-40B4-BE49-F238E27FC236}">
                <a16:creationId xmlns:a16="http://schemas.microsoft.com/office/drawing/2014/main" id="{9DB38512-274C-4E67-AEBA-7BDAAA90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2476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41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834D4F02-B8CA-40EB-AD13-099891CB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2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2" name="STEP_HEADING_3">
            <a:extLst xmlns:a="http://schemas.openxmlformats.org/drawingml/2006/main">
              <a:ext uri="{FF2B5EF4-FFF2-40B4-BE49-F238E27FC236}">
                <a16:creationId xmlns:a16="http://schemas.microsoft.com/office/drawing/2014/main" id="{8A300F61-B88D-4BE7-B614-A7A30221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Выполнять</a:t>
            </a:r>
          </a:p>
        </p:txBody>
      </p:sp>
      <p:sp>
        <p:nvSpPr>
          <p:cNvPr id="43" name="STEP_BODY_3">
            <a:extLst xmlns:a="http://schemas.openxmlformats.org/drawingml/2006/main">
              <a:ext uri="{FF2B5EF4-FFF2-40B4-BE49-F238E27FC236}">
                <a16:creationId xmlns:a16="http://schemas.microsoft.com/office/drawing/2014/main" id="{B76BEB1B-D471-4713-859F-31526A09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С наблюдением и периодическим либо непрерывным контролем по процедуре.</a:t>
            </a:r>
          </a:p>
        </p:txBody>
      </p:sp>
      <p:sp>
        <p:nvSpPr>
          <p:cNvPr id="44" name="STEP_CARD_4">
            <a:extLst xmlns:a="http://schemas.openxmlformats.org/drawingml/2006/main">
              <a:ext uri="{FF2B5EF4-FFF2-40B4-BE49-F238E27FC236}">
                <a16:creationId xmlns:a16="http://schemas.microsoft.com/office/drawing/2014/main" id="{E8C1F492-100C-4FFD-BA74-6A6DDFAC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2476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45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408BCB09-10B3-4F68-B287-E4DAA00F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2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6" name="STEP_HEADING_4">
            <a:extLst xmlns:a="http://schemas.openxmlformats.org/drawingml/2006/main">
              <a:ext uri="{FF2B5EF4-FFF2-40B4-BE49-F238E27FC236}">
                <a16:creationId xmlns:a16="http://schemas.microsoft.com/office/drawing/2014/main" id="{5FCBB618-3304-4A86-A7B5-2D824787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384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Остановить</a:t>
            </a:r>
          </a:p>
        </p:txBody>
      </p:sp>
      <p:sp>
        <p:nvSpPr>
          <p:cNvPr id="47" name="STEP_BODY_4">
            <a:extLst xmlns:a="http://schemas.openxmlformats.org/drawingml/2006/main">
              <a:ext uri="{FF2B5EF4-FFF2-40B4-BE49-F238E27FC236}">
                <a16:creationId xmlns:a16="http://schemas.microsoft.com/office/drawing/2014/main" id="{895DE36F-EDC4-4570-A9D8-00A91756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 сигнале, потере связи, вентиляции или изменении условий.</a:t>
            </a:r>
          </a:p>
        </p:txBody>
      </p:sp>
      <p:sp>
        <p:nvSpPr>
          <p:cNvPr id="48" name="ATMOSPHERE_TAKEAWAY_BG">
            <a:extLst xmlns:a="http://schemas.openxmlformats.org/drawingml/2006/main">
              <a:ext uri="{FF2B5EF4-FFF2-40B4-BE49-F238E27FC236}">
                <a16:creationId xmlns:a16="http://schemas.microsoft.com/office/drawing/2014/main" id="{95E3F67B-473D-4C31-AFDF-1CFD1BBC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19700"/>
            <a:ext cx="11049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49" name="ATMOSPHERE_TAKEAWAY_ACCENT">
            <a:extLst xmlns:a="http://schemas.openxmlformats.org/drawingml/2006/main">
              <a:ext uri="{FF2B5EF4-FFF2-40B4-BE49-F238E27FC236}">
                <a16:creationId xmlns:a16="http://schemas.microsoft.com/office/drawing/2014/main" id="{DB279BD6-EF3E-4CA9-8292-C706628A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197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694DF5EB-A41D-417A-94DB-5ECEDCFC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51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Первичное измерение не гарантирует безопасную атмосферу на всё время работы.</a:t>
            </a:r>
          </a:p>
        </p:txBody>
      </p:sp>
    </p:spTree>
    <p:extLst>
      <p:ext uri="{BB962C8B-B14F-4D97-AF65-F5344CB8AC3E}">
        <p14:creationId xmlns:p14="http://schemas.microsoft.com/office/powerpoint/2010/main" val="147151705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6FFDA-25CC-4CCF-8DBF-142A7F09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FE4F877-6E39-45AD-825D-2F68B2B0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Огневая работа: контроль зажигания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4C940-EDDB-4BAD-9598-AD68450C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Определяют зону искр и тепла, удаляют или защищают горючие материалы.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Оформляют наряд-допуск там, где он требуется, и назначают наблюдение.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Контролируют газовую среду, изоляцию оборудования и готовность средств тушения.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После окончания проверяют место в течение установленного локальной процедурой времени.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66EFC-F20B-4AD3-A0FB-E86457E7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FB18C-FA25-4022-B060-61A25F9F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063024C-1DCD-46AA-AD3A-C7C25F01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Окончание сварки не означает окончание пожарного риска.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4783C-3CFF-4861-A2B2-13F207E9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A6AB81C-4EA5-4940-8842-CF3EE469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Правила пожарной безопасности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DEB49B4-C90B-44DA-BF41-76540D3E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D777015-FB42-4D27-A409-CA989758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e702541d64b3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37672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B02FC-6DDA-4C9E-BF9F-6F4A1B22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6043C10-7392-4DDB-AE5F-9ACB9317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Внутри резервуара нужен наблюдающий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5D9F4-6E4F-4424-8689-395F23E9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Ёмкость изолируют, очищают, проветривают и контролируют атмосферу.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Вход выполняют по наряду-допуску с назначенным наблюдающим и устойчивой связью.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Спасательное оборудование и способ извлечения готовят до входа.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Наблюдающий не покидает пост и не входит внутрь без организованной спасательной процедуры.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53642-F5A5-4F1F-AA99-7A539F4A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757DB-B9A6-4D21-A3BD-15B00CF6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11EE995-2217-4567-B7A2-684370BC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Наблюдение — активная функция контроля и связи, а не формальное присутствие.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F447B-4592-40F5-B6A6-2902FA80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0F9C568-8BE4-4C3F-93E4-6859B67F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Безопасность нефтяной и газовой отрасли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2BD0247-AB73-4FFF-977B-4D1C20B0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9722AC4-CE61-4D13-AD6A-A7745BA4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ffead163a43e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8683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5D6B0-75E3-4A0A-B738-9272FD9E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8B33FC8-0C76-4A3E-A6F5-679CEEC8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Давление удерживается всей системой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D8E1C-3E3A-4BF2-B7B7-0ABE9482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Сосуд, арматура, предохранительные устройства, приборы и трубопроводы работают совместно.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Допуск к эксплуатации, освидетельствование и маркировка выполняются по применимым правилам.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Работник контролирует режим и сообщает об утечке, вибрации, повреждении или неверном показании.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Ремонт, вскрытие и подтяжка под давлением выполняются только по разрешённой технологии.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66A2B-F31A-45B7-BFAD-809F9C37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29731-2BB3-4FFC-B578-58A78FF9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11CC3B6-0F8F-4F28-ADCB-55DA0391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Нулевое показание одного прибора не всегда подтверждает отсутствие давления.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56CC2-9F49-46FB-81AD-48471621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1C0F6CCD-CB64-48BF-941A-197BA79C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Закон «О гражданской защите»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0D7362C-523D-4722-9D34-816BDEA0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0086A01-5006-421B-9A74-C26FA99C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6ae33c211474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8280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02997-C04A-4BCE-8223-FDE532B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D236033-3E10-46C7-8E2D-15973A41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Промышленный риск требует остановки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EDB16-2041-4EB2-B3F5-B1D9DA1A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E3552-332A-4E64-96CC-38C99083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DBF23-0AAF-4417-BB92-67EA8635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AC294-9F3D-4EC3-909E-3D5CACAA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Сигнал газоанализатора, дозиметра, защиты или технологической блокировки.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Утечка, запах, туман, необычный шум, вибрация, рост давления или температуры.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Потеря связи, вентиляции, наблюдения или предусмотренной изоляции.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Отсутствие наряда-допуска, маркировки, проверки или понятной аварийной роли.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F492A-A784-419A-B21A-4751196B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Остановить работу и выйти по безопасному маршруту — правильное действие при сомнении.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5710A-F027-44A4-A12E-BF9651A7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47F00291-D761-483B-9DE4-9978870B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Закон «О гражданской защите»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7B73397-6069-487A-963D-D6B986B9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Безопасность и охрана труда (БИОТ)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FC79B94-AC80-44C0-8739-8A7CEE51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56a047b814b3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A95F5639-EFDD-4A64-9E19-A1CBB68C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СТОП</a:t>
            </a:r>
          </a:p>
        </p:txBody>
      </p:sp>
    </p:spTree>
    <p:extLst>
      <p:ext uri="{BB962C8B-B14F-4D97-AF65-F5344CB8AC3E}">
        <p14:creationId xmlns:p14="http://schemas.microsoft.com/office/powerpoint/2010/main" val="103286248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09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ECKLIST_TITLE">
            <a:extLst xmlns:a="http://schemas.openxmlformats.org/drawingml/2006/main">
              <a:ext uri="{FF2B5EF4-FFF2-40B4-BE49-F238E27FC236}">
                <a16:creationId xmlns:a16="http://schemas.microsoft.com/office/drawing/2014/main" id="{114C91E0-DB56-47E3-AD63-E2FE5EE5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Итоговый чек-лист БИОТ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8E500-676F-47D3-BD99-4FC75A7F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D3565-579A-4B64-A8DD-470A65D5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F25EE-9B9E-4269-999B-6AC991CB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Опасности выявлены, риск оценён, меры выбраны по иерархии.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7AC37-9532-4305-908C-BFF1925E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934F1-51C1-4ED2-A6CF-02426149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D1EE9-527A-49E0-86C2-652B6603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Работник обучен, допущен и понимает задание и аварийные действия.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8CE29-55F2-4860-9EC0-D8FE04F2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9B868-C792-4FED-9360-8ECA1EAB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D9C92-1B32-4BC9-B8AF-EA2199A8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Коллективная защита исправна, СИЗ подходят и проверены.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69FA4-9C7E-4FEB-9AB6-50E67866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30B39-9E85-460F-99F9-340A1AFF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CB874-4F77-4A18-81F0-27FD3309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 ОПО понятны сигнал, маршрут, ПЛА и условия немедленной остановки.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A189A-E350-4BB3-A993-14B25FF2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38BC6-4674-4874-BFDB-0AA75E9B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CFEDA-ADFF-4410-A31C-B4203B8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Любое изменение или происшествие своевременно сообщается.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6F5EB-4E1F-49A9-9542-123045B5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Нажмите «Начать тест»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6C7F63-0082-4336-A23B-1E181A58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Актуализировано: 21.08.2026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9af2f78fb414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6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2026-08-25T14:17:56.2180000Z</dcterms:created>
  <dcterms:modified xsi:type="dcterms:W3CDTF">2026-08-25T14:17:56.2180000Z</dcterms:modified>
</coreProperties>
</file>